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</p:sldIdLst>
  <p:notesMasterIdLst>
    <p:notesMasterId r:id="rId3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notesMaster" Target="notesMasters/notesMaster1.xml"/><Relationship Id="rId32" Type="http://schemas.openxmlformats.org/officeDocument/2006/relationships/presProps" Target="presProps.xml"/><Relationship Id="rId33" Type="http://schemas.openxmlformats.org/officeDocument/2006/relationships/viewProps" Target="viewProps.xml"/><Relationship Id="rId34" Type="http://schemas.openxmlformats.org/officeDocument/2006/relationships/theme" Target="theme/theme1.xml"/><Relationship Id="rId3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2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image" Target="../media/image-7-7.png"/><Relationship Id="rId8" Type="http://schemas.openxmlformats.org/officeDocument/2006/relationships/image" Target="../media/image-7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image" Target="../media/image-8-6.png"/><Relationship Id="rId7" Type="http://schemas.openxmlformats.org/officeDocument/2006/relationships/image" Target="../media/image-8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image" Target="../media/image-9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image" Target="../media/image-10-6.png"/><Relationship Id="rId7" Type="http://schemas.openxmlformats.org/officeDocument/2006/relationships/image" Target="../media/image-10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image" Target="../media/image-11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image" Target="../media/image-12-5.png"/><Relationship Id="rId6" Type="http://schemas.openxmlformats.org/officeDocument/2006/relationships/image" Target="../media/image-12-6.png"/><Relationship Id="rId7" Type="http://schemas.openxmlformats.org/officeDocument/2006/relationships/image" Target="../media/image-12-1.png"/><Relationship Id="rId8" Type="http://schemas.openxmlformats.org/officeDocument/2006/relationships/image" Target="../media/image-12-8.png"/><Relationship Id="rId9" Type="http://schemas.openxmlformats.org/officeDocument/2006/relationships/image" Target="../media/image-12-2.png"/><Relationship Id="rId10" Type="http://schemas.openxmlformats.org/officeDocument/2006/relationships/image" Target="../media/image-12-3.png"/><Relationship Id="rId11" Type="http://schemas.openxmlformats.org/officeDocument/2006/relationships/image" Target="../media/image-12-4.png"/><Relationship Id="rId12" Type="http://schemas.openxmlformats.org/officeDocument/2006/relationships/image" Target="../media/image-12-12.png"/><Relationship Id="rId13" Type="http://schemas.openxmlformats.org/officeDocument/2006/relationships/image" Target="../media/image-12-13.png"/><Relationship Id="rId14" Type="http://schemas.openxmlformats.org/officeDocument/2006/relationships/slideLayout" Target="../slideLayouts/slideLayout1.xml"/><Relationship Id="rId15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image" Target="../media/image-14-4.png"/><Relationship Id="rId5" Type="http://schemas.openxmlformats.org/officeDocument/2006/relationships/image" Target="../media/image-14-5.png"/><Relationship Id="rId6" Type="http://schemas.openxmlformats.org/officeDocument/2006/relationships/image" Target="../media/image-14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image" Target="../media/image-15-3.png"/><Relationship Id="rId4" Type="http://schemas.openxmlformats.org/officeDocument/2006/relationships/image" Target="../media/image-15-4.png"/><Relationship Id="rId5" Type="http://schemas.openxmlformats.org/officeDocument/2006/relationships/image" Target="../media/image-15-5.png"/><Relationship Id="rId6" Type="http://schemas.openxmlformats.org/officeDocument/2006/relationships/image" Target="../media/image-15-6.png"/><Relationship Id="rId7" Type="http://schemas.openxmlformats.org/officeDocument/2006/relationships/image" Target="../media/image-15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image" Target="../media/image-16-3.png"/><Relationship Id="rId4" Type="http://schemas.openxmlformats.org/officeDocument/2006/relationships/image" Target="../media/image-16-4.png"/><Relationship Id="rId5" Type="http://schemas.openxmlformats.org/officeDocument/2006/relationships/image" Target="../media/image-16-5.png"/><Relationship Id="rId6" Type="http://schemas.openxmlformats.org/officeDocument/2006/relationships/image" Target="../media/image-16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png"/><Relationship Id="rId3" Type="http://schemas.openxmlformats.org/officeDocument/2006/relationships/image" Target="../media/image-17-3.png"/><Relationship Id="rId4" Type="http://schemas.openxmlformats.org/officeDocument/2006/relationships/image" Target="../media/image-17-4.png"/><Relationship Id="rId5" Type="http://schemas.openxmlformats.org/officeDocument/2006/relationships/image" Target="../media/image-17-5.png"/><Relationship Id="rId6" Type="http://schemas.openxmlformats.org/officeDocument/2006/relationships/image" Target="../media/image-17-6.png"/><Relationship Id="rId7" Type="http://schemas.openxmlformats.org/officeDocument/2006/relationships/image" Target="../media/image-17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8-2.png"/><Relationship Id="rId3" Type="http://schemas.openxmlformats.org/officeDocument/2006/relationships/image" Target="../media/image-18-3.png"/><Relationship Id="rId4" Type="http://schemas.openxmlformats.org/officeDocument/2006/relationships/image" Target="../media/image-18-4.png"/><Relationship Id="rId5" Type="http://schemas.openxmlformats.org/officeDocument/2006/relationships/image" Target="../media/image-18-5.png"/><Relationship Id="rId6" Type="http://schemas.openxmlformats.org/officeDocument/2006/relationships/image" Target="../media/image-18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image" Target="../media/image-19-2.png"/><Relationship Id="rId3" Type="http://schemas.openxmlformats.org/officeDocument/2006/relationships/image" Target="../media/image-19-3.png"/><Relationship Id="rId4" Type="http://schemas.openxmlformats.org/officeDocument/2006/relationships/image" Target="../media/image-19-4.png"/><Relationship Id="rId5" Type="http://schemas.openxmlformats.org/officeDocument/2006/relationships/image" Target="../media/image-19-5.png"/><Relationship Id="rId6" Type="http://schemas.openxmlformats.org/officeDocument/2006/relationships/image" Target="../media/image-19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image" Target="../media/image-20-2.png"/><Relationship Id="rId3" Type="http://schemas.openxmlformats.org/officeDocument/2006/relationships/image" Target="../media/image-20-3.png"/><Relationship Id="rId4" Type="http://schemas.openxmlformats.org/officeDocument/2006/relationships/image" Target="../media/image-20-4.png"/><Relationship Id="rId5" Type="http://schemas.openxmlformats.org/officeDocument/2006/relationships/image" Target="../media/image-20-5.png"/><Relationship Id="rId6" Type="http://schemas.openxmlformats.org/officeDocument/2006/relationships/image" Target="../media/image-20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image" Target="../media/image-21-2.png"/><Relationship Id="rId3" Type="http://schemas.openxmlformats.org/officeDocument/2006/relationships/image" Target="../media/image-21-3.png"/><Relationship Id="rId4" Type="http://schemas.openxmlformats.org/officeDocument/2006/relationships/image" Target="../media/image-21-4.png"/><Relationship Id="rId5" Type="http://schemas.openxmlformats.org/officeDocument/2006/relationships/image" Target="../media/image-21-5.png"/><Relationship Id="rId6" Type="http://schemas.openxmlformats.org/officeDocument/2006/relationships/image" Target="../media/image-21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image" Target="../media/image-22-2.png"/><Relationship Id="rId3" Type="http://schemas.openxmlformats.org/officeDocument/2006/relationships/image" Target="../media/image-22-3.png"/><Relationship Id="rId4" Type="http://schemas.openxmlformats.org/officeDocument/2006/relationships/image" Target="../media/image-22-4.png"/><Relationship Id="rId5" Type="http://schemas.openxmlformats.org/officeDocument/2006/relationships/image" Target="../media/image-22-5.png"/><Relationship Id="rId6" Type="http://schemas.openxmlformats.org/officeDocument/2006/relationships/image" Target="../media/image-22-6.png"/><Relationship Id="rId7" Type="http://schemas.openxmlformats.org/officeDocument/2006/relationships/image" Target="../media/image-22-1.png"/><Relationship Id="rId8" Type="http://schemas.openxmlformats.org/officeDocument/2006/relationships/image" Target="../media/image-22-8.png"/><Relationship Id="rId9" Type="http://schemas.openxmlformats.org/officeDocument/2006/relationships/image" Target="../media/image-22-2.png"/><Relationship Id="rId10" Type="http://schemas.openxmlformats.org/officeDocument/2006/relationships/image" Target="../media/image-22-3.png"/><Relationship Id="rId11" Type="http://schemas.openxmlformats.org/officeDocument/2006/relationships/image" Target="../media/image-22-4.png"/><Relationship Id="rId12" Type="http://schemas.openxmlformats.org/officeDocument/2006/relationships/image" Target="../media/image-22-12.png"/><Relationship Id="rId13" Type="http://schemas.openxmlformats.org/officeDocument/2006/relationships/image" Target="../media/image-22-13.png"/><Relationship Id="rId14" Type="http://schemas.openxmlformats.org/officeDocument/2006/relationships/slideLayout" Target="../slideLayouts/slideLayout1.xml"/><Relationship Id="rId15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image" Target="../media/image-24-2.png"/><Relationship Id="rId3" Type="http://schemas.openxmlformats.org/officeDocument/2006/relationships/image" Target="../media/image-24-3.png"/><Relationship Id="rId4" Type="http://schemas.openxmlformats.org/officeDocument/2006/relationships/image" Target="../media/image-24-4.png"/><Relationship Id="rId5" Type="http://schemas.openxmlformats.org/officeDocument/2006/relationships/image" Target="../media/image-24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image" Target="../media/image-25-2.png"/><Relationship Id="rId3" Type="http://schemas.openxmlformats.org/officeDocument/2006/relationships/image" Target="../media/image-25-3.png"/><Relationship Id="rId4" Type="http://schemas.openxmlformats.org/officeDocument/2006/relationships/image" Target="../media/image-25-4.png"/><Relationship Id="rId5" Type="http://schemas.openxmlformats.org/officeDocument/2006/relationships/image" Target="../media/image-25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image" Target="../media/image-26-2.png"/><Relationship Id="rId3" Type="http://schemas.openxmlformats.org/officeDocument/2006/relationships/image" Target="../media/image-26-3.png"/><Relationship Id="rId4" Type="http://schemas.openxmlformats.org/officeDocument/2006/relationships/image" Target="../media/image-26-4.png"/><Relationship Id="rId5" Type="http://schemas.openxmlformats.org/officeDocument/2006/relationships/image" Target="../media/image-26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7-1.png"/><Relationship Id="rId2" Type="http://schemas.openxmlformats.org/officeDocument/2006/relationships/image" Target="../media/image-27-2.png"/><Relationship Id="rId3" Type="http://schemas.openxmlformats.org/officeDocument/2006/relationships/image" Target="../media/image-27-3.png"/><Relationship Id="rId4" Type="http://schemas.openxmlformats.org/officeDocument/2006/relationships/image" Target="../media/image-27-4.png"/><Relationship Id="rId5" Type="http://schemas.openxmlformats.org/officeDocument/2006/relationships/image" Target="../media/image-27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8-1.png"/><Relationship Id="rId2" Type="http://schemas.openxmlformats.org/officeDocument/2006/relationships/image" Target="../media/image-28-2.png"/><Relationship Id="rId3" Type="http://schemas.openxmlformats.org/officeDocument/2006/relationships/image" Target="../media/image-28-3.png"/><Relationship Id="rId4" Type="http://schemas.openxmlformats.org/officeDocument/2006/relationships/image" Target="../media/image-28-4.png"/><Relationship Id="rId5" Type="http://schemas.openxmlformats.org/officeDocument/2006/relationships/image" Target="../media/image-28-5.png"/><Relationship Id="rId6" Type="http://schemas.openxmlformats.org/officeDocument/2006/relationships/image" Target="../media/image-28-1.png"/><Relationship Id="rId7" Type="http://schemas.openxmlformats.org/officeDocument/2006/relationships/image" Target="../media/image-28-7.png"/><Relationship Id="rId8" Type="http://schemas.openxmlformats.org/officeDocument/2006/relationships/image" Target="../media/image-28-2.png"/><Relationship Id="rId9" Type="http://schemas.openxmlformats.org/officeDocument/2006/relationships/image" Target="../media/image-28-3.png"/><Relationship Id="rId10" Type="http://schemas.openxmlformats.org/officeDocument/2006/relationships/image" Target="../media/image-28-10.png"/><Relationship Id="rId11" Type="http://schemas.openxmlformats.org/officeDocument/2006/relationships/image" Target="../media/image-28-11.png"/><Relationship Id="rId12" Type="http://schemas.openxmlformats.org/officeDocument/2006/relationships/slideLayout" Target="../slideLayouts/slideLayout1.xml"/><Relationship Id="rId13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4A6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03920" y="-2286000"/>
            <a:ext cx="7315200" cy="7315200"/>
          </a:xfrm>
          <a:prstGeom prst="ellipse">
            <a:avLst/>
          </a:prstGeom>
          <a:solidFill>
            <a:srgbClr val="0E5C82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9692640" y="3840480"/>
            <a:ext cx="6400800" cy="6400800"/>
          </a:xfrm>
          <a:prstGeom prst="ellipse">
            <a:avLst/>
          </a:prstGeom>
          <a:solidFill>
            <a:srgbClr val="1C7FB0">
              <a:alpha val="4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9659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DCEA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MOCKUP — HIGH FIDELITY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31520" y="2331720"/>
            <a:ext cx="10058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Mockup UI Aplikasi PalmCare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731520" y="3337560"/>
            <a:ext cx="9784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DCEA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Seluruh layar untuk Technician, Supervisor &amp; Management — versi visual dari wireframe sebelumnya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749808" y="4069080"/>
            <a:ext cx="1188720" cy="0"/>
          </a:xfrm>
          <a:prstGeom prst="line">
            <a:avLst/>
          </a:prstGeom>
          <a:noFill/>
          <a:ln w="38100">
            <a:solidFill>
              <a:srgbClr val="1C7FB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61264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MST — Mind Software Technology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9052560" y="612648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DCEA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September 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1C7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CATATAN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229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Cara Membaca Mockup Ini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94360" y="1792224"/>
            <a:ext cx="91440" cy="91440"/>
          </a:xfrm>
          <a:prstGeom prst="ellipse">
            <a:avLst/>
          </a:prstGeom>
          <a:solidFill>
            <a:srgbClr val="0A4A69"/>
          </a:solidFill>
          <a:ln/>
        </p:spPr>
      </p:sp>
      <p:sp>
        <p:nvSpPr>
          <p:cNvPr id="5" name="Text 3"/>
          <p:cNvSpPr/>
          <p:nvPr/>
        </p:nvSpPr>
        <p:spPr>
          <a:xfrm>
            <a:off x="868680" y="1691640"/>
            <a:ext cx="10241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just"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2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Mockup ini merupakan penerapan visual (warna, tipografi, ikon) dari struktur wireframe yang telah disusun sebelumnya.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94360" y="2569464"/>
            <a:ext cx="91440" cy="91440"/>
          </a:xfrm>
          <a:prstGeom prst="ellipse">
            <a:avLst/>
          </a:prstGeom>
          <a:solidFill>
            <a:srgbClr val="0A4A69"/>
          </a:solidFill>
          <a:ln/>
        </p:spPr>
      </p:sp>
      <p:sp>
        <p:nvSpPr>
          <p:cNvPr id="7" name="Text 5"/>
          <p:cNvSpPr/>
          <p:nvPr/>
        </p:nvSpPr>
        <p:spPr>
          <a:xfrm>
            <a:off x="868680" y="2468880"/>
            <a:ext cx="10241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just"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2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Palet warna mengikuti identitas PalmCare: navy sebagai warna utama, biru muda sebagai aksen, dan warna status (merah/kuning/hijau) untuk indikator kondisi.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94360" y="3346704"/>
            <a:ext cx="91440" cy="91440"/>
          </a:xfrm>
          <a:prstGeom prst="ellipse">
            <a:avLst/>
          </a:prstGeom>
          <a:solidFill>
            <a:srgbClr val="0A4A69"/>
          </a:solidFill>
          <a:ln/>
        </p:spPr>
      </p:sp>
      <p:sp>
        <p:nvSpPr>
          <p:cNvPr id="9" name="Text 7"/>
          <p:cNvSpPr/>
          <p:nvPr/>
        </p:nvSpPr>
        <p:spPr>
          <a:xfrm>
            <a:off x="868680" y="3246120"/>
            <a:ext cx="10241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just"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2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Setiap layar disertai anotasi di sisi kiri yang menjelaskan fungsi elemen-elemen utama.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94360" y="4123944"/>
            <a:ext cx="91440" cy="91440"/>
          </a:xfrm>
          <a:prstGeom prst="ellipse">
            <a:avLst/>
          </a:prstGeom>
          <a:solidFill>
            <a:srgbClr val="0A4A69"/>
          </a:solidFill>
          <a:ln/>
        </p:spPr>
      </p:sp>
      <p:sp>
        <p:nvSpPr>
          <p:cNvPr id="11" name="Text 9"/>
          <p:cNvSpPr/>
          <p:nvPr/>
        </p:nvSpPr>
        <p:spPr>
          <a:xfrm>
            <a:off x="868680" y="4023360"/>
            <a:ext cx="10241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just"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2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Layar dikelompokkan per role: Technician, Supervisor, dan Management, mengikuti struktur menu yang telah disusun sebelumnya.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PalmCare — Mockup UI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4A6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03920" y="-2286000"/>
            <a:ext cx="7315200" cy="7315200"/>
          </a:xfrm>
          <a:prstGeom prst="ellipse">
            <a:avLst/>
          </a:prstGeom>
          <a:solidFill>
            <a:srgbClr val="0E5C82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9692640" y="3840480"/>
            <a:ext cx="6400800" cy="6400800"/>
          </a:xfrm>
          <a:prstGeom prst="ellipse">
            <a:avLst/>
          </a:prstGeom>
          <a:solidFill>
            <a:srgbClr val="1C7FB0">
              <a:alpha val="4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731520" y="1920240"/>
            <a:ext cx="640080" cy="640080"/>
          </a:xfrm>
          <a:prstGeom prst="ellipse">
            <a:avLst/>
          </a:prstGeom>
          <a:solidFill>
            <a:srgbClr val="0E5C82"/>
          </a:solidFill>
          <a:ln/>
        </p:spPr>
      </p:sp>
      <p:pic>
        <p:nvPicPr>
          <p:cNvPr id="5" name="Image 0" descr="/home/claude/palmcare-analysis/icons/technician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6112" y="2084832"/>
            <a:ext cx="310896" cy="31089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31520" y="274320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TECHNICIAN</a:t>
            </a:r>
            <a:endParaRPr lang="en-US" sz="4000" dirty="0"/>
          </a:p>
        </p:txBody>
      </p:sp>
      <p:sp>
        <p:nvSpPr>
          <p:cNvPr id="7" name="Shape 4"/>
          <p:cNvSpPr/>
          <p:nvPr/>
        </p:nvSpPr>
        <p:spPr>
          <a:xfrm>
            <a:off x="749808" y="3584448"/>
            <a:ext cx="1188720" cy="0"/>
          </a:xfrm>
          <a:prstGeom prst="line">
            <a:avLst/>
          </a:prstGeom>
          <a:noFill/>
          <a:ln w="38100">
            <a:solidFill>
              <a:srgbClr val="1C7FB0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31520" y="3767328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DCEA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Eksekusi pekerjaan maintenance di lapangan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731520" y="42519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FB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layar mockup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1C7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TECHNICIAN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229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Dashboard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1C7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ANOTASI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48640" y="1764792"/>
            <a:ext cx="82296" cy="82296"/>
          </a:xfrm>
          <a:prstGeom prst="ellipse">
            <a:avLst/>
          </a:prstGeom>
          <a:solidFill>
            <a:srgbClr val="0A4A69"/>
          </a:solidFill>
          <a:ln/>
        </p:spPr>
      </p:sp>
      <p:sp>
        <p:nvSpPr>
          <p:cNvPr id="6" name="Text 4"/>
          <p:cNvSpPr/>
          <p:nvPr/>
        </p:nvSpPr>
        <p:spPr>
          <a:xfrm>
            <a:off x="749808" y="1682496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just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2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Sapaan personal &amp; ringkasan jumlah tugas hari ini.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548640" y="2167128"/>
            <a:ext cx="82296" cy="82296"/>
          </a:xfrm>
          <a:prstGeom prst="ellipse">
            <a:avLst/>
          </a:prstGeom>
          <a:solidFill>
            <a:srgbClr val="0A4A69"/>
          </a:solidFill>
          <a:ln/>
        </p:spPr>
      </p:sp>
      <p:sp>
        <p:nvSpPr>
          <p:cNvPr id="8" name="Text 6"/>
          <p:cNvSpPr/>
          <p:nvPr/>
        </p:nvSpPr>
        <p:spPr>
          <a:xfrm>
            <a:off x="749808" y="2084832"/>
            <a:ext cx="4572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just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2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Empat kartu statistik: total tugas, due today, overdue, dan completed — memberi gambaran cepat beban kerja.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548640" y="2770632"/>
            <a:ext cx="82296" cy="82296"/>
          </a:xfrm>
          <a:prstGeom prst="ellipse">
            <a:avLst/>
          </a:prstGeom>
          <a:solidFill>
            <a:srgbClr val="0A4A69"/>
          </a:solidFill>
          <a:ln/>
        </p:spPr>
      </p:sp>
      <p:sp>
        <p:nvSpPr>
          <p:cNvPr id="10" name="Text 8"/>
          <p:cNvSpPr/>
          <p:nvPr/>
        </p:nvSpPr>
        <p:spPr>
          <a:xfrm>
            <a:off x="749808" y="2688336"/>
            <a:ext cx="45720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just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2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Daftar “Today's Tasks” dengan status berwarna (merah=overdue, kuning=due today, hijau=completed) agar prioritas terlihat sekilas.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548640" y="3611880"/>
            <a:ext cx="82296" cy="82296"/>
          </a:xfrm>
          <a:prstGeom prst="ellipse">
            <a:avLst/>
          </a:prstGeom>
          <a:solidFill>
            <a:srgbClr val="0A4A69"/>
          </a:solidFill>
          <a:ln/>
        </p:spPr>
      </p:sp>
      <p:sp>
        <p:nvSpPr>
          <p:cNvPr id="12" name="Text 10"/>
          <p:cNvSpPr/>
          <p:nvPr/>
        </p:nvSpPr>
        <p:spPr>
          <a:xfrm>
            <a:off x="749808" y="3529584"/>
            <a:ext cx="4572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just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2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Bottom navigation untuk berpindah ke Tasks, Equipment, Notifikasi, dan Profil.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903720" y="502920"/>
            <a:ext cx="2788920" cy="5989320"/>
          </a:xfrm>
          <a:prstGeom prst="roundRect">
            <a:avLst>
              <a:gd name="adj" fmla="val 7213"/>
            </a:avLst>
          </a:prstGeom>
          <a:solidFill>
            <a:srgbClr val="12293D"/>
          </a:solidFill>
          <a:ln/>
          <a:effectLst>
            <a:outerShdw sx="100000" sy="100000" kx="0" ky="0" algn="bl" rotWithShape="0" blurRad="127000" dist="50800" dir="5400000">
              <a:srgbClr val="0A4A69">
                <a:alpha val="3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949440" y="548640"/>
            <a:ext cx="2697480" cy="5897880"/>
          </a:xfrm>
          <a:prstGeom prst="roundRect">
            <a:avLst>
              <a:gd name="adj" fmla="val 6102"/>
            </a:avLst>
          </a:prstGeom>
          <a:solidFill>
            <a:srgbClr val="F6F9FB"/>
          </a:solidFill>
          <a:ln/>
        </p:spPr>
      </p:sp>
      <p:sp>
        <p:nvSpPr>
          <p:cNvPr id="15" name="Text 13"/>
          <p:cNvSpPr/>
          <p:nvPr/>
        </p:nvSpPr>
        <p:spPr>
          <a:xfrm>
            <a:off x="7068312" y="594360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2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9:41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9272016" y="630936"/>
            <a:ext cx="274320" cy="118872"/>
          </a:xfrm>
          <a:prstGeom prst="roundRect">
            <a:avLst>
              <a:gd name="adj" fmla="val 23077"/>
            </a:avLst>
          </a:prstGeom>
          <a:noFill/>
          <a:ln w="9525">
            <a:solidFill>
              <a:srgbClr val="12293D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022592" y="832104"/>
            <a:ext cx="2551176" cy="420624"/>
          </a:xfrm>
          <a:prstGeom prst="rect">
            <a:avLst/>
          </a:prstGeom>
          <a:solidFill>
            <a:srgbClr val="0A4A69"/>
          </a:solidFill>
          <a:ln/>
        </p:spPr>
      </p:sp>
      <p:sp>
        <p:nvSpPr>
          <p:cNvPr id="18" name="Text 16"/>
          <p:cNvSpPr/>
          <p:nvPr/>
        </p:nvSpPr>
        <p:spPr>
          <a:xfrm>
            <a:off x="7168896" y="832104"/>
            <a:ext cx="191109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PalmCare</a:t>
            </a:r>
            <a:endParaRPr lang="en-US" sz="1250" dirty="0"/>
          </a:p>
        </p:txBody>
      </p:sp>
      <p:pic>
        <p:nvPicPr>
          <p:cNvPr id="19" name="Image 0" descr="/home/claude/palmcare-analysis/icons/bell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62872" y="950976"/>
            <a:ext cx="182880" cy="182880"/>
          </a:xfrm>
          <a:prstGeom prst="rect">
            <a:avLst/>
          </a:prstGeom>
        </p:spPr>
      </p:pic>
      <p:sp>
        <p:nvSpPr>
          <p:cNvPr id="20" name="Shape 17"/>
          <p:cNvSpPr/>
          <p:nvPr/>
        </p:nvSpPr>
        <p:spPr>
          <a:xfrm>
            <a:off x="7022592" y="1344168"/>
            <a:ext cx="2551176" cy="64008"/>
          </a:xfrm>
          <a:prstGeom prst="roundRect">
            <a:avLst>
              <a:gd name="adj" fmla="val 28571"/>
            </a:avLst>
          </a:prstGeom>
          <a:solidFill>
            <a:srgbClr val="DCEAF3"/>
          </a:solidFill>
          <a:ln/>
        </p:spPr>
      </p:sp>
      <p:sp>
        <p:nvSpPr>
          <p:cNvPr id="21" name="Shape 18"/>
          <p:cNvSpPr/>
          <p:nvPr/>
        </p:nvSpPr>
        <p:spPr>
          <a:xfrm>
            <a:off x="7022592" y="1490472"/>
            <a:ext cx="1530706" cy="64008"/>
          </a:xfrm>
          <a:prstGeom prst="roundRect">
            <a:avLst>
              <a:gd name="adj" fmla="val 28571"/>
            </a:avLst>
          </a:prstGeom>
          <a:solidFill>
            <a:srgbClr val="DCEAF3"/>
          </a:solidFill>
          <a:ln/>
        </p:spPr>
      </p:sp>
      <p:sp>
        <p:nvSpPr>
          <p:cNvPr id="22" name="Shape 19"/>
          <p:cNvSpPr/>
          <p:nvPr/>
        </p:nvSpPr>
        <p:spPr>
          <a:xfrm>
            <a:off x="7022592" y="1728216"/>
            <a:ext cx="589788" cy="5486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1EBF2"/>
            </a:solidFill>
            <a:prstDash val="solid"/>
          </a:ln>
          <a:effectLst>
            <a:outerShdw sx="100000" sy="100000" kx="0" ky="0" algn="bl" rotWithShape="0" blurRad="50800" dist="12700" dir="5400000">
              <a:srgbClr val="1F3864">
                <a:alpha val="8000"/>
              </a:srgbClr>
            </a:outerShdw>
          </a:effectLst>
        </p:spPr>
      </p:sp>
      <p:sp>
        <p:nvSpPr>
          <p:cNvPr id="23" name="Text 20"/>
          <p:cNvSpPr/>
          <p:nvPr/>
        </p:nvSpPr>
        <p:spPr>
          <a:xfrm>
            <a:off x="7022592" y="1792224"/>
            <a:ext cx="5897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A4A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400" dirty="0"/>
          </a:p>
        </p:txBody>
      </p:sp>
      <p:sp>
        <p:nvSpPr>
          <p:cNvPr id="24" name="Text 21"/>
          <p:cNvSpPr/>
          <p:nvPr/>
        </p:nvSpPr>
        <p:spPr>
          <a:xfrm>
            <a:off x="7022592" y="2057400"/>
            <a:ext cx="5897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5B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</a:t>
            </a:r>
            <a:endParaRPr lang="en-US" sz="650" dirty="0"/>
          </a:p>
        </p:txBody>
      </p:sp>
      <p:sp>
        <p:nvSpPr>
          <p:cNvPr id="25" name="Shape 22"/>
          <p:cNvSpPr/>
          <p:nvPr/>
        </p:nvSpPr>
        <p:spPr>
          <a:xfrm>
            <a:off x="7676388" y="1728216"/>
            <a:ext cx="589788" cy="5486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1EBF2"/>
            </a:solidFill>
            <a:prstDash val="solid"/>
          </a:ln>
          <a:effectLst>
            <a:outerShdw sx="100000" sy="100000" kx="0" ky="0" algn="bl" rotWithShape="0" blurRad="50800" dist="12700" dir="5400000">
              <a:srgbClr val="1F3864">
                <a:alpha val="8000"/>
              </a:srgbClr>
            </a:outerShdw>
          </a:effectLst>
        </p:spPr>
      </p:sp>
      <p:sp>
        <p:nvSpPr>
          <p:cNvPr id="26" name="Text 23"/>
          <p:cNvSpPr/>
          <p:nvPr/>
        </p:nvSpPr>
        <p:spPr>
          <a:xfrm>
            <a:off x="7676388" y="1792224"/>
            <a:ext cx="5897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D490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27" name="Text 24"/>
          <p:cNvSpPr/>
          <p:nvPr/>
        </p:nvSpPr>
        <p:spPr>
          <a:xfrm>
            <a:off x="7676388" y="2057400"/>
            <a:ext cx="5897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5B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Due Today</a:t>
            </a:r>
            <a:endParaRPr lang="en-US" sz="650" dirty="0"/>
          </a:p>
        </p:txBody>
      </p:sp>
      <p:sp>
        <p:nvSpPr>
          <p:cNvPr id="28" name="Shape 25"/>
          <p:cNvSpPr/>
          <p:nvPr/>
        </p:nvSpPr>
        <p:spPr>
          <a:xfrm>
            <a:off x="8330184" y="1728216"/>
            <a:ext cx="589788" cy="5486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1EBF2"/>
            </a:solidFill>
            <a:prstDash val="solid"/>
          </a:ln>
          <a:effectLst>
            <a:outerShdw sx="100000" sy="100000" kx="0" ky="0" algn="bl" rotWithShape="0" blurRad="50800" dist="12700" dir="5400000">
              <a:srgbClr val="1F3864">
                <a:alpha val="8000"/>
              </a:srgbClr>
            </a:outerShdw>
          </a:effectLst>
        </p:spPr>
      </p:sp>
      <p:sp>
        <p:nvSpPr>
          <p:cNvPr id="29" name="Text 26"/>
          <p:cNvSpPr/>
          <p:nvPr/>
        </p:nvSpPr>
        <p:spPr>
          <a:xfrm>
            <a:off x="8330184" y="1792224"/>
            <a:ext cx="5897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30" name="Text 27"/>
          <p:cNvSpPr/>
          <p:nvPr/>
        </p:nvSpPr>
        <p:spPr>
          <a:xfrm>
            <a:off x="8330184" y="2057400"/>
            <a:ext cx="5897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5B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Overdue</a:t>
            </a:r>
            <a:endParaRPr lang="en-US" sz="650" dirty="0"/>
          </a:p>
        </p:txBody>
      </p:sp>
      <p:sp>
        <p:nvSpPr>
          <p:cNvPr id="31" name="Shape 28"/>
          <p:cNvSpPr/>
          <p:nvPr/>
        </p:nvSpPr>
        <p:spPr>
          <a:xfrm>
            <a:off x="8983980" y="1728216"/>
            <a:ext cx="589788" cy="5486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1EBF2"/>
            </a:solidFill>
            <a:prstDash val="solid"/>
          </a:ln>
          <a:effectLst>
            <a:outerShdw sx="100000" sy="100000" kx="0" ky="0" algn="bl" rotWithShape="0" blurRad="50800" dist="12700" dir="5400000">
              <a:srgbClr val="1F3864">
                <a:alpha val="8000"/>
              </a:srgbClr>
            </a:outerShdw>
          </a:effectLst>
        </p:spPr>
      </p:sp>
      <p:sp>
        <p:nvSpPr>
          <p:cNvPr id="32" name="Text 29"/>
          <p:cNvSpPr/>
          <p:nvPr/>
        </p:nvSpPr>
        <p:spPr>
          <a:xfrm>
            <a:off x="8983980" y="1792224"/>
            <a:ext cx="5897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8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33" name="Text 30"/>
          <p:cNvSpPr/>
          <p:nvPr/>
        </p:nvSpPr>
        <p:spPr>
          <a:xfrm>
            <a:off x="8983980" y="2057400"/>
            <a:ext cx="5897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5B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Selesai</a:t>
            </a:r>
            <a:endParaRPr lang="en-US" sz="650" dirty="0"/>
          </a:p>
        </p:txBody>
      </p:sp>
      <p:sp>
        <p:nvSpPr>
          <p:cNvPr id="34" name="Text 31"/>
          <p:cNvSpPr/>
          <p:nvPr/>
        </p:nvSpPr>
        <p:spPr>
          <a:xfrm>
            <a:off x="7022592" y="2404872"/>
            <a:ext cx="255117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1C7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TODAY'S TASKS</a:t>
            </a:r>
            <a:endParaRPr lang="en-US" sz="800" dirty="0"/>
          </a:p>
        </p:txBody>
      </p:sp>
      <p:sp>
        <p:nvSpPr>
          <p:cNvPr id="35" name="Shape 32"/>
          <p:cNvSpPr/>
          <p:nvPr/>
        </p:nvSpPr>
        <p:spPr>
          <a:xfrm>
            <a:off x="7022592" y="2624328"/>
            <a:ext cx="2551176" cy="530352"/>
          </a:xfrm>
          <a:prstGeom prst="roundRect">
            <a:avLst>
              <a:gd name="adj" fmla="val 12069"/>
            </a:avLst>
          </a:prstGeom>
          <a:solidFill>
            <a:srgbClr val="FFFFFF"/>
          </a:solidFill>
          <a:ln w="9525">
            <a:solidFill>
              <a:srgbClr val="E1EBF2"/>
            </a:solidFill>
            <a:prstDash val="solid"/>
          </a:ln>
          <a:effectLst>
            <a:outerShdw sx="100000" sy="100000" kx="0" ky="0" algn="bl" rotWithShape="0" blurRad="38100" dist="12700" dir="5400000">
              <a:srgbClr val="1F3864">
                <a:alpha val="6000"/>
              </a:srgbClr>
            </a:outerShdw>
          </a:effectLst>
        </p:spPr>
      </p:sp>
      <p:sp>
        <p:nvSpPr>
          <p:cNvPr id="36" name="Shape 33"/>
          <p:cNvSpPr/>
          <p:nvPr/>
        </p:nvSpPr>
        <p:spPr>
          <a:xfrm>
            <a:off x="7132320" y="2848356"/>
            <a:ext cx="82296" cy="82296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37" name="Text 34"/>
          <p:cNvSpPr/>
          <p:nvPr/>
        </p:nvSpPr>
        <p:spPr>
          <a:xfrm>
            <a:off x="7315200" y="2688336"/>
            <a:ext cx="1508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2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Screw Press #02</a:t>
            </a:r>
            <a:endParaRPr lang="en-US" sz="950" dirty="0"/>
          </a:p>
        </p:txBody>
      </p:sp>
      <p:sp>
        <p:nvSpPr>
          <p:cNvPr id="38" name="Text 35"/>
          <p:cNvSpPr/>
          <p:nvPr/>
        </p:nvSpPr>
        <p:spPr>
          <a:xfrm>
            <a:off x="7315200" y="2898648"/>
            <a:ext cx="2148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Overdue · Pressing Station</a:t>
            </a:r>
            <a:endParaRPr lang="en-US" sz="800" dirty="0"/>
          </a:p>
        </p:txBody>
      </p:sp>
      <p:sp>
        <p:nvSpPr>
          <p:cNvPr id="39" name="Text 36"/>
          <p:cNvSpPr/>
          <p:nvPr/>
        </p:nvSpPr>
        <p:spPr>
          <a:xfrm>
            <a:off x="8860536" y="2624328"/>
            <a:ext cx="62179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1C7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Detail</a:t>
            </a:r>
            <a:endParaRPr lang="en-US" sz="750" dirty="0"/>
          </a:p>
        </p:txBody>
      </p:sp>
      <p:sp>
        <p:nvSpPr>
          <p:cNvPr id="40" name="Shape 37"/>
          <p:cNvSpPr/>
          <p:nvPr/>
        </p:nvSpPr>
        <p:spPr>
          <a:xfrm>
            <a:off x="7022592" y="3246120"/>
            <a:ext cx="2551176" cy="530352"/>
          </a:xfrm>
          <a:prstGeom prst="roundRect">
            <a:avLst>
              <a:gd name="adj" fmla="val 12069"/>
            </a:avLst>
          </a:prstGeom>
          <a:solidFill>
            <a:srgbClr val="FFFFFF"/>
          </a:solidFill>
          <a:ln w="9525">
            <a:solidFill>
              <a:srgbClr val="E1EBF2"/>
            </a:solidFill>
            <a:prstDash val="solid"/>
          </a:ln>
          <a:effectLst>
            <a:outerShdw sx="100000" sy="100000" kx="0" ky="0" algn="bl" rotWithShape="0" blurRad="38100" dist="12700" dir="5400000">
              <a:srgbClr val="1F3864">
                <a:alpha val="6000"/>
              </a:srgbClr>
            </a:outerShdw>
          </a:effectLst>
        </p:spPr>
      </p:sp>
      <p:sp>
        <p:nvSpPr>
          <p:cNvPr id="41" name="Shape 38"/>
          <p:cNvSpPr/>
          <p:nvPr/>
        </p:nvSpPr>
        <p:spPr>
          <a:xfrm>
            <a:off x="7132320" y="3470148"/>
            <a:ext cx="82296" cy="82296"/>
          </a:xfrm>
          <a:prstGeom prst="ellipse">
            <a:avLst/>
          </a:prstGeom>
          <a:solidFill>
            <a:srgbClr val="D4900B"/>
          </a:solidFill>
          <a:ln/>
        </p:spPr>
      </p:sp>
      <p:sp>
        <p:nvSpPr>
          <p:cNvPr id="42" name="Text 39"/>
          <p:cNvSpPr/>
          <p:nvPr/>
        </p:nvSpPr>
        <p:spPr>
          <a:xfrm>
            <a:off x="7315200" y="3310128"/>
            <a:ext cx="1508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2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Boiler #01</a:t>
            </a:r>
            <a:endParaRPr lang="en-US" sz="950" dirty="0"/>
          </a:p>
        </p:txBody>
      </p:sp>
      <p:sp>
        <p:nvSpPr>
          <p:cNvPr id="43" name="Text 40"/>
          <p:cNvSpPr/>
          <p:nvPr/>
        </p:nvSpPr>
        <p:spPr>
          <a:xfrm>
            <a:off x="7315200" y="3520440"/>
            <a:ext cx="2148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Due Today · Utilities</a:t>
            </a:r>
            <a:endParaRPr lang="en-US" sz="800" dirty="0"/>
          </a:p>
        </p:txBody>
      </p:sp>
      <p:sp>
        <p:nvSpPr>
          <p:cNvPr id="44" name="Text 41"/>
          <p:cNvSpPr/>
          <p:nvPr/>
        </p:nvSpPr>
        <p:spPr>
          <a:xfrm>
            <a:off x="8860536" y="3246120"/>
            <a:ext cx="62179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1C7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Detail</a:t>
            </a:r>
            <a:endParaRPr lang="en-US" sz="750" dirty="0"/>
          </a:p>
        </p:txBody>
      </p:sp>
      <p:sp>
        <p:nvSpPr>
          <p:cNvPr id="45" name="Shape 42"/>
          <p:cNvSpPr/>
          <p:nvPr/>
        </p:nvSpPr>
        <p:spPr>
          <a:xfrm>
            <a:off x="7022592" y="3867912"/>
            <a:ext cx="2551176" cy="530352"/>
          </a:xfrm>
          <a:prstGeom prst="roundRect">
            <a:avLst>
              <a:gd name="adj" fmla="val 12069"/>
            </a:avLst>
          </a:prstGeom>
          <a:solidFill>
            <a:srgbClr val="FFFFFF"/>
          </a:solidFill>
          <a:ln w="9525">
            <a:solidFill>
              <a:srgbClr val="E1EBF2"/>
            </a:solidFill>
            <a:prstDash val="solid"/>
          </a:ln>
          <a:effectLst>
            <a:outerShdw sx="100000" sy="100000" kx="0" ky="0" algn="bl" rotWithShape="0" blurRad="38100" dist="12700" dir="5400000">
              <a:srgbClr val="1F3864">
                <a:alpha val="6000"/>
              </a:srgbClr>
            </a:outerShdw>
          </a:effectLst>
        </p:spPr>
      </p:sp>
      <p:sp>
        <p:nvSpPr>
          <p:cNvPr id="46" name="Shape 43"/>
          <p:cNvSpPr/>
          <p:nvPr/>
        </p:nvSpPr>
        <p:spPr>
          <a:xfrm>
            <a:off x="7132320" y="4091940"/>
            <a:ext cx="82296" cy="82296"/>
          </a:xfrm>
          <a:prstGeom prst="ellipse">
            <a:avLst/>
          </a:prstGeom>
          <a:solidFill>
            <a:srgbClr val="1E8A5F"/>
          </a:solidFill>
          <a:ln/>
        </p:spPr>
      </p:sp>
      <p:sp>
        <p:nvSpPr>
          <p:cNvPr id="47" name="Text 44"/>
          <p:cNvSpPr/>
          <p:nvPr/>
        </p:nvSpPr>
        <p:spPr>
          <a:xfrm>
            <a:off x="7315200" y="3931920"/>
            <a:ext cx="1508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2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Pump #03</a:t>
            </a:r>
            <a:endParaRPr lang="en-US" sz="950" dirty="0"/>
          </a:p>
        </p:txBody>
      </p:sp>
      <p:sp>
        <p:nvSpPr>
          <p:cNvPr id="48" name="Text 45"/>
          <p:cNvSpPr/>
          <p:nvPr/>
        </p:nvSpPr>
        <p:spPr>
          <a:xfrm>
            <a:off x="7315200" y="4142232"/>
            <a:ext cx="2148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Completed · Clarification</a:t>
            </a:r>
            <a:endParaRPr lang="en-US" sz="800" dirty="0"/>
          </a:p>
        </p:txBody>
      </p:sp>
      <p:sp>
        <p:nvSpPr>
          <p:cNvPr id="49" name="Text 46"/>
          <p:cNvSpPr/>
          <p:nvPr/>
        </p:nvSpPr>
        <p:spPr>
          <a:xfrm>
            <a:off x="8860536" y="3867912"/>
            <a:ext cx="62179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1C7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Detail</a:t>
            </a:r>
            <a:endParaRPr lang="en-US" sz="750" dirty="0"/>
          </a:p>
        </p:txBody>
      </p:sp>
      <p:sp>
        <p:nvSpPr>
          <p:cNvPr id="50" name="Shape 47"/>
          <p:cNvSpPr/>
          <p:nvPr/>
        </p:nvSpPr>
        <p:spPr>
          <a:xfrm>
            <a:off x="6949440" y="5888736"/>
            <a:ext cx="2697480" cy="51206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1" name="Shape 48"/>
          <p:cNvSpPr/>
          <p:nvPr/>
        </p:nvSpPr>
        <p:spPr>
          <a:xfrm>
            <a:off x="6949440" y="5888736"/>
            <a:ext cx="2697480" cy="0"/>
          </a:xfrm>
          <a:prstGeom prst="line">
            <a:avLst/>
          </a:prstGeom>
          <a:noFill/>
          <a:ln w="12700">
            <a:solidFill>
              <a:srgbClr val="E1EBF2"/>
            </a:solidFill>
            <a:prstDash val="solid"/>
          </a:ln>
        </p:spPr>
      </p:sp>
      <p:sp>
        <p:nvSpPr>
          <p:cNvPr id="52" name="Shape 49"/>
          <p:cNvSpPr/>
          <p:nvPr/>
        </p:nvSpPr>
        <p:spPr>
          <a:xfrm>
            <a:off x="7072884" y="5943600"/>
            <a:ext cx="292608" cy="292608"/>
          </a:xfrm>
          <a:prstGeom prst="roundRect">
            <a:avLst>
              <a:gd name="adj" fmla="val 25000"/>
            </a:avLst>
          </a:prstGeom>
          <a:solidFill>
            <a:srgbClr val="DCEAF3"/>
          </a:solidFill>
          <a:ln/>
        </p:spPr>
      </p:sp>
      <p:pic>
        <p:nvPicPr>
          <p:cNvPr id="53" name="Image 1" descr="/home/claude/palmcare-analysis/icons/dashboard_navy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6892" y="5980176"/>
            <a:ext cx="164592" cy="164592"/>
          </a:xfrm>
          <a:prstGeom prst="rect">
            <a:avLst/>
          </a:prstGeom>
        </p:spPr>
      </p:pic>
      <p:sp>
        <p:nvSpPr>
          <p:cNvPr id="54" name="Text 50"/>
          <p:cNvSpPr/>
          <p:nvPr/>
        </p:nvSpPr>
        <p:spPr>
          <a:xfrm>
            <a:off x="6949440" y="6236208"/>
            <a:ext cx="5394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0A4A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</a:t>
            </a:r>
            <a:endParaRPr lang="en-US" sz="650" dirty="0"/>
          </a:p>
        </p:txBody>
      </p:sp>
      <p:pic>
        <p:nvPicPr>
          <p:cNvPr id="55" name="Image 2" descr="/home/claude/palmcare-analysis/icons/workorder_gra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76388" y="5980176"/>
            <a:ext cx="164592" cy="164592"/>
          </a:xfrm>
          <a:prstGeom prst="rect">
            <a:avLst/>
          </a:prstGeom>
        </p:spPr>
      </p:pic>
      <p:sp>
        <p:nvSpPr>
          <p:cNvPr id="56" name="Text 51"/>
          <p:cNvSpPr/>
          <p:nvPr/>
        </p:nvSpPr>
        <p:spPr>
          <a:xfrm>
            <a:off x="7488936" y="6236208"/>
            <a:ext cx="5394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5B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Tasks</a:t>
            </a:r>
            <a:endParaRPr lang="en-US" sz="650" dirty="0"/>
          </a:p>
        </p:txBody>
      </p:sp>
      <p:pic>
        <p:nvPicPr>
          <p:cNvPr id="57" name="Image 3" descr="/home/claude/palmcare-analysis/icons/tools_gray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15884" y="5980176"/>
            <a:ext cx="164592" cy="164592"/>
          </a:xfrm>
          <a:prstGeom prst="rect">
            <a:avLst/>
          </a:prstGeom>
        </p:spPr>
      </p:pic>
      <p:sp>
        <p:nvSpPr>
          <p:cNvPr id="58" name="Text 52"/>
          <p:cNvSpPr/>
          <p:nvPr/>
        </p:nvSpPr>
        <p:spPr>
          <a:xfrm>
            <a:off x="8028432" y="6236208"/>
            <a:ext cx="5394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5B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Equip.</a:t>
            </a:r>
            <a:endParaRPr lang="en-US" sz="650" dirty="0"/>
          </a:p>
        </p:txBody>
      </p:sp>
      <p:pic>
        <p:nvPicPr>
          <p:cNvPr id="59" name="Image 4" descr="/home/claude/palmcare-analysis/icons/bell_gray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55380" y="5980176"/>
            <a:ext cx="164592" cy="164592"/>
          </a:xfrm>
          <a:prstGeom prst="rect">
            <a:avLst/>
          </a:prstGeom>
        </p:spPr>
      </p:pic>
      <p:sp>
        <p:nvSpPr>
          <p:cNvPr id="60" name="Text 53"/>
          <p:cNvSpPr/>
          <p:nvPr/>
        </p:nvSpPr>
        <p:spPr>
          <a:xfrm>
            <a:off x="8567928" y="6236208"/>
            <a:ext cx="5394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5B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Notif.</a:t>
            </a:r>
            <a:endParaRPr lang="en-US" sz="650" dirty="0"/>
          </a:p>
        </p:txBody>
      </p:sp>
      <p:pic>
        <p:nvPicPr>
          <p:cNvPr id="61" name="Image 5" descr="/home/claude/palmcare-analysis/icons/profile_gray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294876" y="5980176"/>
            <a:ext cx="164592" cy="164592"/>
          </a:xfrm>
          <a:prstGeom prst="rect">
            <a:avLst/>
          </a:prstGeom>
        </p:spPr>
      </p:pic>
      <p:sp>
        <p:nvSpPr>
          <p:cNvPr id="62" name="Text 54"/>
          <p:cNvSpPr/>
          <p:nvPr/>
        </p:nvSpPr>
        <p:spPr>
          <a:xfrm>
            <a:off x="9107424" y="6236208"/>
            <a:ext cx="5394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5B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</a:t>
            </a:r>
            <a:endParaRPr lang="en-US" sz="650" dirty="0"/>
          </a:p>
        </p:txBody>
      </p:sp>
      <p:sp>
        <p:nvSpPr>
          <p:cNvPr id="63" name="Text 55"/>
          <p:cNvSpPr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PalmCare — Mockup UI</a:t>
            </a:r>
            <a:endParaRPr lang="en-US" sz="900" dirty="0"/>
          </a:p>
        </p:txBody>
      </p:sp>
      <p:sp>
        <p:nvSpPr>
          <p:cNvPr id="64" name="Text 56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1C7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TECHNICIAN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229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My Tasks (Daftar Tugas)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1C7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ANOTASI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48640" y="1764792"/>
            <a:ext cx="82296" cy="82296"/>
          </a:xfrm>
          <a:prstGeom prst="ellipse">
            <a:avLst/>
          </a:prstGeom>
          <a:solidFill>
            <a:srgbClr val="0A4A69"/>
          </a:solidFill>
          <a:ln/>
        </p:spPr>
      </p:sp>
      <p:sp>
        <p:nvSpPr>
          <p:cNvPr id="6" name="Text 4"/>
          <p:cNvSpPr/>
          <p:nvPr/>
        </p:nvSpPr>
        <p:spPr>
          <a:xfrm>
            <a:off x="749808" y="1682496"/>
            <a:ext cx="4572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just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2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 filter status: Semua, Due Today, Overdue, Selesai — memudahkan menyaring tugas.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548640" y="2368296"/>
            <a:ext cx="82296" cy="82296"/>
          </a:xfrm>
          <a:prstGeom prst="ellipse">
            <a:avLst/>
          </a:prstGeom>
          <a:solidFill>
            <a:srgbClr val="0A4A69"/>
          </a:solidFill>
          <a:ln/>
        </p:spPr>
      </p:sp>
      <p:sp>
        <p:nvSpPr>
          <p:cNvPr id="8" name="Text 6"/>
          <p:cNvSpPr/>
          <p:nvPr/>
        </p:nvSpPr>
        <p:spPr>
          <a:xfrm>
            <a:off x="749808" y="22860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just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2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bar untuk mencari equipment/work order tertentu.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548640" y="2770632"/>
            <a:ext cx="82296" cy="82296"/>
          </a:xfrm>
          <a:prstGeom prst="ellipse">
            <a:avLst/>
          </a:prstGeom>
          <a:solidFill>
            <a:srgbClr val="0A4A69"/>
          </a:solidFill>
          <a:ln/>
        </p:spPr>
      </p:sp>
      <p:sp>
        <p:nvSpPr>
          <p:cNvPr id="10" name="Text 8"/>
          <p:cNvSpPr/>
          <p:nvPr/>
        </p:nvSpPr>
        <p:spPr>
          <a:xfrm>
            <a:off x="749808" y="2688336"/>
            <a:ext cx="4572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just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2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Setiap item menampilkan nama equipment, station, dan tenggat, dengan indikator warna status di sisi kiri.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548640" y="3374136"/>
            <a:ext cx="82296" cy="82296"/>
          </a:xfrm>
          <a:prstGeom prst="ellipse">
            <a:avLst/>
          </a:prstGeom>
          <a:solidFill>
            <a:srgbClr val="0A4A69"/>
          </a:solidFill>
          <a:ln/>
        </p:spPr>
      </p:sp>
      <p:sp>
        <p:nvSpPr>
          <p:cNvPr id="12" name="Text 10"/>
          <p:cNvSpPr/>
          <p:nvPr/>
        </p:nvSpPr>
        <p:spPr>
          <a:xfrm>
            <a:off x="749808" y="32918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just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2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Tap salah satu item akan membuka Detail Work Order.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903720" y="502920"/>
            <a:ext cx="2788920" cy="5989320"/>
          </a:xfrm>
          <a:prstGeom prst="roundRect">
            <a:avLst>
              <a:gd name="adj" fmla="val 7213"/>
            </a:avLst>
          </a:prstGeom>
          <a:solidFill>
            <a:srgbClr val="12293D"/>
          </a:solidFill>
          <a:ln/>
          <a:effectLst>
            <a:outerShdw sx="100000" sy="100000" kx="0" ky="0" algn="bl" rotWithShape="0" blurRad="127000" dist="50800" dir="5400000">
              <a:srgbClr val="0A4A69">
                <a:alpha val="3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949440" y="548640"/>
            <a:ext cx="2697480" cy="5897880"/>
          </a:xfrm>
          <a:prstGeom prst="roundRect">
            <a:avLst>
              <a:gd name="adj" fmla="val 6102"/>
            </a:avLst>
          </a:prstGeom>
          <a:solidFill>
            <a:srgbClr val="F6F9FB"/>
          </a:solidFill>
          <a:ln/>
        </p:spPr>
      </p:sp>
      <p:sp>
        <p:nvSpPr>
          <p:cNvPr id="15" name="Text 13"/>
          <p:cNvSpPr/>
          <p:nvPr/>
        </p:nvSpPr>
        <p:spPr>
          <a:xfrm>
            <a:off x="7068312" y="594360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2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9:41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9272016" y="630936"/>
            <a:ext cx="274320" cy="118872"/>
          </a:xfrm>
          <a:prstGeom prst="roundRect">
            <a:avLst>
              <a:gd name="adj" fmla="val 23077"/>
            </a:avLst>
          </a:prstGeom>
          <a:noFill/>
          <a:ln w="9525">
            <a:solidFill>
              <a:srgbClr val="12293D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022592" y="832104"/>
            <a:ext cx="2551176" cy="420624"/>
          </a:xfrm>
          <a:prstGeom prst="rect">
            <a:avLst/>
          </a:prstGeom>
          <a:solidFill>
            <a:srgbClr val="0A4A69"/>
          </a:solidFill>
          <a:ln/>
        </p:spPr>
      </p:sp>
      <p:pic>
        <p:nvPicPr>
          <p:cNvPr id="18" name="Image 0" descr="/home/claude/palmcare-analysis/icons/history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32320" y="950976"/>
            <a:ext cx="182880" cy="182880"/>
          </a:xfrm>
          <a:prstGeom prst="rect">
            <a:avLst/>
          </a:prstGeom>
        </p:spPr>
      </p:pic>
      <p:sp>
        <p:nvSpPr>
          <p:cNvPr id="19" name="Text 16"/>
          <p:cNvSpPr/>
          <p:nvPr/>
        </p:nvSpPr>
        <p:spPr>
          <a:xfrm>
            <a:off x="7351776" y="832104"/>
            <a:ext cx="191109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 Tasks</a:t>
            </a:r>
            <a:endParaRPr lang="en-US" sz="1250" dirty="0"/>
          </a:p>
        </p:txBody>
      </p:sp>
      <p:sp>
        <p:nvSpPr>
          <p:cNvPr id="20" name="Shape 17"/>
          <p:cNvSpPr/>
          <p:nvPr/>
        </p:nvSpPr>
        <p:spPr>
          <a:xfrm>
            <a:off x="7022592" y="1344168"/>
            <a:ext cx="2551176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1EBF2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7114032" y="1435608"/>
            <a:ext cx="100584" cy="100584"/>
          </a:xfrm>
          <a:prstGeom prst="ellipse">
            <a:avLst/>
          </a:prstGeom>
          <a:noFill/>
          <a:ln w="12700">
            <a:solidFill>
              <a:srgbClr val="5B7184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7278624" y="1344168"/>
            <a:ext cx="2240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Cari equipment / work order</a:t>
            </a:r>
            <a:endParaRPr lang="en-US" sz="850" dirty="0"/>
          </a:p>
        </p:txBody>
      </p:sp>
      <p:sp>
        <p:nvSpPr>
          <p:cNvPr id="23" name="Shape 20"/>
          <p:cNvSpPr/>
          <p:nvPr/>
        </p:nvSpPr>
        <p:spPr>
          <a:xfrm>
            <a:off x="7059168" y="1728216"/>
            <a:ext cx="564642" cy="274320"/>
          </a:xfrm>
          <a:prstGeom prst="roundRect">
            <a:avLst>
              <a:gd name="adj" fmla="val 20000"/>
            </a:avLst>
          </a:prstGeom>
          <a:solidFill>
            <a:srgbClr val="0A4A69"/>
          </a:solidFill>
          <a:ln/>
        </p:spPr>
      </p:sp>
      <p:sp>
        <p:nvSpPr>
          <p:cNvPr id="24" name="Text 21"/>
          <p:cNvSpPr/>
          <p:nvPr/>
        </p:nvSpPr>
        <p:spPr>
          <a:xfrm>
            <a:off x="7022592" y="1728216"/>
            <a:ext cx="63779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Semua</a:t>
            </a:r>
            <a:endParaRPr lang="en-US" sz="850" dirty="0"/>
          </a:p>
        </p:txBody>
      </p:sp>
      <p:sp>
        <p:nvSpPr>
          <p:cNvPr id="25" name="Text 22"/>
          <p:cNvSpPr/>
          <p:nvPr/>
        </p:nvSpPr>
        <p:spPr>
          <a:xfrm>
            <a:off x="7660386" y="1728216"/>
            <a:ext cx="63779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Due Today</a:t>
            </a:r>
            <a:endParaRPr lang="en-US" sz="850" dirty="0"/>
          </a:p>
        </p:txBody>
      </p:sp>
      <p:sp>
        <p:nvSpPr>
          <p:cNvPr id="26" name="Text 23"/>
          <p:cNvSpPr/>
          <p:nvPr/>
        </p:nvSpPr>
        <p:spPr>
          <a:xfrm>
            <a:off x="8298180" y="1728216"/>
            <a:ext cx="63779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Overdue</a:t>
            </a:r>
            <a:endParaRPr lang="en-US" sz="850" dirty="0"/>
          </a:p>
        </p:txBody>
      </p:sp>
      <p:sp>
        <p:nvSpPr>
          <p:cNvPr id="27" name="Text 24"/>
          <p:cNvSpPr/>
          <p:nvPr/>
        </p:nvSpPr>
        <p:spPr>
          <a:xfrm>
            <a:off x="8935974" y="1728216"/>
            <a:ext cx="63779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Selesai</a:t>
            </a:r>
            <a:endParaRPr lang="en-US" sz="850" dirty="0"/>
          </a:p>
        </p:txBody>
      </p:sp>
      <p:sp>
        <p:nvSpPr>
          <p:cNvPr id="28" name="Shape 25"/>
          <p:cNvSpPr/>
          <p:nvPr/>
        </p:nvSpPr>
        <p:spPr>
          <a:xfrm>
            <a:off x="7022592" y="2093976"/>
            <a:ext cx="2551176" cy="530352"/>
          </a:xfrm>
          <a:prstGeom prst="roundRect">
            <a:avLst>
              <a:gd name="adj" fmla="val 12069"/>
            </a:avLst>
          </a:prstGeom>
          <a:solidFill>
            <a:srgbClr val="FFFFFF"/>
          </a:solidFill>
          <a:ln w="9525">
            <a:solidFill>
              <a:srgbClr val="E1EBF2"/>
            </a:solidFill>
            <a:prstDash val="solid"/>
          </a:ln>
          <a:effectLst>
            <a:outerShdw sx="100000" sy="100000" kx="0" ky="0" algn="bl" rotWithShape="0" blurRad="38100" dist="12700" dir="5400000">
              <a:srgbClr val="1F3864">
                <a:alpha val="6000"/>
              </a:srgbClr>
            </a:outerShdw>
          </a:effectLst>
        </p:spPr>
      </p:sp>
      <p:sp>
        <p:nvSpPr>
          <p:cNvPr id="29" name="Shape 26"/>
          <p:cNvSpPr/>
          <p:nvPr/>
        </p:nvSpPr>
        <p:spPr>
          <a:xfrm>
            <a:off x="7132320" y="2318004"/>
            <a:ext cx="82296" cy="82296"/>
          </a:xfrm>
          <a:prstGeom prst="ellipse">
            <a:avLst/>
          </a:prstGeom>
          <a:solidFill>
            <a:srgbClr val="D4900B"/>
          </a:solidFill>
          <a:ln/>
        </p:spPr>
      </p:sp>
      <p:sp>
        <p:nvSpPr>
          <p:cNvPr id="30" name="Text 27"/>
          <p:cNvSpPr/>
          <p:nvPr/>
        </p:nvSpPr>
        <p:spPr>
          <a:xfrm>
            <a:off x="7315200" y="2157984"/>
            <a:ext cx="1508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2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WO-2026-00921 · Screw Press #02</a:t>
            </a:r>
            <a:endParaRPr lang="en-US" sz="950" dirty="0"/>
          </a:p>
        </p:txBody>
      </p:sp>
      <p:sp>
        <p:nvSpPr>
          <p:cNvPr id="31" name="Text 28"/>
          <p:cNvSpPr/>
          <p:nvPr/>
        </p:nvSpPr>
        <p:spPr>
          <a:xfrm>
            <a:off x="7315200" y="2368296"/>
            <a:ext cx="2148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Preventive · 04 Sep 2026</a:t>
            </a:r>
            <a:endParaRPr lang="en-US" sz="800" dirty="0"/>
          </a:p>
        </p:txBody>
      </p:sp>
      <p:sp>
        <p:nvSpPr>
          <p:cNvPr id="32" name="Text 29"/>
          <p:cNvSpPr/>
          <p:nvPr/>
        </p:nvSpPr>
        <p:spPr>
          <a:xfrm>
            <a:off x="8860536" y="2093976"/>
            <a:ext cx="62179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1C7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Lihat</a:t>
            </a:r>
            <a:endParaRPr lang="en-US" sz="750" dirty="0"/>
          </a:p>
        </p:txBody>
      </p:sp>
      <p:sp>
        <p:nvSpPr>
          <p:cNvPr id="33" name="Shape 30"/>
          <p:cNvSpPr/>
          <p:nvPr/>
        </p:nvSpPr>
        <p:spPr>
          <a:xfrm>
            <a:off x="7022592" y="2715768"/>
            <a:ext cx="2551176" cy="530352"/>
          </a:xfrm>
          <a:prstGeom prst="roundRect">
            <a:avLst>
              <a:gd name="adj" fmla="val 12069"/>
            </a:avLst>
          </a:prstGeom>
          <a:solidFill>
            <a:srgbClr val="FFFFFF"/>
          </a:solidFill>
          <a:ln w="9525">
            <a:solidFill>
              <a:srgbClr val="E1EBF2"/>
            </a:solidFill>
            <a:prstDash val="solid"/>
          </a:ln>
          <a:effectLst>
            <a:outerShdw sx="100000" sy="100000" kx="0" ky="0" algn="bl" rotWithShape="0" blurRad="38100" dist="12700" dir="5400000">
              <a:srgbClr val="1F3864">
                <a:alpha val="6000"/>
              </a:srgbClr>
            </a:outerShdw>
          </a:effectLst>
        </p:spPr>
      </p:sp>
      <p:sp>
        <p:nvSpPr>
          <p:cNvPr id="34" name="Shape 31"/>
          <p:cNvSpPr/>
          <p:nvPr/>
        </p:nvSpPr>
        <p:spPr>
          <a:xfrm>
            <a:off x="7132320" y="2939796"/>
            <a:ext cx="82296" cy="82296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35" name="Text 32"/>
          <p:cNvSpPr/>
          <p:nvPr/>
        </p:nvSpPr>
        <p:spPr>
          <a:xfrm>
            <a:off x="7315200" y="2779776"/>
            <a:ext cx="1508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2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WO-2026-00919 · Boiler #01</a:t>
            </a:r>
            <a:endParaRPr lang="en-US" sz="950" dirty="0"/>
          </a:p>
        </p:txBody>
      </p:sp>
      <p:sp>
        <p:nvSpPr>
          <p:cNvPr id="36" name="Text 33"/>
          <p:cNvSpPr/>
          <p:nvPr/>
        </p:nvSpPr>
        <p:spPr>
          <a:xfrm>
            <a:off x="7315200" y="2990088"/>
            <a:ext cx="2148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Preventive · 04 Sep 2026</a:t>
            </a:r>
            <a:endParaRPr lang="en-US" sz="800" dirty="0"/>
          </a:p>
        </p:txBody>
      </p:sp>
      <p:sp>
        <p:nvSpPr>
          <p:cNvPr id="37" name="Text 34"/>
          <p:cNvSpPr/>
          <p:nvPr/>
        </p:nvSpPr>
        <p:spPr>
          <a:xfrm>
            <a:off x="8860536" y="2715768"/>
            <a:ext cx="62179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1C7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Lihat</a:t>
            </a:r>
            <a:endParaRPr lang="en-US" sz="750" dirty="0"/>
          </a:p>
        </p:txBody>
      </p:sp>
      <p:sp>
        <p:nvSpPr>
          <p:cNvPr id="38" name="Shape 35"/>
          <p:cNvSpPr/>
          <p:nvPr/>
        </p:nvSpPr>
        <p:spPr>
          <a:xfrm>
            <a:off x="7022592" y="3337560"/>
            <a:ext cx="2551176" cy="530352"/>
          </a:xfrm>
          <a:prstGeom prst="roundRect">
            <a:avLst>
              <a:gd name="adj" fmla="val 12069"/>
            </a:avLst>
          </a:prstGeom>
          <a:solidFill>
            <a:srgbClr val="FFFFFF"/>
          </a:solidFill>
          <a:ln w="9525">
            <a:solidFill>
              <a:srgbClr val="E1EBF2"/>
            </a:solidFill>
            <a:prstDash val="solid"/>
          </a:ln>
          <a:effectLst>
            <a:outerShdw sx="100000" sy="100000" kx="0" ky="0" algn="bl" rotWithShape="0" blurRad="38100" dist="12700" dir="5400000">
              <a:srgbClr val="1F3864">
                <a:alpha val="6000"/>
              </a:srgbClr>
            </a:outerShdw>
          </a:effectLst>
        </p:spPr>
      </p:sp>
      <p:sp>
        <p:nvSpPr>
          <p:cNvPr id="39" name="Shape 36"/>
          <p:cNvSpPr/>
          <p:nvPr/>
        </p:nvSpPr>
        <p:spPr>
          <a:xfrm>
            <a:off x="7132320" y="3561588"/>
            <a:ext cx="82296" cy="82296"/>
          </a:xfrm>
          <a:prstGeom prst="ellipse">
            <a:avLst/>
          </a:prstGeom>
          <a:solidFill>
            <a:srgbClr val="1E8A5F"/>
          </a:solidFill>
          <a:ln/>
        </p:spPr>
      </p:sp>
      <p:sp>
        <p:nvSpPr>
          <p:cNvPr id="40" name="Text 37"/>
          <p:cNvSpPr/>
          <p:nvPr/>
        </p:nvSpPr>
        <p:spPr>
          <a:xfrm>
            <a:off x="7315200" y="3401568"/>
            <a:ext cx="1508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2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WO-2026-00915 · Digester #01</a:t>
            </a:r>
            <a:endParaRPr lang="en-US" sz="950" dirty="0"/>
          </a:p>
        </p:txBody>
      </p:sp>
      <p:sp>
        <p:nvSpPr>
          <p:cNvPr id="41" name="Text 38"/>
          <p:cNvSpPr/>
          <p:nvPr/>
        </p:nvSpPr>
        <p:spPr>
          <a:xfrm>
            <a:off x="7315200" y="3611880"/>
            <a:ext cx="2148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Preventive · 03 Sep 2026</a:t>
            </a:r>
            <a:endParaRPr lang="en-US" sz="800" dirty="0"/>
          </a:p>
        </p:txBody>
      </p:sp>
      <p:sp>
        <p:nvSpPr>
          <p:cNvPr id="42" name="Text 39"/>
          <p:cNvSpPr/>
          <p:nvPr/>
        </p:nvSpPr>
        <p:spPr>
          <a:xfrm>
            <a:off x="8860536" y="3337560"/>
            <a:ext cx="62179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1C7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Lihat</a:t>
            </a:r>
            <a:endParaRPr lang="en-US" sz="750" dirty="0"/>
          </a:p>
        </p:txBody>
      </p:sp>
      <p:sp>
        <p:nvSpPr>
          <p:cNvPr id="43" name="Shape 40"/>
          <p:cNvSpPr/>
          <p:nvPr/>
        </p:nvSpPr>
        <p:spPr>
          <a:xfrm>
            <a:off x="7022592" y="3959352"/>
            <a:ext cx="2551176" cy="530352"/>
          </a:xfrm>
          <a:prstGeom prst="roundRect">
            <a:avLst>
              <a:gd name="adj" fmla="val 12069"/>
            </a:avLst>
          </a:prstGeom>
          <a:solidFill>
            <a:srgbClr val="FFFFFF"/>
          </a:solidFill>
          <a:ln w="9525">
            <a:solidFill>
              <a:srgbClr val="E1EBF2"/>
            </a:solidFill>
            <a:prstDash val="solid"/>
          </a:ln>
          <a:effectLst>
            <a:outerShdw sx="100000" sy="100000" kx="0" ky="0" algn="bl" rotWithShape="0" blurRad="38100" dist="12700" dir="5400000">
              <a:srgbClr val="1F3864">
                <a:alpha val="6000"/>
              </a:srgbClr>
            </a:outerShdw>
          </a:effectLst>
        </p:spPr>
      </p:sp>
      <p:sp>
        <p:nvSpPr>
          <p:cNvPr id="44" name="Shape 41"/>
          <p:cNvSpPr/>
          <p:nvPr/>
        </p:nvSpPr>
        <p:spPr>
          <a:xfrm>
            <a:off x="7132320" y="4183380"/>
            <a:ext cx="82296" cy="82296"/>
          </a:xfrm>
          <a:prstGeom prst="ellipse">
            <a:avLst/>
          </a:prstGeom>
          <a:solidFill>
            <a:srgbClr val="1E8A5F"/>
          </a:solidFill>
          <a:ln/>
        </p:spPr>
      </p:sp>
      <p:sp>
        <p:nvSpPr>
          <p:cNvPr id="45" name="Text 42"/>
          <p:cNvSpPr/>
          <p:nvPr/>
        </p:nvSpPr>
        <p:spPr>
          <a:xfrm>
            <a:off x="7315200" y="4023360"/>
            <a:ext cx="1508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2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WO-2026-00912 · Pump #03</a:t>
            </a:r>
            <a:endParaRPr lang="en-US" sz="950" dirty="0"/>
          </a:p>
        </p:txBody>
      </p:sp>
      <p:sp>
        <p:nvSpPr>
          <p:cNvPr id="46" name="Text 43"/>
          <p:cNvSpPr/>
          <p:nvPr/>
        </p:nvSpPr>
        <p:spPr>
          <a:xfrm>
            <a:off x="7315200" y="4233672"/>
            <a:ext cx="2148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Preventive · 02 Sep 2026</a:t>
            </a:r>
            <a:endParaRPr lang="en-US" sz="800" dirty="0"/>
          </a:p>
        </p:txBody>
      </p:sp>
      <p:sp>
        <p:nvSpPr>
          <p:cNvPr id="47" name="Text 44"/>
          <p:cNvSpPr/>
          <p:nvPr/>
        </p:nvSpPr>
        <p:spPr>
          <a:xfrm>
            <a:off x="8860536" y="3959352"/>
            <a:ext cx="62179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1C7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Lihat</a:t>
            </a:r>
            <a:endParaRPr lang="en-US" sz="750" dirty="0"/>
          </a:p>
        </p:txBody>
      </p:sp>
      <p:sp>
        <p:nvSpPr>
          <p:cNvPr id="48" name="Shape 45"/>
          <p:cNvSpPr/>
          <p:nvPr/>
        </p:nvSpPr>
        <p:spPr>
          <a:xfrm>
            <a:off x="6949440" y="5888736"/>
            <a:ext cx="2697480" cy="51206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9" name="Shape 46"/>
          <p:cNvSpPr/>
          <p:nvPr/>
        </p:nvSpPr>
        <p:spPr>
          <a:xfrm>
            <a:off x="6949440" y="5888736"/>
            <a:ext cx="2697480" cy="0"/>
          </a:xfrm>
          <a:prstGeom prst="line">
            <a:avLst/>
          </a:prstGeom>
          <a:noFill/>
          <a:ln w="12700">
            <a:solidFill>
              <a:srgbClr val="E1EBF2"/>
            </a:solidFill>
            <a:prstDash val="solid"/>
          </a:ln>
        </p:spPr>
      </p:sp>
      <p:pic>
        <p:nvPicPr>
          <p:cNvPr id="50" name="Image 1" descr="/home/claude/palmcare-analysis/icons/dashboard_gray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6892" y="5980176"/>
            <a:ext cx="164592" cy="164592"/>
          </a:xfrm>
          <a:prstGeom prst="rect">
            <a:avLst/>
          </a:prstGeom>
        </p:spPr>
      </p:pic>
      <p:sp>
        <p:nvSpPr>
          <p:cNvPr id="51" name="Text 47"/>
          <p:cNvSpPr/>
          <p:nvPr/>
        </p:nvSpPr>
        <p:spPr>
          <a:xfrm>
            <a:off x="6949440" y="6236208"/>
            <a:ext cx="5394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5B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</a:t>
            </a:r>
            <a:endParaRPr lang="en-US" sz="650" dirty="0"/>
          </a:p>
        </p:txBody>
      </p:sp>
      <p:sp>
        <p:nvSpPr>
          <p:cNvPr id="52" name="Shape 48"/>
          <p:cNvSpPr/>
          <p:nvPr/>
        </p:nvSpPr>
        <p:spPr>
          <a:xfrm>
            <a:off x="7612380" y="5943600"/>
            <a:ext cx="292608" cy="292608"/>
          </a:xfrm>
          <a:prstGeom prst="roundRect">
            <a:avLst>
              <a:gd name="adj" fmla="val 25000"/>
            </a:avLst>
          </a:prstGeom>
          <a:solidFill>
            <a:srgbClr val="DCEAF3"/>
          </a:solidFill>
          <a:ln/>
        </p:spPr>
      </p:sp>
      <p:pic>
        <p:nvPicPr>
          <p:cNvPr id="53" name="Image 2" descr="/home/claude/palmcare-analysis/icons/workorder_nav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76388" y="5980176"/>
            <a:ext cx="164592" cy="164592"/>
          </a:xfrm>
          <a:prstGeom prst="rect">
            <a:avLst/>
          </a:prstGeom>
        </p:spPr>
      </p:pic>
      <p:sp>
        <p:nvSpPr>
          <p:cNvPr id="54" name="Text 49"/>
          <p:cNvSpPr/>
          <p:nvPr/>
        </p:nvSpPr>
        <p:spPr>
          <a:xfrm>
            <a:off x="7488936" y="6236208"/>
            <a:ext cx="5394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0A4A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Tasks</a:t>
            </a:r>
            <a:endParaRPr lang="en-US" sz="650" dirty="0"/>
          </a:p>
        </p:txBody>
      </p:sp>
      <p:pic>
        <p:nvPicPr>
          <p:cNvPr id="55" name="Image 3" descr="/home/claude/palmcare-analysis/icons/tools_gray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15884" y="5980176"/>
            <a:ext cx="164592" cy="164592"/>
          </a:xfrm>
          <a:prstGeom prst="rect">
            <a:avLst/>
          </a:prstGeom>
        </p:spPr>
      </p:pic>
      <p:sp>
        <p:nvSpPr>
          <p:cNvPr id="56" name="Text 50"/>
          <p:cNvSpPr/>
          <p:nvPr/>
        </p:nvSpPr>
        <p:spPr>
          <a:xfrm>
            <a:off x="8028432" y="6236208"/>
            <a:ext cx="5394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5B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Equip.</a:t>
            </a:r>
            <a:endParaRPr lang="en-US" sz="650" dirty="0"/>
          </a:p>
        </p:txBody>
      </p:sp>
      <p:pic>
        <p:nvPicPr>
          <p:cNvPr id="57" name="Image 4" descr="/home/claude/palmcare-analysis/icons/bell_gray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55380" y="5980176"/>
            <a:ext cx="164592" cy="164592"/>
          </a:xfrm>
          <a:prstGeom prst="rect">
            <a:avLst/>
          </a:prstGeom>
        </p:spPr>
      </p:pic>
      <p:sp>
        <p:nvSpPr>
          <p:cNvPr id="58" name="Text 51"/>
          <p:cNvSpPr/>
          <p:nvPr/>
        </p:nvSpPr>
        <p:spPr>
          <a:xfrm>
            <a:off x="8567928" y="6236208"/>
            <a:ext cx="5394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5B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Notif.</a:t>
            </a:r>
            <a:endParaRPr lang="en-US" sz="650" dirty="0"/>
          </a:p>
        </p:txBody>
      </p:sp>
      <p:pic>
        <p:nvPicPr>
          <p:cNvPr id="59" name="Image 5" descr="/home/claude/palmcare-analysis/icons/profile_gray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294876" y="5980176"/>
            <a:ext cx="164592" cy="164592"/>
          </a:xfrm>
          <a:prstGeom prst="rect">
            <a:avLst/>
          </a:prstGeom>
        </p:spPr>
      </p:pic>
      <p:sp>
        <p:nvSpPr>
          <p:cNvPr id="60" name="Text 52"/>
          <p:cNvSpPr/>
          <p:nvPr/>
        </p:nvSpPr>
        <p:spPr>
          <a:xfrm>
            <a:off x="9107424" y="6236208"/>
            <a:ext cx="5394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5B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</a:t>
            </a:r>
            <a:endParaRPr lang="en-US" sz="650" dirty="0"/>
          </a:p>
        </p:txBody>
      </p:sp>
      <p:sp>
        <p:nvSpPr>
          <p:cNvPr id="61" name="Text 53"/>
          <p:cNvSpPr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PalmCare — Mockup UI</a:t>
            </a:r>
            <a:endParaRPr lang="en-US" sz="900" dirty="0"/>
          </a:p>
        </p:txBody>
      </p:sp>
      <p:sp>
        <p:nvSpPr>
          <p:cNvPr id="62" name="Text 54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1C7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TECHNICIAN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229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Detail Work Order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1C7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ANOTASI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48640" y="1764792"/>
            <a:ext cx="82296" cy="82296"/>
          </a:xfrm>
          <a:prstGeom prst="ellipse">
            <a:avLst/>
          </a:prstGeom>
          <a:solidFill>
            <a:srgbClr val="0A4A69"/>
          </a:solidFill>
          <a:ln/>
        </p:spPr>
      </p:sp>
      <p:sp>
        <p:nvSpPr>
          <p:cNvPr id="6" name="Text 4"/>
          <p:cNvSpPr/>
          <p:nvPr/>
        </p:nvSpPr>
        <p:spPr>
          <a:xfrm>
            <a:off x="749808" y="1682496"/>
            <a:ext cx="4572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just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2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Informasi lengkap work order: equipment, station, prioritas, jadwal, dan estimasi durasi.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548640" y="2368296"/>
            <a:ext cx="82296" cy="82296"/>
          </a:xfrm>
          <a:prstGeom prst="ellipse">
            <a:avLst/>
          </a:prstGeom>
          <a:solidFill>
            <a:srgbClr val="0A4A69"/>
          </a:solidFill>
          <a:ln/>
        </p:spPr>
      </p:sp>
      <p:sp>
        <p:nvSpPr>
          <p:cNvPr id="8" name="Text 6"/>
          <p:cNvSpPr/>
          <p:nvPr/>
        </p:nvSpPr>
        <p:spPr>
          <a:xfrm>
            <a:off x="749808" y="2286000"/>
            <a:ext cx="4572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just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2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 pekerjaan ditampilkan jelas di bagian atas (mis. Assigned).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548640" y="2971800"/>
            <a:ext cx="82296" cy="82296"/>
          </a:xfrm>
          <a:prstGeom prst="ellipse">
            <a:avLst/>
          </a:prstGeom>
          <a:solidFill>
            <a:srgbClr val="0A4A69"/>
          </a:solidFill>
          <a:ln/>
        </p:spPr>
      </p:sp>
      <p:sp>
        <p:nvSpPr>
          <p:cNvPr id="10" name="Text 8"/>
          <p:cNvSpPr/>
          <p:nvPr/>
        </p:nvSpPr>
        <p:spPr>
          <a:xfrm>
            <a:off x="749808" y="2889504"/>
            <a:ext cx="4572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just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2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Tombol “Start Maintenance” sebagai aksi utama untuk memulai pekerjaan dan membuka checklist.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6903720" y="502920"/>
            <a:ext cx="2788920" cy="5989320"/>
          </a:xfrm>
          <a:prstGeom prst="roundRect">
            <a:avLst>
              <a:gd name="adj" fmla="val 7213"/>
            </a:avLst>
          </a:prstGeom>
          <a:solidFill>
            <a:srgbClr val="12293D"/>
          </a:solidFill>
          <a:ln/>
          <a:effectLst>
            <a:outerShdw sx="100000" sy="100000" kx="0" ky="0" algn="bl" rotWithShape="0" blurRad="127000" dist="50800" dir="5400000">
              <a:srgbClr val="0A4A69">
                <a:alpha val="3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949440" y="548640"/>
            <a:ext cx="2697480" cy="5897880"/>
          </a:xfrm>
          <a:prstGeom prst="roundRect">
            <a:avLst>
              <a:gd name="adj" fmla="val 6102"/>
            </a:avLst>
          </a:prstGeom>
          <a:solidFill>
            <a:srgbClr val="F6F9FB"/>
          </a:solidFill>
          <a:ln/>
        </p:spPr>
      </p:sp>
      <p:sp>
        <p:nvSpPr>
          <p:cNvPr id="13" name="Text 11"/>
          <p:cNvSpPr/>
          <p:nvPr/>
        </p:nvSpPr>
        <p:spPr>
          <a:xfrm>
            <a:off x="7068312" y="594360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2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9:41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9272016" y="630936"/>
            <a:ext cx="274320" cy="118872"/>
          </a:xfrm>
          <a:prstGeom prst="roundRect">
            <a:avLst>
              <a:gd name="adj" fmla="val 23077"/>
            </a:avLst>
          </a:prstGeom>
          <a:noFill/>
          <a:ln w="9525">
            <a:solidFill>
              <a:srgbClr val="12293D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022592" y="832104"/>
            <a:ext cx="2551176" cy="420624"/>
          </a:xfrm>
          <a:prstGeom prst="rect">
            <a:avLst/>
          </a:prstGeom>
          <a:solidFill>
            <a:srgbClr val="0A4A69"/>
          </a:solidFill>
          <a:ln/>
        </p:spPr>
      </p:sp>
      <p:pic>
        <p:nvPicPr>
          <p:cNvPr id="16" name="Image 0" descr="/home/claude/palmcare-analysis/icons/history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32320" y="950976"/>
            <a:ext cx="182880" cy="182880"/>
          </a:xfrm>
          <a:prstGeom prst="rect">
            <a:avLst/>
          </a:prstGeom>
        </p:spPr>
      </p:pic>
      <p:sp>
        <p:nvSpPr>
          <p:cNvPr id="17" name="Text 14"/>
          <p:cNvSpPr/>
          <p:nvPr/>
        </p:nvSpPr>
        <p:spPr>
          <a:xfrm>
            <a:off x="7351776" y="832104"/>
            <a:ext cx="191109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WO-2026-00921</a:t>
            </a:r>
            <a:endParaRPr lang="en-US" sz="1250" dirty="0"/>
          </a:p>
        </p:txBody>
      </p:sp>
      <p:sp>
        <p:nvSpPr>
          <p:cNvPr id="18" name="Text 15"/>
          <p:cNvSpPr/>
          <p:nvPr/>
        </p:nvSpPr>
        <p:spPr>
          <a:xfrm>
            <a:off x="7022592" y="1344168"/>
            <a:ext cx="255117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1C7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EQUIPMENT</a:t>
            </a:r>
            <a:endParaRPr lang="en-US" sz="800" dirty="0"/>
          </a:p>
        </p:txBody>
      </p:sp>
      <p:sp>
        <p:nvSpPr>
          <p:cNvPr id="19" name="Shape 16"/>
          <p:cNvSpPr/>
          <p:nvPr/>
        </p:nvSpPr>
        <p:spPr>
          <a:xfrm>
            <a:off x="7022592" y="1563624"/>
            <a:ext cx="2551176" cy="530352"/>
          </a:xfrm>
          <a:prstGeom prst="roundRect">
            <a:avLst>
              <a:gd name="adj" fmla="val 12069"/>
            </a:avLst>
          </a:prstGeom>
          <a:solidFill>
            <a:srgbClr val="FFFFFF"/>
          </a:solidFill>
          <a:ln w="9525">
            <a:solidFill>
              <a:srgbClr val="E1EBF2"/>
            </a:solidFill>
            <a:prstDash val="solid"/>
          </a:ln>
          <a:effectLst>
            <a:outerShdw sx="100000" sy="100000" kx="0" ky="0" algn="bl" rotWithShape="0" blurRad="38100" dist="12700" dir="5400000">
              <a:srgbClr val="1F3864">
                <a:alpha val="6000"/>
              </a:srgbClr>
            </a:outerShdw>
          </a:effectLst>
        </p:spPr>
      </p:sp>
      <p:sp>
        <p:nvSpPr>
          <p:cNvPr id="20" name="Text 17"/>
          <p:cNvSpPr/>
          <p:nvPr/>
        </p:nvSpPr>
        <p:spPr>
          <a:xfrm>
            <a:off x="7150608" y="1627632"/>
            <a:ext cx="23134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2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Screw Press #02</a:t>
            </a:r>
            <a:endParaRPr lang="en-US" sz="950" dirty="0"/>
          </a:p>
        </p:txBody>
      </p:sp>
      <p:sp>
        <p:nvSpPr>
          <p:cNvPr id="21" name="Text 18"/>
          <p:cNvSpPr/>
          <p:nvPr/>
        </p:nvSpPr>
        <p:spPr>
          <a:xfrm>
            <a:off x="7150608" y="1837944"/>
            <a:ext cx="23134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Pressing Station · EQ-SP-002</a:t>
            </a:r>
            <a:endParaRPr lang="en-US" sz="800" dirty="0"/>
          </a:p>
        </p:txBody>
      </p:sp>
      <p:sp>
        <p:nvSpPr>
          <p:cNvPr id="22" name="Text 19"/>
          <p:cNvSpPr/>
          <p:nvPr/>
        </p:nvSpPr>
        <p:spPr>
          <a:xfrm>
            <a:off x="7022592" y="2185416"/>
            <a:ext cx="255117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1C7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DETAIL WORK ORDER</a:t>
            </a:r>
            <a:endParaRPr lang="en-US" sz="800" dirty="0"/>
          </a:p>
        </p:txBody>
      </p:sp>
      <p:sp>
        <p:nvSpPr>
          <p:cNvPr id="23" name="Shape 20"/>
          <p:cNvSpPr/>
          <p:nvPr/>
        </p:nvSpPr>
        <p:spPr>
          <a:xfrm>
            <a:off x="7022592" y="2404872"/>
            <a:ext cx="2551176" cy="13716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1EBF2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7022592" y="2404872"/>
            <a:ext cx="2551176" cy="228600"/>
          </a:xfrm>
          <a:prstGeom prst="rect">
            <a:avLst/>
          </a:prstGeom>
          <a:solidFill>
            <a:srgbClr val="DCEAF3"/>
          </a:solidFill>
          <a:ln/>
        </p:spPr>
      </p:sp>
      <p:sp>
        <p:nvSpPr>
          <p:cNvPr id="25" name="Text 22"/>
          <p:cNvSpPr/>
          <p:nvPr/>
        </p:nvSpPr>
        <p:spPr>
          <a:xfrm>
            <a:off x="7077456" y="2404872"/>
            <a:ext cx="120243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0A4A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Field</a:t>
            </a:r>
            <a:endParaRPr lang="en-US" sz="700" dirty="0"/>
          </a:p>
        </p:txBody>
      </p:sp>
      <p:sp>
        <p:nvSpPr>
          <p:cNvPr id="26" name="Text 23"/>
          <p:cNvSpPr/>
          <p:nvPr/>
        </p:nvSpPr>
        <p:spPr>
          <a:xfrm>
            <a:off x="8353044" y="2404872"/>
            <a:ext cx="120243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0A4A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Nilai</a:t>
            </a:r>
            <a:endParaRPr lang="en-US" sz="700" dirty="0"/>
          </a:p>
        </p:txBody>
      </p:sp>
      <p:sp>
        <p:nvSpPr>
          <p:cNvPr id="27" name="Text 24"/>
          <p:cNvSpPr/>
          <p:nvPr/>
        </p:nvSpPr>
        <p:spPr>
          <a:xfrm>
            <a:off x="7077456" y="2633472"/>
            <a:ext cx="120243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2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</a:t>
            </a:r>
            <a:endParaRPr lang="en-US" sz="700" dirty="0"/>
          </a:p>
        </p:txBody>
      </p:sp>
      <p:sp>
        <p:nvSpPr>
          <p:cNvPr id="28" name="Text 25"/>
          <p:cNvSpPr/>
          <p:nvPr/>
        </p:nvSpPr>
        <p:spPr>
          <a:xfrm>
            <a:off x="8353044" y="2633472"/>
            <a:ext cx="120243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2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Preventive</a:t>
            </a:r>
            <a:endParaRPr lang="en-US" sz="700" dirty="0"/>
          </a:p>
        </p:txBody>
      </p:sp>
      <p:sp>
        <p:nvSpPr>
          <p:cNvPr id="29" name="Text 26"/>
          <p:cNvSpPr/>
          <p:nvPr/>
        </p:nvSpPr>
        <p:spPr>
          <a:xfrm>
            <a:off x="7077456" y="2862072"/>
            <a:ext cx="120243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2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Priority</a:t>
            </a:r>
            <a:endParaRPr lang="en-US" sz="700" dirty="0"/>
          </a:p>
        </p:txBody>
      </p:sp>
      <p:sp>
        <p:nvSpPr>
          <p:cNvPr id="30" name="Text 27"/>
          <p:cNvSpPr/>
          <p:nvPr/>
        </p:nvSpPr>
        <p:spPr>
          <a:xfrm>
            <a:off x="8353044" y="2862072"/>
            <a:ext cx="120243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2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700" dirty="0"/>
          </a:p>
        </p:txBody>
      </p:sp>
      <p:sp>
        <p:nvSpPr>
          <p:cNvPr id="31" name="Text 28"/>
          <p:cNvSpPr/>
          <p:nvPr/>
        </p:nvSpPr>
        <p:spPr>
          <a:xfrm>
            <a:off x="7077456" y="3090672"/>
            <a:ext cx="120243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2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Scheduled</a:t>
            </a:r>
            <a:endParaRPr lang="en-US" sz="700" dirty="0"/>
          </a:p>
        </p:txBody>
      </p:sp>
      <p:sp>
        <p:nvSpPr>
          <p:cNvPr id="32" name="Text 29"/>
          <p:cNvSpPr/>
          <p:nvPr/>
        </p:nvSpPr>
        <p:spPr>
          <a:xfrm>
            <a:off x="8353044" y="3090672"/>
            <a:ext cx="120243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2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Sep 2026</a:t>
            </a:r>
            <a:endParaRPr lang="en-US" sz="700" dirty="0"/>
          </a:p>
        </p:txBody>
      </p:sp>
      <p:sp>
        <p:nvSpPr>
          <p:cNvPr id="33" name="Text 30"/>
          <p:cNvSpPr/>
          <p:nvPr/>
        </p:nvSpPr>
        <p:spPr>
          <a:xfrm>
            <a:off x="7077456" y="3319272"/>
            <a:ext cx="120243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2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Durasi</a:t>
            </a:r>
            <a:endParaRPr lang="en-US" sz="700" dirty="0"/>
          </a:p>
        </p:txBody>
      </p:sp>
      <p:sp>
        <p:nvSpPr>
          <p:cNvPr id="34" name="Text 31"/>
          <p:cNvSpPr/>
          <p:nvPr/>
        </p:nvSpPr>
        <p:spPr>
          <a:xfrm>
            <a:off x="8353044" y="3319272"/>
            <a:ext cx="120243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2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Jam</a:t>
            </a:r>
            <a:endParaRPr lang="en-US" sz="700" dirty="0"/>
          </a:p>
        </p:txBody>
      </p:sp>
      <p:sp>
        <p:nvSpPr>
          <p:cNvPr id="35" name="Text 32"/>
          <p:cNvSpPr/>
          <p:nvPr/>
        </p:nvSpPr>
        <p:spPr>
          <a:xfrm>
            <a:off x="7077456" y="3547872"/>
            <a:ext cx="120243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2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</a:t>
            </a:r>
            <a:endParaRPr lang="en-US" sz="700" dirty="0"/>
          </a:p>
        </p:txBody>
      </p:sp>
      <p:sp>
        <p:nvSpPr>
          <p:cNvPr id="36" name="Text 33"/>
          <p:cNvSpPr/>
          <p:nvPr/>
        </p:nvSpPr>
        <p:spPr>
          <a:xfrm>
            <a:off x="8353044" y="3547872"/>
            <a:ext cx="120243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2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Assigned</a:t>
            </a:r>
            <a:endParaRPr lang="en-US" sz="700" dirty="0"/>
          </a:p>
        </p:txBody>
      </p:sp>
      <p:sp>
        <p:nvSpPr>
          <p:cNvPr id="37" name="Shape 34"/>
          <p:cNvSpPr/>
          <p:nvPr/>
        </p:nvSpPr>
        <p:spPr>
          <a:xfrm>
            <a:off x="7022592" y="3867912"/>
            <a:ext cx="2551176" cy="347472"/>
          </a:xfrm>
          <a:prstGeom prst="roundRect">
            <a:avLst>
              <a:gd name="adj" fmla="val 21053"/>
            </a:avLst>
          </a:prstGeom>
          <a:solidFill>
            <a:srgbClr val="0A4A69"/>
          </a:solidFill>
          <a:ln w="15875">
            <a:solidFill>
              <a:srgbClr val="0A4A69"/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7022592" y="3867912"/>
            <a:ext cx="255117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Maintenance</a:t>
            </a:r>
            <a:endParaRPr lang="en-US" sz="950" dirty="0"/>
          </a:p>
        </p:txBody>
      </p:sp>
      <p:sp>
        <p:nvSpPr>
          <p:cNvPr id="39" name="Shape 36"/>
          <p:cNvSpPr/>
          <p:nvPr/>
        </p:nvSpPr>
        <p:spPr>
          <a:xfrm>
            <a:off x="6949440" y="5888736"/>
            <a:ext cx="2697480" cy="51206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0" name="Shape 37"/>
          <p:cNvSpPr/>
          <p:nvPr/>
        </p:nvSpPr>
        <p:spPr>
          <a:xfrm>
            <a:off x="6949440" y="5888736"/>
            <a:ext cx="2697480" cy="0"/>
          </a:xfrm>
          <a:prstGeom prst="line">
            <a:avLst/>
          </a:prstGeom>
          <a:noFill/>
          <a:ln w="12700">
            <a:solidFill>
              <a:srgbClr val="E1EBF2"/>
            </a:solidFill>
            <a:prstDash val="solid"/>
          </a:ln>
        </p:spPr>
      </p:sp>
      <p:pic>
        <p:nvPicPr>
          <p:cNvPr id="41" name="Image 1" descr="/home/claude/palmcare-analysis/icons/dashboard_gray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6892" y="5980176"/>
            <a:ext cx="164592" cy="164592"/>
          </a:xfrm>
          <a:prstGeom prst="rect">
            <a:avLst/>
          </a:prstGeom>
        </p:spPr>
      </p:pic>
      <p:sp>
        <p:nvSpPr>
          <p:cNvPr id="42" name="Text 38"/>
          <p:cNvSpPr/>
          <p:nvPr/>
        </p:nvSpPr>
        <p:spPr>
          <a:xfrm>
            <a:off x="6949440" y="6236208"/>
            <a:ext cx="5394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5B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</a:t>
            </a:r>
            <a:endParaRPr lang="en-US" sz="650" dirty="0"/>
          </a:p>
        </p:txBody>
      </p:sp>
      <p:sp>
        <p:nvSpPr>
          <p:cNvPr id="43" name="Shape 39"/>
          <p:cNvSpPr/>
          <p:nvPr/>
        </p:nvSpPr>
        <p:spPr>
          <a:xfrm>
            <a:off x="7612380" y="5943600"/>
            <a:ext cx="292608" cy="292608"/>
          </a:xfrm>
          <a:prstGeom prst="roundRect">
            <a:avLst>
              <a:gd name="adj" fmla="val 25000"/>
            </a:avLst>
          </a:prstGeom>
          <a:solidFill>
            <a:srgbClr val="DCEAF3"/>
          </a:solidFill>
          <a:ln/>
        </p:spPr>
      </p:sp>
      <p:pic>
        <p:nvPicPr>
          <p:cNvPr id="44" name="Image 2" descr="/home/claude/palmcare-analysis/icons/workorder_nav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76388" y="5980176"/>
            <a:ext cx="164592" cy="164592"/>
          </a:xfrm>
          <a:prstGeom prst="rect">
            <a:avLst/>
          </a:prstGeom>
        </p:spPr>
      </p:pic>
      <p:sp>
        <p:nvSpPr>
          <p:cNvPr id="45" name="Text 40"/>
          <p:cNvSpPr/>
          <p:nvPr/>
        </p:nvSpPr>
        <p:spPr>
          <a:xfrm>
            <a:off x="7488936" y="6236208"/>
            <a:ext cx="5394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0A4A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Tasks</a:t>
            </a:r>
            <a:endParaRPr lang="en-US" sz="650" dirty="0"/>
          </a:p>
        </p:txBody>
      </p:sp>
      <p:pic>
        <p:nvPicPr>
          <p:cNvPr id="46" name="Image 3" descr="/home/claude/palmcare-analysis/icons/tools_gray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15884" y="5980176"/>
            <a:ext cx="164592" cy="164592"/>
          </a:xfrm>
          <a:prstGeom prst="rect">
            <a:avLst/>
          </a:prstGeom>
        </p:spPr>
      </p:pic>
      <p:sp>
        <p:nvSpPr>
          <p:cNvPr id="47" name="Text 41"/>
          <p:cNvSpPr/>
          <p:nvPr/>
        </p:nvSpPr>
        <p:spPr>
          <a:xfrm>
            <a:off x="8028432" y="6236208"/>
            <a:ext cx="5394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5B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Equip.</a:t>
            </a:r>
            <a:endParaRPr lang="en-US" sz="650" dirty="0"/>
          </a:p>
        </p:txBody>
      </p:sp>
      <p:pic>
        <p:nvPicPr>
          <p:cNvPr id="48" name="Image 4" descr="/home/claude/palmcare-analysis/icons/bell_gray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55380" y="5980176"/>
            <a:ext cx="164592" cy="164592"/>
          </a:xfrm>
          <a:prstGeom prst="rect">
            <a:avLst/>
          </a:prstGeom>
        </p:spPr>
      </p:pic>
      <p:sp>
        <p:nvSpPr>
          <p:cNvPr id="49" name="Text 42"/>
          <p:cNvSpPr/>
          <p:nvPr/>
        </p:nvSpPr>
        <p:spPr>
          <a:xfrm>
            <a:off x="8567928" y="6236208"/>
            <a:ext cx="5394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5B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Notif.</a:t>
            </a:r>
            <a:endParaRPr lang="en-US" sz="650" dirty="0"/>
          </a:p>
        </p:txBody>
      </p:sp>
      <p:pic>
        <p:nvPicPr>
          <p:cNvPr id="50" name="Image 5" descr="/home/claude/palmcare-analysis/icons/profile_gray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294876" y="5980176"/>
            <a:ext cx="164592" cy="164592"/>
          </a:xfrm>
          <a:prstGeom prst="rect">
            <a:avLst/>
          </a:prstGeom>
        </p:spPr>
      </p:pic>
      <p:sp>
        <p:nvSpPr>
          <p:cNvPr id="51" name="Text 43"/>
          <p:cNvSpPr/>
          <p:nvPr/>
        </p:nvSpPr>
        <p:spPr>
          <a:xfrm>
            <a:off x="9107424" y="6236208"/>
            <a:ext cx="5394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5B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</a:t>
            </a:r>
            <a:endParaRPr lang="en-US" sz="650" dirty="0"/>
          </a:p>
        </p:txBody>
      </p:sp>
      <p:sp>
        <p:nvSpPr>
          <p:cNvPr id="52" name="Text 44"/>
          <p:cNvSpPr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PalmCare — Mockup UI</a:t>
            </a:r>
            <a:endParaRPr lang="en-US" sz="900" dirty="0"/>
          </a:p>
        </p:txBody>
      </p:sp>
      <p:sp>
        <p:nvSpPr>
          <p:cNvPr id="53" name="Text 45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1C7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TECHNICIAN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229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Checklist &amp; Inspection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1C7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ANOTASI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48640" y="1764792"/>
            <a:ext cx="82296" cy="82296"/>
          </a:xfrm>
          <a:prstGeom prst="ellipse">
            <a:avLst/>
          </a:prstGeom>
          <a:solidFill>
            <a:srgbClr val="0A4A69"/>
          </a:solidFill>
          <a:ln/>
        </p:spPr>
      </p:sp>
      <p:sp>
        <p:nvSpPr>
          <p:cNvPr id="6" name="Text 4"/>
          <p:cNvSpPr/>
          <p:nvPr/>
        </p:nvSpPr>
        <p:spPr>
          <a:xfrm>
            <a:off x="749808" y="1682496"/>
            <a:ext cx="45720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just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2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Daftar checklist sesuai jenis equipment (bearing, gearbox, coupling, lubrication, vibration), dapat dicentang satu per satu.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548640" y="2606040"/>
            <a:ext cx="82296" cy="82296"/>
          </a:xfrm>
          <a:prstGeom prst="ellipse">
            <a:avLst/>
          </a:prstGeom>
          <a:solidFill>
            <a:srgbClr val="0A4A69"/>
          </a:solidFill>
          <a:ln/>
        </p:spPr>
      </p:sp>
      <p:sp>
        <p:nvSpPr>
          <p:cNvPr id="8" name="Text 6"/>
          <p:cNvSpPr/>
          <p:nvPr/>
        </p:nvSpPr>
        <p:spPr>
          <a:xfrm>
            <a:off x="749808" y="2523744"/>
            <a:ext cx="45720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just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2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measurement/kondisi aktual untuk item yang memerlukan data numerik (mis. suhu bearing), dibandingkan dengan normal range.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548640" y="3447288"/>
            <a:ext cx="82296" cy="82296"/>
          </a:xfrm>
          <a:prstGeom prst="ellipse">
            <a:avLst/>
          </a:prstGeom>
          <a:solidFill>
            <a:srgbClr val="0A4A69"/>
          </a:solidFill>
          <a:ln/>
        </p:spPr>
      </p:sp>
      <p:sp>
        <p:nvSpPr>
          <p:cNvPr id="10" name="Text 8"/>
          <p:cNvSpPr/>
          <p:nvPr/>
        </p:nvSpPr>
        <p:spPr>
          <a:xfrm>
            <a:off x="749808" y="3364992"/>
            <a:ext cx="4572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just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2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Field catatan bebas untuk mendeskripsikan temuan (mis. kebocoran ringan).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6903720" y="502920"/>
            <a:ext cx="2788920" cy="5989320"/>
          </a:xfrm>
          <a:prstGeom prst="roundRect">
            <a:avLst>
              <a:gd name="adj" fmla="val 7213"/>
            </a:avLst>
          </a:prstGeom>
          <a:solidFill>
            <a:srgbClr val="12293D"/>
          </a:solidFill>
          <a:ln/>
          <a:effectLst>
            <a:outerShdw sx="100000" sy="100000" kx="0" ky="0" algn="bl" rotWithShape="0" blurRad="127000" dist="50800" dir="5400000">
              <a:srgbClr val="0A4A69">
                <a:alpha val="3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949440" y="548640"/>
            <a:ext cx="2697480" cy="5897880"/>
          </a:xfrm>
          <a:prstGeom prst="roundRect">
            <a:avLst>
              <a:gd name="adj" fmla="val 6102"/>
            </a:avLst>
          </a:prstGeom>
          <a:solidFill>
            <a:srgbClr val="F6F9FB"/>
          </a:solidFill>
          <a:ln/>
        </p:spPr>
      </p:sp>
      <p:sp>
        <p:nvSpPr>
          <p:cNvPr id="13" name="Text 11"/>
          <p:cNvSpPr/>
          <p:nvPr/>
        </p:nvSpPr>
        <p:spPr>
          <a:xfrm>
            <a:off x="7068312" y="594360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2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9:41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9272016" y="630936"/>
            <a:ext cx="274320" cy="118872"/>
          </a:xfrm>
          <a:prstGeom prst="roundRect">
            <a:avLst>
              <a:gd name="adj" fmla="val 23077"/>
            </a:avLst>
          </a:prstGeom>
          <a:noFill/>
          <a:ln w="9525">
            <a:solidFill>
              <a:srgbClr val="12293D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022592" y="832104"/>
            <a:ext cx="2551176" cy="420624"/>
          </a:xfrm>
          <a:prstGeom prst="rect">
            <a:avLst/>
          </a:prstGeom>
          <a:solidFill>
            <a:srgbClr val="0A4A69"/>
          </a:solidFill>
          <a:ln/>
        </p:spPr>
      </p:sp>
      <p:pic>
        <p:nvPicPr>
          <p:cNvPr id="16" name="Image 0" descr="/home/claude/palmcare-analysis/icons/history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32320" y="950976"/>
            <a:ext cx="182880" cy="182880"/>
          </a:xfrm>
          <a:prstGeom prst="rect">
            <a:avLst/>
          </a:prstGeom>
        </p:spPr>
      </p:pic>
      <p:sp>
        <p:nvSpPr>
          <p:cNvPr id="17" name="Text 14"/>
          <p:cNvSpPr/>
          <p:nvPr/>
        </p:nvSpPr>
        <p:spPr>
          <a:xfrm>
            <a:off x="7351776" y="832104"/>
            <a:ext cx="191109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Checklist</a:t>
            </a:r>
            <a:endParaRPr lang="en-US" sz="1250" dirty="0"/>
          </a:p>
        </p:txBody>
      </p:sp>
      <p:sp>
        <p:nvSpPr>
          <p:cNvPr id="18" name="Text 15"/>
          <p:cNvSpPr/>
          <p:nvPr/>
        </p:nvSpPr>
        <p:spPr>
          <a:xfrm>
            <a:off x="7022592" y="1344168"/>
            <a:ext cx="255117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1C7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MECHANICAL</a:t>
            </a:r>
            <a:endParaRPr lang="en-US" sz="800" dirty="0"/>
          </a:p>
        </p:txBody>
      </p:sp>
      <p:sp>
        <p:nvSpPr>
          <p:cNvPr id="19" name="Shape 16"/>
          <p:cNvSpPr/>
          <p:nvPr/>
        </p:nvSpPr>
        <p:spPr>
          <a:xfrm>
            <a:off x="7022592" y="1650492"/>
            <a:ext cx="137160" cy="137160"/>
          </a:xfrm>
          <a:prstGeom prst="roundRect">
            <a:avLst>
              <a:gd name="adj" fmla="val 20000"/>
            </a:avLst>
          </a:prstGeom>
          <a:solidFill>
            <a:srgbClr val="1E8A5F"/>
          </a:solidFill>
          <a:ln/>
        </p:spPr>
      </p:sp>
      <p:pic>
        <p:nvPicPr>
          <p:cNvPr id="20" name="Image 1" descr="/home/claude/palmcare-analysis/icons/need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40880" y="1659636"/>
            <a:ext cx="100584" cy="100584"/>
          </a:xfrm>
          <a:prstGeom prst="rect">
            <a:avLst/>
          </a:prstGeom>
        </p:spPr>
      </p:pic>
      <p:sp>
        <p:nvSpPr>
          <p:cNvPr id="21" name="Text 17"/>
          <p:cNvSpPr/>
          <p:nvPr/>
        </p:nvSpPr>
        <p:spPr>
          <a:xfrm>
            <a:off x="7260336" y="1563624"/>
            <a:ext cx="17282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2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Bearing</a:t>
            </a:r>
            <a:endParaRPr lang="en-US" sz="900" dirty="0"/>
          </a:p>
        </p:txBody>
      </p:sp>
      <p:sp>
        <p:nvSpPr>
          <p:cNvPr id="22" name="Shape 18"/>
          <p:cNvSpPr/>
          <p:nvPr/>
        </p:nvSpPr>
        <p:spPr>
          <a:xfrm>
            <a:off x="7022592" y="2025396"/>
            <a:ext cx="137160" cy="137160"/>
          </a:xfrm>
          <a:prstGeom prst="roundRect">
            <a:avLst>
              <a:gd name="adj" fmla="val 20000"/>
            </a:avLst>
          </a:prstGeom>
          <a:solidFill>
            <a:srgbClr val="1E8A5F"/>
          </a:solidFill>
          <a:ln/>
        </p:spPr>
      </p:sp>
      <p:pic>
        <p:nvPicPr>
          <p:cNvPr id="23" name="Image 2" descr="/home/claude/palmcare-analysis/icons/need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40880" y="2034540"/>
            <a:ext cx="100584" cy="100584"/>
          </a:xfrm>
          <a:prstGeom prst="rect">
            <a:avLst/>
          </a:prstGeom>
        </p:spPr>
      </p:pic>
      <p:sp>
        <p:nvSpPr>
          <p:cNvPr id="24" name="Text 19"/>
          <p:cNvSpPr/>
          <p:nvPr/>
        </p:nvSpPr>
        <p:spPr>
          <a:xfrm>
            <a:off x="7260336" y="1938528"/>
            <a:ext cx="17282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2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Gearbox</a:t>
            </a:r>
            <a:endParaRPr lang="en-US" sz="900" dirty="0"/>
          </a:p>
        </p:txBody>
      </p:sp>
      <p:sp>
        <p:nvSpPr>
          <p:cNvPr id="25" name="Shape 20"/>
          <p:cNvSpPr/>
          <p:nvPr/>
        </p:nvSpPr>
        <p:spPr>
          <a:xfrm>
            <a:off x="7022592" y="2400300"/>
            <a:ext cx="137160" cy="137160"/>
          </a:xfrm>
          <a:prstGeom prst="roundRect">
            <a:avLst>
              <a:gd name="adj" fmla="val 20000"/>
            </a:avLst>
          </a:prstGeom>
          <a:noFill/>
          <a:ln w="12700">
            <a:solidFill>
              <a:srgbClr val="5B7184"/>
            </a:solidFill>
            <a:prstDash val="solid"/>
          </a:ln>
        </p:spPr>
      </p:sp>
      <p:sp>
        <p:nvSpPr>
          <p:cNvPr id="26" name="Text 21"/>
          <p:cNvSpPr/>
          <p:nvPr/>
        </p:nvSpPr>
        <p:spPr>
          <a:xfrm>
            <a:off x="7260336" y="2313432"/>
            <a:ext cx="17282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2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Coupling</a:t>
            </a:r>
            <a:endParaRPr lang="en-US" sz="900" dirty="0"/>
          </a:p>
        </p:txBody>
      </p:sp>
      <p:sp>
        <p:nvSpPr>
          <p:cNvPr id="27" name="Text 22"/>
          <p:cNvSpPr/>
          <p:nvPr/>
        </p:nvSpPr>
        <p:spPr>
          <a:xfrm>
            <a:off x="7022592" y="2688336"/>
            <a:ext cx="255117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1C7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INSPECTION</a:t>
            </a:r>
            <a:endParaRPr lang="en-US" sz="800" dirty="0"/>
          </a:p>
        </p:txBody>
      </p:sp>
      <p:sp>
        <p:nvSpPr>
          <p:cNvPr id="28" name="Text 23"/>
          <p:cNvSpPr/>
          <p:nvPr/>
        </p:nvSpPr>
        <p:spPr>
          <a:xfrm>
            <a:off x="7022592" y="2907792"/>
            <a:ext cx="255117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B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Bearing Temperature (°C)</a:t>
            </a:r>
            <a:endParaRPr lang="en-US" sz="750" dirty="0"/>
          </a:p>
        </p:txBody>
      </p:sp>
      <p:sp>
        <p:nvSpPr>
          <p:cNvPr id="29" name="Shape 24"/>
          <p:cNvSpPr/>
          <p:nvPr/>
        </p:nvSpPr>
        <p:spPr>
          <a:xfrm>
            <a:off x="7022592" y="3081528"/>
            <a:ext cx="2551176" cy="292608"/>
          </a:xfrm>
          <a:prstGeom prst="roundRect">
            <a:avLst>
              <a:gd name="adj" fmla="val 18750"/>
            </a:avLst>
          </a:prstGeom>
          <a:solidFill>
            <a:srgbClr val="FFFFFF"/>
          </a:solidFill>
          <a:ln w="12700">
            <a:solidFill>
              <a:srgbClr val="E1EBF2"/>
            </a:solidFill>
            <a:prstDash val="solid"/>
          </a:ln>
        </p:spPr>
      </p:sp>
      <p:sp>
        <p:nvSpPr>
          <p:cNvPr id="30" name="Text 25"/>
          <p:cNvSpPr/>
          <p:nvPr/>
        </p:nvSpPr>
        <p:spPr>
          <a:xfrm>
            <a:off x="7114032" y="3081528"/>
            <a:ext cx="23682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2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72</a:t>
            </a:r>
            <a:endParaRPr lang="en-US" sz="850" dirty="0"/>
          </a:p>
        </p:txBody>
      </p:sp>
      <p:sp>
        <p:nvSpPr>
          <p:cNvPr id="31" name="Text 26"/>
          <p:cNvSpPr/>
          <p:nvPr/>
        </p:nvSpPr>
        <p:spPr>
          <a:xfrm>
            <a:off x="7022592" y="3465576"/>
            <a:ext cx="255117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B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Catatan</a:t>
            </a:r>
            <a:endParaRPr lang="en-US" sz="750" dirty="0"/>
          </a:p>
        </p:txBody>
      </p:sp>
      <p:sp>
        <p:nvSpPr>
          <p:cNvPr id="32" name="Shape 27"/>
          <p:cNvSpPr/>
          <p:nvPr/>
        </p:nvSpPr>
        <p:spPr>
          <a:xfrm>
            <a:off x="7022592" y="3639312"/>
            <a:ext cx="2551176" cy="292608"/>
          </a:xfrm>
          <a:prstGeom prst="roundRect">
            <a:avLst>
              <a:gd name="adj" fmla="val 18750"/>
            </a:avLst>
          </a:prstGeom>
          <a:solidFill>
            <a:srgbClr val="FFFFFF"/>
          </a:solidFill>
          <a:ln w="12700">
            <a:solidFill>
              <a:srgbClr val="E1EBF2"/>
            </a:solidFill>
            <a:prstDash val="solid"/>
          </a:ln>
        </p:spPr>
      </p:sp>
      <p:sp>
        <p:nvSpPr>
          <p:cNvPr id="33" name="Text 28"/>
          <p:cNvSpPr/>
          <p:nvPr/>
        </p:nvSpPr>
        <p:spPr>
          <a:xfrm>
            <a:off x="7114032" y="3639312"/>
            <a:ext cx="23682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2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Minor gearbox seal leakage</a:t>
            </a:r>
            <a:endParaRPr lang="en-US" sz="850" dirty="0"/>
          </a:p>
        </p:txBody>
      </p:sp>
      <p:sp>
        <p:nvSpPr>
          <p:cNvPr id="34" name="Shape 29"/>
          <p:cNvSpPr/>
          <p:nvPr/>
        </p:nvSpPr>
        <p:spPr>
          <a:xfrm>
            <a:off x="7022592" y="4023360"/>
            <a:ext cx="2551176" cy="347472"/>
          </a:xfrm>
          <a:prstGeom prst="roundRect">
            <a:avLst>
              <a:gd name="adj" fmla="val 21053"/>
            </a:avLst>
          </a:prstGeom>
          <a:solidFill>
            <a:srgbClr val="0A4A69"/>
          </a:solidFill>
          <a:ln w="15875">
            <a:solidFill>
              <a:srgbClr val="0A4A69"/>
            </a:solidFill>
            <a:prstDash val="solid"/>
          </a:ln>
        </p:spPr>
      </p:sp>
      <p:sp>
        <p:nvSpPr>
          <p:cNvPr id="35" name="Text 30"/>
          <p:cNvSpPr/>
          <p:nvPr/>
        </p:nvSpPr>
        <p:spPr>
          <a:xfrm>
            <a:off x="7022592" y="4023360"/>
            <a:ext cx="255117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Lanjut ke Evidence</a:t>
            </a:r>
            <a:endParaRPr lang="en-US" sz="950" dirty="0"/>
          </a:p>
        </p:txBody>
      </p:sp>
      <p:sp>
        <p:nvSpPr>
          <p:cNvPr id="36" name="Shape 31"/>
          <p:cNvSpPr/>
          <p:nvPr/>
        </p:nvSpPr>
        <p:spPr>
          <a:xfrm>
            <a:off x="6949440" y="5888736"/>
            <a:ext cx="2697480" cy="51206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7" name="Shape 32"/>
          <p:cNvSpPr/>
          <p:nvPr/>
        </p:nvSpPr>
        <p:spPr>
          <a:xfrm>
            <a:off x="6949440" y="5888736"/>
            <a:ext cx="2697480" cy="0"/>
          </a:xfrm>
          <a:prstGeom prst="line">
            <a:avLst/>
          </a:prstGeom>
          <a:noFill/>
          <a:ln w="12700">
            <a:solidFill>
              <a:srgbClr val="E1EBF2"/>
            </a:solidFill>
            <a:prstDash val="solid"/>
          </a:ln>
        </p:spPr>
      </p:sp>
      <p:pic>
        <p:nvPicPr>
          <p:cNvPr id="38" name="Image 3" descr="/home/claude/palmcare-analysis/icons/dashboard_gray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36892" y="5980176"/>
            <a:ext cx="164592" cy="164592"/>
          </a:xfrm>
          <a:prstGeom prst="rect">
            <a:avLst/>
          </a:prstGeom>
        </p:spPr>
      </p:pic>
      <p:sp>
        <p:nvSpPr>
          <p:cNvPr id="39" name="Text 33"/>
          <p:cNvSpPr/>
          <p:nvPr/>
        </p:nvSpPr>
        <p:spPr>
          <a:xfrm>
            <a:off x="6949440" y="6236208"/>
            <a:ext cx="5394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5B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</a:t>
            </a:r>
            <a:endParaRPr lang="en-US" sz="650" dirty="0"/>
          </a:p>
        </p:txBody>
      </p:sp>
      <p:sp>
        <p:nvSpPr>
          <p:cNvPr id="40" name="Shape 34"/>
          <p:cNvSpPr/>
          <p:nvPr/>
        </p:nvSpPr>
        <p:spPr>
          <a:xfrm>
            <a:off x="7612380" y="5943600"/>
            <a:ext cx="292608" cy="292608"/>
          </a:xfrm>
          <a:prstGeom prst="roundRect">
            <a:avLst>
              <a:gd name="adj" fmla="val 25000"/>
            </a:avLst>
          </a:prstGeom>
          <a:solidFill>
            <a:srgbClr val="DCEAF3"/>
          </a:solidFill>
          <a:ln/>
        </p:spPr>
      </p:sp>
      <p:pic>
        <p:nvPicPr>
          <p:cNvPr id="41" name="Image 4" descr="/home/claude/palmcare-analysis/icons/workorder_navy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76388" y="5980176"/>
            <a:ext cx="164592" cy="164592"/>
          </a:xfrm>
          <a:prstGeom prst="rect">
            <a:avLst/>
          </a:prstGeom>
        </p:spPr>
      </p:pic>
      <p:sp>
        <p:nvSpPr>
          <p:cNvPr id="42" name="Text 35"/>
          <p:cNvSpPr/>
          <p:nvPr/>
        </p:nvSpPr>
        <p:spPr>
          <a:xfrm>
            <a:off x="7488936" y="6236208"/>
            <a:ext cx="5394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0A4A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Tasks</a:t>
            </a:r>
            <a:endParaRPr lang="en-US" sz="650" dirty="0"/>
          </a:p>
        </p:txBody>
      </p:sp>
      <p:pic>
        <p:nvPicPr>
          <p:cNvPr id="43" name="Image 5" descr="/home/claude/palmcare-analysis/icons/tools_gray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15884" y="5980176"/>
            <a:ext cx="164592" cy="164592"/>
          </a:xfrm>
          <a:prstGeom prst="rect">
            <a:avLst/>
          </a:prstGeom>
        </p:spPr>
      </p:pic>
      <p:sp>
        <p:nvSpPr>
          <p:cNvPr id="44" name="Text 36"/>
          <p:cNvSpPr/>
          <p:nvPr/>
        </p:nvSpPr>
        <p:spPr>
          <a:xfrm>
            <a:off x="8028432" y="6236208"/>
            <a:ext cx="5394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5B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Equip.</a:t>
            </a:r>
            <a:endParaRPr lang="en-US" sz="650" dirty="0"/>
          </a:p>
        </p:txBody>
      </p:sp>
      <p:pic>
        <p:nvPicPr>
          <p:cNvPr id="45" name="Image 6" descr="/home/claude/palmcare-analysis/icons/bell_gray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755380" y="5980176"/>
            <a:ext cx="164592" cy="164592"/>
          </a:xfrm>
          <a:prstGeom prst="rect">
            <a:avLst/>
          </a:prstGeom>
        </p:spPr>
      </p:pic>
      <p:sp>
        <p:nvSpPr>
          <p:cNvPr id="46" name="Text 37"/>
          <p:cNvSpPr/>
          <p:nvPr/>
        </p:nvSpPr>
        <p:spPr>
          <a:xfrm>
            <a:off x="8567928" y="6236208"/>
            <a:ext cx="5394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5B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Notif.</a:t>
            </a:r>
            <a:endParaRPr lang="en-US" sz="650" dirty="0"/>
          </a:p>
        </p:txBody>
      </p:sp>
      <p:pic>
        <p:nvPicPr>
          <p:cNvPr id="47" name="Image 7" descr="/home/claude/palmcare-analysis/icons/profile_gray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294876" y="5980176"/>
            <a:ext cx="164592" cy="164592"/>
          </a:xfrm>
          <a:prstGeom prst="rect">
            <a:avLst/>
          </a:prstGeom>
        </p:spPr>
      </p:pic>
      <p:sp>
        <p:nvSpPr>
          <p:cNvPr id="48" name="Text 38"/>
          <p:cNvSpPr/>
          <p:nvPr/>
        </p:nvSpPr>
        <p:spPr>
          <a:xfrm>
            <a:off x="9107424" y="6236208"/>
            <a:ext cx="5394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5B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</a:t>
            </a:r>
            <a:endParaRPr lang="en-US" sz="650" dirty="0"/>
          </a:p>
        </p:txBody>
      </p:sp>
      <p:sp>
        <p:nvSpPr>
          <p:cNvPr id="49" name="Text 39"/>
          <p:cNvSpPr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PalmCare — Mockup UI</a:t>
            </a:r>
            <a:endParaRPr lang="en-US" sz="900" dirty="0"/>
          </a:p>
        </p:txBody>
      </p:sp>
      <p:sp>
        <p:nvSpPr>
          <p:cNvPr id="50" name="Text 40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1C7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TECHNICIAN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229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Evidence &amp; Submit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1C7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ANOTASI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48640" y="1764792"/>
            <a:ext cx="82296" cy="82296"/>
          </a:xfrm>
          <a:prstGeom prst="ellipse">
            <a:avLst/>
          </a:prstGeom>
          <a:solidFill>
            <a:srgbClr val="0A4A69"/>
          </a:solidFill>
          <a:ln/>
        </p:spPr>
      </p:sp>
      <p:sp>
        <p:nvSpPr>
          <p:cNvPr id="6" name="Text 4"/>
          <p:cNvSpPr/>
          <p:nvPr/>
        </p:nvSpPr>
        <p:spPr>
          <a:xfrm>
            <a:off x="749808" y="1682496"/>
            <a:ext cx="4572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just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2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Area unggah foto sebagai bukti kondisi/hasil kerja (dapat lebih dari satu foto).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548640" y="2368296"/>
            <a:ext cx="82296" cy="82296"/>
          </a:xfrm>
          <a:prstGeom prst="ellipse">
            <a:avLst/>
          </a:prstGeom>
          <a:solidFill>
            <a:srgbClr val="0A4A69"/>
          </a:solidFill>
          <a:ln/>
        </p:spPr>
      </p:sp>
      <p:sp>
        <p:nvSpPr>
          <p:cNvPr id="8" name="Text 6"/>
          <p:cNvSpPr/>
          <p:nvPr/>
        </p:nvSpPr>
        <p:spPr>
          <a:xfrm>
            <a:off x="749808" y="2286000"/>
            <a:ext cx="4572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just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2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Ringkasan checklist yang sudah diisi ditampilkan kembali sebagai konfirmasi sebelum submit.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548640" y="2971800"/>
            <a:ext cx="82296" cy="82296"/>
          </a:xfrm>
          <a:prstGeom prst="ellipse">
            <a:avLst/>
          </a:prstGeom>
          <a:solidFill>
            <a:srgbClr val="0A4A69"/>
          </a:solidFill>
          <a:ln/>
        </p:spPr>
      </p:sp>
      <p:sp>
        <p:nvSpPr>
          <p:cNvPr id="10" name="Text 8"/>
          <p:cNvSpPr/>
          <p:nvPr/>
        </p:nvSpPr>
        <p:spPr>
          <a:xfrm>
            <a:off x="749808" y="2889504"/>
            <a:ext cx="45720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just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2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Tombol “Complete Maintenance” mengubah status work order menjadi “Waiting Verification” dan mengirimkannya ke Supervisor.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6903720" y="502920"/>
            <a:ext cx="2788920" cy="5989320"/>
          </a:xfrm>
          <a:prstGeom prst="roundRect">
            <a:avLst>
              <a:gd name="adj" fmla="val 7213"/>
            </a:avLst>
          </a:prstGeom>
          <a:solidFill>
            <a:srgbClr val="12293D"/>
          </a:solidFill>
          <a:ln/>
          <a:effectLst>
            <a:outerShdw sx="100000" sy="100000" kx="0" ky="0" algn="bl" rotWithShape="0" blurRad="127000" dist="50800" dir="5400000">
              <a:srgbClr val="0A4A69">
                <a:alpha val="3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949440" y="548640"/>
            <a:ext cx="2697480" cy="5897880"/>
          </a:xfrm>
          <a:prstGeom prst="roundRect">
            <a:avLst>
              <a:gd name="adj" fmla="val 6102"/>
            </a:avLst>
          </a:prstGeom>
          <a:solidFill>
            <a:srgbClr val="F6F9FB"/>
          </a:solidFill>
          <a:ln/>
        </p:spPr>
      </p:sp>
      <p:sp>
        <p:nvSpPr>
          <p:cNvPr id="13" name="Text 11"/>
          <p:cNvSpPr/>
          <p:nvPr/>
        </p:nvSpPr>
        <p:spPr>
          <a:xfrm>
            <a:off x="7068312" y="594360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2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9:41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9272016" y="630936"/>
            <a:ext cx="274320" cy="118872"/>
          </a:xfrm>
          <a:prstGeom prst="roundRect">
            <a:avLst>
              <a:gd name="adj" fmla="val 23077"/>
            </a:avLst>
          </a:prstGeom>
          <a:noFill/>
          <a:ln w="9525">
            <a:solidFill>
              <a:srgbClr val="12293D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022592" y="832104"/>
            <a:ext cx="2551176" cy="420624"/>
          </a:xfrm>
          <a:prstGeom prst="rect">
            <a:avLst/>
          </a:prstGeom>
          <a:solidFill>
            <a:srgbClr val="0A4A69"/>
          </a:solidFill>
          <a:ln/>
        </p:spPr>
      </p:sp>
      <p:pic>
        <p:nvPicPr>
          <p:cNvPr id="16" name="Image 0" descr="/home/claude/palmcare-analysis/icons/history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32320" y="950976"/>
            <a:ext cx="182880" cy="182880"/>
          </a:xfrm>
          <a:prstGeom prst="rect">
            <a:avLst/>
          </a:prstGeom>
        </p:spPr>
      </p:pic>
      <p:sp>
        <p:nvSpPr>
          <p:cNvPr id="17" name="Text 14"/>
          <p:cNvSpPr/>
          <p:nvPr/>
        </p:nvSpPr>
        <p:spPr>
          <a:xfrm>
            <a:off x="7351776" y="832104"/>
            <a:ext cx="191109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</a:t>
            </a:r>
            <a:endParaRPr lang="en-US" sz="1250" dirty="0"/>
          </a:p>
        </p:txBody>
      </p:sp>
      <p:sp>
        <p:nvSpPr>
          <p:cNvPr id="18" name="Text 15"/>
          <p:cNvSpPr/>
          <p:nvPr/>
        </p:nvSpPr>
        <p:spPr>
          <a:xfrm>
            <a:off x="7022592" y="1344168"/>
            <a:ext cx="255117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1C7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FOTO</a:t>
            </a:r>
            <a:endParaRPr lang="en-US" sz="800" dirty="0"/>
          </a:p>
        </p:txBody>
      </p:sp>
      <p:sp>
        <p:nvSpPr>
          <p:cNvPr id="19" name="Shape 16"/>
          <p:cNvSpPr/>
          <p:nvPr/>
        </p:nvSpPr>
        <p:spPr>
          <a:xfrm>
            <a:off x="7022592" y="1563624"/>
            <a:ext cx="2551176" cy="914400"/>
          </a:xfrm>
          <a:prstGeom prst="roundRect">
            <a:avLst>
              <a:gd name="adj" fmla="val 7000"/>
            </a:avLst>
          </a:prstGeom>
          <a:solidFill>
            <a:srgbClr val="DCEAF3"/>
          </a:solidFill>
          <a:ln w="9525">
            <a:solidFill>
              <a:srgbClr val="1C7FB0"/>
            </a:solidFill>
            <a:prstDash val="dash"/>
          </a:ln>
        </p:spPr>
      </p:sp>
      <p:pic>
        <p:nvPicPr>
          <p:cNvPr id="20" name="Image 1" descr="/home/claude/palmcare-analysis/icons/folder_navy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51876" y="1764792"/>
            <a:ext cx="292608" cy="292608"/>
          </a:xfrm>
          <a:prstGeom prst="rect">
            <a:avLst/>
          </a:prstGeom>
        </p:spPr>
      </p:pic>
      <p:sp>
        <p:nvSpPr>
          <p:cNvPr id="21" name="Text 17"/>
          <p:cNvSpPr/>
          <p:nvPr/>
        </p:nvSpPr>
        <p:spPr>
          <a:xfrm>
            <a:off x="7022592" y="2075688"/>
            <a:ext cx="255117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C7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Tambah Foto</a:t>
            </a:r>
            <a:endParaRPr lang="en-US" sz="750" dirty="0"/>
          </a:p>
        </p:txBody>
      </p:sp>
      <p:sp>
        <p:nvSpPr>
          <p:cNvPr id="22" name="Text 18"/>
          <p:cNvSpPr/>
          <p:nvPr/>
        </p:nvSpPr>
        <p:spPr>
          <a:xfrm>
            <a:off x="7022592" y="2569464"/>
            <a:ext cx="255117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1C7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RINGKASAN</a:t>
            </a:r>
            <a:endParaRPr lang="en-US" sz="800" dirty="0"/>
          </a:p>
        </p:txBody>
      </p:sp>
      <p:sp>
        <p:nvSpPr>
          <p:cNvPr id="23" name="Shape 19"/>
          <p:cNvSpPr/>
          <p:nvPr/>
        </p:nvSpPr>
        <p:spPr>
          <a:xfrm>
            <a:off x="7022592" y="2788920"/>
            <a:ext cx="2551176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E1EBF2"/>
            </a:solidFill>
            <a:prstDash val="solid"/>
          </a:ln>
        </p:spPr>
      </p:sp>
      <p:sp>
        <p:nvSpPr>
          <p:cNvPr id="24" name="Shape 20"/>
          <p:cNvSpPr/>
          <p:nvPr/>
        </p:nvSpPr>
        <p:spPr>
          <a:xfrm>
            <a:off x="7022592" y="2788920"/>
            <a:ext cx="2551176" cy="228600"/>
          </a:xfrm>
          <a:prstGeom prst="rect">
            <a:avLst/>
          </a:prstGeom>
          <a:solidFill>
            <a:srgbClr val="DCEAF3"/>
          </a:solidFill>
          <a:ln/>
        </p:spPr>
      </p:sp>
      <p:sp>
        <p:nvSpPr>
          <p:cNvPr id="25" name="Text 21"/>
          <p:cNvSpPr/>
          <p:nvPr/>
        </p:nvSpPr>
        <p:spPr>
          <a:xfrm>
            <a:off x="7077456" y="2788920"/>
            <a:ext cx="120243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0A4A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Checklist</a:t>
            </a:r>
            <a:endParaRPr lang="en-US" sz="700" dirty="0"/>
          </a:p>
        </p:txBody>
      </p:sp>
      <p:sp>
        <p:nvSpPr>
          <p:cNvPr id="26" name="Text 22"/>
          <p:cNvSpPr/>
          <p:nvPr/>
        </p:nvSpPr>
        <p:spPr>
          <a:xfrm>
            <a:off x="8353044" y="2788920"/>
            <a:ext cx="120243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0A4A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5/5 Selesai</a:t>
            </a:r>
            <a:endParaRPr lang="en-US" sz="700" dirty="0"/>
          </a:p>
        </p:txBody>
      </p:sp>
      <p:sp>
        <p:nvSpPr>
          <p:cNvPr id="27" name="Text 23"/>
          <p:cNvSpPr/>
          <p:nvPr/>
        </p:nvSpPr>
        <p:spPr>
          <a:xfrm>
            <a:off x="7077456" y="3017520"/>
            <a:ext cx="120243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2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Catatan</a:t>
            </a:r>
            <a:endParaRPr lang="en-US" sz="700" dirty="0"/>
          </a:p>
        </p:txBody>
      </p:sp>
      <p:sp>
        <p:nvSpPr>
          <p:cNvPr id="28" name="Text 24"/>
          <p:cNvSpPr/>
          <p:nvPr/>
        </p:nvSpPr>
        <p:spPr>
          <a:xfrm>
            <a:off x="8353044" y="3017520"/>
            <a:ext cx="120243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2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 temuan</a:t>
            </a:r>
            <a:endParaRPr lang="en-US" sz="700" dirty="0"/>
          </a:p>
        </p:txBody>
      </p:sp>
      <p:sp>
        <p:nvSpPr>
          <p:cNvPr id="29" name="Shape 25"/>
          <p:cNvSpPr/>
          <p:nvPr/>
        </p:nvSpPr>
        <p:spPr>
          <a:xfrm>
            <a:off x="7022592" y="3337560"/>
            <a:ext cx="2551176" cy="347472"/>
          </a:xfrm>
          <a:prstGeom prst="roundRect">
            <a:avLst>
              <a:gd name="adj" fmla="val 21053"/>
            </a:avLst>
          </a:prstGeom>
          <a:solidFill>
            <a:srgbClr val="0A4A69"/>
          </a:solidFill>
          <a:ln w="15875">
            <a:solidFill>
              <a:srgbClr val="0A4A69"/>
            </a:solidFill>
            <a:prstDash val="solid"/>
          </a:ln>
        </p:spPr>
      </p:sp>
      <p:sp>
        <p:nvSpPr>
          <p:cNvPr id="30" name="Text 26"/>
          <p:cNvSpPr/>
          <p:nvPr/>
        </p:nvSpPr>
        <p:spPr>
          <a:xfrm>
            <a:off x="7022592" y="3337560"/>
            <a:ext cx="255117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Maintenance</a:t>
            </a:r>
            <a:endParaRPr lang="en-US" sz="950" dirty="0"/>
          </a:p>
        </p:txBody>
      </p:sp>
      <p:sp>
        <p:nvSpPr>
          <p:cNvPr id="31" name="Shape 27"/>
          <p:cNvSpPr/>
          <p:nvPr/>
        </p:nvSpPr>
        <p:spPr>
          <a:xfrm>
            <a:off x="6949440" y="5888736"/>
            <a:ext cx="2697480" cy="51206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2" name="Shape 28"/>
          <p:cNvSpPr/>
          <p:nvPr/>
        </p:nvSpPr>
        <p:spPr>
          <a:xfrm>
            <a:off x="6949440" y="5888736"/>
            <a:ext cx="2697480" cy="0"/>
          </a:xfrm>
          <a:prstGeom prst="line">
            <a:avLst/>
          </a:prstGeom>
          <a:noFill/>
          <a:ln w="12700">
            <a:solidFill>
              <a:srgbClr val="E1EBF2"/>
            </a:solidFill>
            <a:prstDash val="solid"/>
          </a:ln>
        </p:spPr>
      </p:sp>
      <p:pic>
        <p:nvPicPr>
          <p:cNvPr id="33" name="Image 2" descr="/home/claude/palmcare-analysis/icons/dashboard_gra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6892" y="5980176"/>
            <a:ext cx="164592" cy="164592"/>
          </a:xfrm>
          <a:prstGeom prst="rect">
            <a:avLst/>
          </a:prstGeom>
        </p:spPr>
      </p:pic>
      <p:sp>
        <p:nvSpPr>
          <p:cNvPr id="34" name="Text 29"/>
          <p:cNvSpPr/>
          <p:nvPr/>
        </p:nvSpPr>
        <p:spPr>
          <a:xfrm>
            <a:off x="6949440" y="6236208"/>
            <a:ext cx="5394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5B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</a:t>
            </a:r>
            <a:endParaRPr lang="en-US" sz="650" dirty="0"/>
          </a:p>
        </p:txBody>
      </p:sp>
      <p:sp>
        <p:nvSpPr>
          <p:cNvPr id="35" name="Shape 30"/>
          <p:cNvSpPr/>
          <p:nvPr/>
        </p:nvSpPr>
        <p:spPr>
          <a:xfrm>
            <a:off x="7612380" y="5943600"/>
            <a:ext cx="292608" cy="292608"/>
          </a:xfrm>
          <a:prstGeom prst="roundRect">
            <a:avLst>
              <a:gd name="adj" fmla="val 25000"/>
            </a:avLst>
          </a:prstGeom>
          <a:solidFill>
            <a:srgbClr val="DCEAF3"/>
          </a:solidFill>
          <a:ln/>
        </p:spPr>
      </p:sp>
      <p:pic>
        <p:nvPicPr>
          <p:cNvPr id="36" name="Image 3" descr="/home/claude/palmcare-analysis/icons/workorder_navy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76388" y="5980176"/>
            <a:ext cx="164592" cy="164592"/>
          </a:xfrm>
          <a:prstGeom prst="rect">
            <a:avLst/>
          </a:prstGeom>
        </p:spPr>
      </p:pic>
      <p:sp>
        <p:nvSpPr>
          <p:cNvPr id="37" name="Text 31"/>
          <p:cNvSpPr/>
          <p:nvPr/>
        </p:nvSpPr>
        <p:spPr>
          <a:xfrm>
            <a:off x="7488936" y="6236208"/>
            <a:ext cx="5394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0A4A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Tasks</a:t>
            </a:r>
            <a:endParaRPr lang="en-US" sz="650" dirty="0"/>
          </a:p>
        </p:txBody>
      </p:sp>
      <p:pic>
        <p:nvPicPr>
          <p:cNvPr id="38" name="Image 4" descr="/home/claude/palmcare-analysis/icons/tools_gray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15884" y="5980176"/>
            <a:ext cx="164592" cy="164592"/>
          </a:xfrm>
          <a:prstGeom prst="rect">
            <a:avLst/>
          </a:prstGeom>
        </p:spPr>
      </p:pic>
      <p:sp>
        <p:nvSpPr>
          <p:cNvPr id="39" name="Text 32"/>
          <p:cNvSpPr/>
          <p:nvPr/>
        </p:nvSpPr>
        <p:spPr>
          <a:xfrm>
            <a:off x="8028432" y="6236208"/>
            <a:ext cx="5394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5B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Equip.</a:t>
            </a:r>
            <a:endParaRPr lang="en-US" sz="650" dirty="0"/>
          </a:p>
        </p:txBody>
      </p:sp>
      <p:pic>
        <p:nvPicPr>
          <p:cNvPr id="40" name="Image 5" descr="/home/claude/palmcare-analysis/icons/bell_gray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755380" y="5980176"/>
            <a:ext cx="164592" cy="164592"/>
          </a:xfrm>
          <a:prstGeom prst="rect">
            <a:avLst/>
          </a:prstGeom>
        </p:spPr>
      </p:pic>
      <p:sp>
        <p:nvSpPr>
          <p:cNvPr id="41" name="Text 33"/>
          <p:cNvSpPr/>
          <p:nvPr/>
        </p:nvSpPr>
        <p:spPr>
          <a:xfrm>
            <a:off x="8567928" y="6236208"/>
            <a:ext cx="5394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5B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Notif.</a:t>
            </a:r>
            <a:endParaRPr lang="en-US" sz="650" dirty="0"/>
          </a:p>
        </p:txBody>
      </p:sp>
      <p:pic>
        <p:nvPicPr>
          <p:cNvPr id="42" name="Image 6" descr="/home/claude/palmcare-analysis/icons/profile_gray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294876" y="5980176"/>
            <a:ext cx="164592" cy="164592"/>
          </a:xfrm>
          <a:prstGeom prst="rect">
            <a:avLst/>
          </a:prstGeom>
        </p:spPr>
      </p:pic>
      <p:sp>
        <p:nvSpPr>
          <p:cNvPr id="43" name="Text 34"/>
          <p:cNvSpPr/>
          <p:nvPr/>
        </p:nvSpPr>
        <p:spPr>
          <a:xfrm>
            <a:off x="9107424" y="6236208"/>
            <a:ext cx="5394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5B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</a:t>
            </a:r>
            <a:endParaRPr lang="en-US" sz="650" dirty="0"/>
          </a:p>
        </p:txBody>
      </p:sp>
      <p:sp>
        <p:nvSpPr>
          <p:cNvPr id="44" name="Text 35"/>
          <p:cNvSpPr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PalmCare — Mockup UI</a:t>
            </a:r>
            <a:endParaRPr lang="en-US" sz="900" dirty="0"/>
          </a:p>
        </p:txBody>
      </p:sp>
      <p:sp>
        <p:nvSpPr>
          <p:cNvPr id="45" name="Text 36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1C7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TECHNICIAN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229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Equipment (Daftar &amp; Detail)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1C7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ANOTASI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48640" y="1764792"/>
            <a:ext cx="82296" cy="82296"/>
          </a:xfrm>
          <a:prstGeom prst="ellipse">
            <a:avLst/>
          </a:prstGeom>
          <a:solidFill>
            <a:srgbClr val="0A4A69"/>
          </a:solidFill>
          <a:ln/>
        </p:spPr>
      </p:sp>
      <p:sp>
        <p:nvSpPr>
          <p:cNvPr id="6" name="Text 4"/>
          <p:cNvSpPr/>
          <p:nvPr/>
        </p:nvSpPr>
        <p:spPr>
          <a:xfrm>
            <a:off x="749808" y="1682496"/>
            <a:ext cx="4572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just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2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Daftar equipment dikelompokkan per station, dapat dicari melalui search bar.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548640" y="2368296"/>
            <a:ext cx="82296" cy="82296"/>
          </a:xfrm>
          <a:prstGeom prst="ellipse">
            <a:avLst/>
          </a:prstGeom>
          <a:solidFill>
            <a:srgbClr val="0A4A69"/>
          </a:solidFill>
          <a:ln/>
        </p:spPr>
      </p:sp>
      <p:sp>
        <p:nvSpPr>
          <p:cNvPr id="8" name="Text 6"/>
          <p:cNvSpPr/>
          <p:nvPr/>
        </p:nvSpPr>
        <p:spPr>
          <a:xfrm>
            <a:off x="749808" y="2286000"/>
            <a:ext cx="4572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just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2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Setiap item menampilkan status operasional (Operational/Warning/Critical) sebagai indikator warna.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548640" y="2971800"/>
            <a:ext cx="82296" cy="82296"/>
          </a:xfrm>
          <a:prstGeom prst="ellipse">
            <a:avLst/>
          </a:prstGeom>
          <a:solidFill>
            <a:srgbClr val="0A4A69"/>
          </a:solidFill>
          <a:ln/>
        </p:spPr>
      </p:sp>
      <p:sp>
        <p:nvSpPr>
          <p:cNvPr id="10" name="Text 8"/>
          <p:cNvSpPr/>
          <p:nvPr/>
        </p:nvSpPr>
        <p:spPr>
          <a:xfrm>
            <a:off x="749808" y="2889504"/>
            <a:ext cx="4572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just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2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Bersifat read-only bagi Technician — hanya untuk melihat informasi dan histori singkat, tidak dapat mengubah data.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6903720" y="502920"/>
            <a:ext cx="2788920" cy="5989320"/>
          </a:xfrm>
          <a:prstGeom prst="roundRect">
            <a:avLst>
              <a:gd name="adj" fmla="val 7213"/>
            </a:avLst>
          </a:prstGeom>
          <a:solidFill>
            <a:srgbClr val="12293D"/>
          </a:solidFill>
          <a:ln/>
          <a:effectLst>
            <a:outerShdw sx="100000" sy="100000" kx="0" ky="0" algn="bl" rotWithShape="0" blurRad="127000" dist="50800" dir="5400000">
              <a:srgbClr val="0A4A69">
                <a:alpha val="3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949440" y="548640"/>
            <a:ext cx="2697480" cy="5897880"/>
          </a:xfrm>
          <a:prstGeom prst="roundRect">
            <a:avLst>
              <a:gd name="adj" fmla="val 6102"/>
            </a:avLst>
          </a:prstGeom>
          <a:solidFill>
            <a:srgbClr val="F6F9FB"/>
          </a:solidFill>
          <a:ln/>
        </p:spPr>
      </p:sp>
      <p:sp>
        <p:nvSpPr>
          <p:cNvPr id="13" name="Text 11"/>
          <p:cNvSpPr/>
          <p:nvPr/>
        </p:nvSpPr>
        <p:spPr>
          <a:xfrm>
            <a:off x="7068312" y="594360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2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9:41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9272016" y="630936"/>
            <a:ext cx="274320" cy="118872"/>
          </a:xfrm>
          <a:prstGeom prst="roundRect">
            <a:avLst>
              <a:gd name="adj" fmla="val 23077"/>
            </a:avLst>
          </a:prstGeom>
          <a:noFill/>
          <a:ln w="9525">
            <a:solidFill>
              <a:srgbClr val="12293D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022592" y="832104"/>
            <a:ext cx="2551176" cy="420624"/>
          </a:xfrm>
          <a:prstGeom prst="rect">
            <a:avLst/>
          </a:prstGeom>
          <a:solidFill>
            <a:srgbClr val="0A4A69"/>
          </a:solidFill>
          <a:ln/>
        </p:spPr>
      </p:sp>
      <p:sp>
        <p:nvSpPr>
          <p:cNvPr id="16" name="Text 14"/>
          <p:cNvSpPr/>
          <p:nvPr/>
        </p:nvSpPr>
        <p:spPr>
          <a:xfrm>
            <a:off x="7168896" y="832104"/>
            <a:ext cx="191109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Equipment</a:t>
            </a:r>
            <a:endParaRPr lang="en-US" sz="1250" dirty="0"/>
          </a:p>
        </p:txBody>
      </p:sp>
      <p:pic>
        <p:nvPicPr>
          <p:cNvPr id="17" name="Image 0" descr="/home/claude/palmcare-analysis/icons/bell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62872" y="950976"/>
            <a:ext cx="182880" cy="182880"/>
          </a:xfrm>
          <a:prstGeom prst="rect">
            <a:avLst/>
          </a:prstGeom>
        </p:spPr>
      </p:pic>
      <p:sp>
        <p:nvSpPr>
          <p:cNvPr id="18" name="Shape 15"/>
          <p:cNvSpPr/>
          <p:nvPr/>
        </p:nvSpPr>
        <p:spPr>
          <a:xfrm>
            <a:off x="7022592" y="1344168"/>
            <a:ext cx="2551176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1EBF2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7114032" y="1435608"/>
            <a:ext cx="100584" cy="100584"/>
          </a:xfrm>
          <a:prstGeom prst="ellipse">
            <a:avLst/>
          </a:prstGeom>
          <a:noFill/>
          <a:ln w="12700">
            <a:solidFill>
              <a:srgbClr val="5B7184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7278624" y="1344168"/>
            <a:ext cx="2240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Cari equipment</a:t>
            </a:r>
            <a:endParaRPr lang="en-US" sz="850" dirty="0"/>
          </a:p>
        </p:txBody>
      </p:sp>
      <p:sp>
        <p:nvSpPr>
          <p:cNvPr id="21" name="Text 18"/>
          <p:cNvSpPr/>
          <p:nvPr/>
        </p:nvSpPr>
        <p:spPr>
          <a:xfrm>
            <a:off x="7022592" y="1728216"/>
            <a:ext cx="255117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1C7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PRESSING STATION</a:t>
            </a:r>
            <a:endParaRPr lang="en-US" sz="800" dirty="0"/>
          </a:p>
        </p:txBody>
      </p:sp>
      <p:sp>
        <p:nvSpPr>
          <p:cNvPr id="22" name="Shape 19"/>
          <p:cNvSpPr/>
          <p:nvPr/>
        </p:nvSpPr>
        <p:spPr>
          <a:xfrm>
            <a:off x="7022592" y="1947672"/>
            <a:ext cx="2551176" cy="530352"/>
          </a:xfrm>
          <a:prstGeom prst="roundRect">
            <a:avLst>
              <a:gd name="adj" fmla="val 12069"/>
            </a:avLst>
          </a:prstGeom>
          <a:solidFill>
            <a:srgbClr val="FFFFFF"/>
          </a:solidFill>
          <a:ln w="9525">
            <a:solidFill>
              <a:srgbClr val="E1EBF2"/>
            </a:solidFill>
            <a:prstDash val="solid"/>
          </a:ln>
          <a:effectLst>
            <a:outerShdw sx="100000" sy="100000" kx="0" ky="0" algn="bl" rotWithShape="0" blurRad="38100" dist="12700" dir="5400000">
              <a:srgbClr val="1F3864">
                <a:alpha val="6000"/>
              </a:srgbClr>
            </a:outerShdw>
          </a:effectLst>
        </p:spPr>
      </p:sp>
      <p:sp>
        <p:nvSpPr>
          <p:cNvPr id="23" name="Shape 20"/>
          <p:cNvSpPr/>
          <p:nvPr/>
        </p:nvSpPr>
        <p:spPr>
          <a:xfrm>
            <a:off x="7132320" y="2171700"/>
            <a:ext cx="82296" cy="82296"/>
          </a:xfrm>
          <a:prstGeom prst="ellipse">
            <a:avLst/>
          </a:prstGeom>
          <a:solidFill>
            <a:srgbClr val="1E8A5F"/>
          </a:solidFill>
          <a:ln/>
        </p:spPr>
      </p:sp>
      <p:sp>
        <p:nvSpPr>
          <p:cNvPr id="24" name="Text 21"/>
          <p:cNvSpPr/>
          <p:nvPr/>
        </p:nvSpPr>
        <p:spPr>
          <a:xfrm>
            <a:off x="7315200" y="2011680"/>
            <a:ext cx="1508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2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Screw Press #01</a:t>
            </a:r>
            <a:endParaRPr lang="en-US" sz="950" dirty="0"/>
          </a:p>
        </p:txBody>
      </p:sp>
      <p:sp>
        <p:nvSpPr>
          <p:cNvPr id="25" name="Text 22"/>
          <p:cNvSpPr/>
          <p:nvPr/>
        </p:nvSpPr>
        <p:spPr>
          <a:xfrm>
            <a:off x="7315200" y="2221992"/>
            <a:ext cx="2148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Operational</a:t>
            </a:r>
            <a:endParaRPr lang="en-US" sz="800" dirty="0"/>
          </a:p>
        </p:txBody>
      </p:sp>
      <p:sp>
        <p:nvSpPr>
          <p:cNvPr id="26" name="Text 23"/>
          <p:cNvSpPr/>
          <p:nvPr/>
        </p:nvSpPr>
        <p:spPr>
          <a:xfrm>
            <a:off x="8860536" y="1947672"/>
            <a:ext cx="62179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1C7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Lihat</a:t>
            </a:r>
            <a:endParaRPr lang="en-US" sz="750" dirty="0"/>
          </a:p>
        </p:txBody>
      </p:sp>
      <p:sp>
        <p:nvSpPr>
          <p:cNvPr id="27" name="Shape 24"/>
          <p:cNvSpPr/>
          <p:nvPr/>
        </p:nvSpPr>
        <p:spPr>
          <a:xfrm>
            <a:off x="7022592" y="2569464"/>
            <a:ext cx="2551176" cy="530352"/>
          </a:xfrm>
          <a:prstGeom prst="roundRect">
            <a:avLst>
              <a:gd name="adj" fmla="val 12069"/>
            </a:avLst>
          </a:prstGeom>
          <a:solidFill>
            <a:srgbClr val="FFFFFF"/>
          </a:solidFill>
          <a:ln w="9525">
            <a:solidFill>
              <a:srgbClr val="E1EBF2"/>
            </a:solidFill>
            <a:prstDash val="solid"/>
          </a:ln>
          <a:effectLst>
            <a:outerShdw sx="100000" sy="100000" kx="0" ky="0" algn="bl" rotWithShape="0" blurRad="38100" dist="12700" dir="5400000">
              <a:srgbClr val="1F3864">
                <a:alpha val="6000"/>
              </a:srgbClr>
            </a:outerShdw>
          </a:effectLst>
        </p:spPr>
      </p:sp>
      <p:sp>
        <p:nvSpPr>
          <p:cNvPr id="28" name="Shape 25"/>
          <p:cNvSpPr/>
          <p:nvPr/>
        </p:nvSpPr>
        <p:spPr>
          <a:xfrm>
            <a:off x="7132320" y="2793492"/>
            <a:ext cx="82296" cy="82296"/>
          </a:xfrm>
          <a:prstGeom prst="ellipse">
            <a:avLst/>
          </a:prstGeom>
          <a:solidFill>
            <a:srgbClr val="D4900B"/>
          </a:solidFill>
          <a:ln/>
        </p:spPr>
      </p:sp>
      <p:sp>
        <p:nvSpPr>
          <p:cNvPr id="29" name="Text 26"/>
          <p:cNvSpPr/>
          <p:nvPr/>
        </p:nvSpPr>
        <p:spPr>
          <a:xfrm>
            <a:off x="7315200" y="2633472"/>
            <a:ext cx="1508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2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Screw Press #02</a:t>
            </a:r>
            <a:endParaRPr lang="en-US" sz="950" dirty="0"/>
          </a:p>
        </p:txBody>
      </p:sp>
      <p:sp>
        <p:nvSpPr>
          <p:cNvPr id="30" name="Text 27"/>
          <p:cNvSpPr/>
          <p:nvPr/>
        </p:nvSpPr>
        <p:spPr>
          <a:xfrm>
            <a:off x="7315200" y="2843784"/>
            <a:ext cx="2148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Warning</a:t>
            </a:r>
            <a:endParaRPr lang="en-US" sz="800" dirty="0"/>
          </a:p>
        </p:txBody>
      </p:sp>
      <p:sp>
        <p:nvSpPr>
          <p:cNvPr id="31" name="Text 28"/>
          <p:cNvSpPr/>
          <p:nvPr/>
        </p:nvSpPr>
        <p:spPr>
          <a:xfrm>
            <a:off x="8860536" y="2569464"/>
            <a:ext cx="62179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1C7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Lihat</a:t>
            </a:r>
            <a:endParaRPr lang="en-US" sz="750" dirty="0"/>
          </a:p>
        </p:txBody>
      </p:sp>
      <p:sp>
        <p:nvSpPr>
          <p:cNvPr id="32" name="Text 29"/>
          <p:cNvSpPr/>
          <p:nvPr/>
        </p:nvSpPr>
        <p:spPr>
          <a:xfrm>
            <a:off x="7022592" y="3191256"/>
            <a:ext cx="255117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1C7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UTILITIES</a:t>
            </a:r>
            <a:endParaRPr lang="en-US" sz="800" dirty="0"/>
          </a:p>
        </p:txBody>
      </p:sp>
      <p:sp>
        <p:nvSpPr>
          <p:cNvPr id="33" name="Shape 30"/>
          <p:cNvSpPr/>
          <p:nvPr/>
        </p:nvSpPr>
        <p:spPr>
          <a:xfrm>
            <a:off x="7022592" y="3410712"/>
            <a:ext cx="2551176" cy="530352"/>
          </a:xfrm>
          <a:prstGeom prst="roundRect">
            <a:avLst>
              <a:gd name="adj" fmla="val 12069"/>
            </a:avLst>
          </a:prstGeom>
          <a:solidFill>
            <a:srgbClr val="FFFFFF"/>
          </a:solidFill>
          <a:ln w="9525">
            <a:solidFill>
              <a:srgbClr val="E1EBF2"/>
            </a:solidFill>
            <a:prstDash val="solid"/>
          </a:ln>
          <a:effectLst>
            <a:outerShdw sx="100000" sy="100000" kx="0" ky="0" algn="bl" rotWithShape="0" blurRad="38100" dist="12700" dir="5400000">
              <a:srgbClr val="1F3864">
                <a:alpha val="6000"/>
              </a:srgbClr>
            </a:outerShdw>
          </a:effectLst>
        </p:spPr>
      </p:sp>
      <p:sp>
        <p:nvSpPr>
          <p:cNvPr id="34" name="Shape 31"/>
          <p:cNvSpPr/>
          <p:nvPr/>
        </p:nvSpPr>
        <p:spPr>
          <a:xfrm>
            <a:off x="7132320" y="3634740"/>
            <a:ext cx="82296" cy="82296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35" name="Text 32"/>
          <p:cNvSpPr/>
          <p:nvPr/>
        </p:nvSpPr>
        <p:spPr>
          <a:xfrm>
            <a:off x="7315200" y="3474720"/>
            <a:ext cx="1508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2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Boiler #01</a:t>
            </a:r>
            <a:endParaRPr lang="en-US" sz="950" dirty="0"/>
          </a:p>
        </p:txBody>
      </p:sp>
      <p:sp>
        <p:nvSpPr>
          <p:cNvPr id="36" name="Text 33"/>
          <p:cNvSpPr/>
          <p:nvPr/>
        </p:nvSpPr>
        <p:spPr>
          <a:xfrm>
            <a:off x="7315200" y="3685032"/>
            <a:ext cx="2148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</a:t>
            </a:r>
            <a:endParaRPr lang="en-US" sz="800" dirty="0"/>
          </a:p>
        </p:txBody>
      </p:sp>
      <p:sp>
        <p:nvSpPr>
          <p:cNvPr id="37" name="Text 34"/>
          <p:cNvSpPr/>
          <p:nvPr/>
        </p:nvSpPr>
        <p:spPr>
          <a:xfrm>
            <a:off x="8860536" y="3410712"/>
            <a:ext cx="62179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1C7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Lihat</a:t>
            </a:r>
            <a:endParaRPr lang="en-US" sz="750" dirty="0"/>
          </a:p>
        </p:txBody>
      </p:sp>
      <p:sp>
        <p:nvSpPr>
          <p:cNvPr id="38" name="Shape 35"/>
          <p:cNvSpPr/>
          <p:nvPr/>
        </p:nvSpPr>
        <p:spPr>
          <a:xfrm>
            <a:off x="6949440" y="5888736"/>
            <a:ext cx="2697480" cy="51206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9" name="Shape 36"/>
          <p:cNvSpPr/>
          <p:nvPr/>
        </p:nvSpPr>
        <p:spPr>
          <a:xfrm>
            <a:off x="6949440" y="5888736"/>
            <a:ext cx="2697480" cy="0"/>
          </a:xfrm>
          <a:prstGeom prst="line">
            <a:avLst/>
          </a:prstGeom>
          <a:noFill/>
          <a:ln w="12700">
            <a:solidFill>
              <a:srgbClr val="E1EBF2"/>
            </a:solidFill>
            <a:prstDash val="solid"/>
          </a:ln>
        </p:spPr>
      </p:sp>
      <p:pic>
        <p:nvPicPr>
          <p:cNvPr id="40" name="Image 1" descr="/home/claude/palmcare-analysis/icons/dashboard_gray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6892" y="5980176"/>
            <a:ext cx="164592" cy="164592"/>
          </a:xfrm>
          <a:prstGeom prst="rect">
            <a:avLst/>
          </a:prstGeom>
        </p:spPr>
      </p:pic>
      <p:sp>
        <p:nvSpPr>
          <p:cNvPr id="41" name="Text 37"/>
          <p:cNvSpPr/>
          <p:nvPr/>
        </p:nvSpPr>
        <p:spPr>
          <a:xfrm>
            <a:off x="6949440" y="6236208"/>
            <a:ext cx="5394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5B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</a:t>
            </a:r>
            <a:endParaRPr lang="en-US" sz="650" dirty="0"/>
          </a:p>
        </p:txBody>
      </p:sp>
      <p:pic>
        <p:nvPicPr>
          <p:cNvPr id="42" name="Image 2" descr="/home/claude/palmcare-analysis/icons/workorder_gra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76388" y="5980176"/>
            <a:ext cx="164592" cy="164592"/>
          </a:xfrm>
          <a:prstGeom prst="rect">
            <a:avLst/>
          </a:prstGeom>
        </p:spPr>
      </p:pic>
      <p:sp>
        <p:nvSpPr>
          <p:cNvPr id="43" name="Text 38"/>
          <p:cNvSpPr/>
          <p:nvPr/>
        </p:nvSpPr>
        <p:spPr>
          <a:xfrm>
            <a:off x="7488936" y="6236208"/>
            <a:ext cx="5394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5B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Tasks</a:t>
            </a:r>
            <a:endParaRPr lang="en-US" sz="650" dirty="0"/>
          </a:p>
        </p:txBody>
      </p:sp>
      <p:sp>
        <p:nvSpPr>
          <p:cNvPr id="44" name="Shape 39"/>
          <p:cNvSpPr/>
          <p:nvPr/>
        </p:nvSpPr>
        <p:spPr>
          <a:xfrm>
            <a:off x="8151876" y="5943600"/>
            <a:ext cx="292608" cy="292608"/>
          </a:xfrm>
          <a:prstGeom prst="roundRect">
            <a:avLst>
              <a:gd name="adj" fmla="val 25000"/>
            </a:avLst>
          </a:prstGeom>
          <a:solidFill>
            <a:srgbClr val="DCEAF3"/>
          </a:solidFill>
          <a:ln/>
        </p:spPr>
      </p:sp>
      <p:pic>
        <p:nvPicPr>
          <p:cNvPr id="45" name="Image 3" descr="/home/claude/palmcare-analysis/icons/tools_navy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15884" y="5980176"/>
            <a:ext cx="164592" cy="164592"/>
          </a:xfrm>
          <a:prstGeom prst="rect">
            <a:avLst/>
          </a:prstGeom>
        </p:spPr>
      </p:pic>
      <p:sp>
        <p:nvSpPr>
          <p:cNvPr id="46" name="Text 40"/>
          <p:cNvSpPr/>
          <p:nvPr/>
        </p:nvSpPr>
        <p:spPr>
          <a:xfrm>
            <a:off x="8028432" y="6236208"/>
            <a:ext cx="5394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0A4A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Equip.</a:t>
            </a:r>
            <a:endParaRPr lang="en-US" sz="650" dirty="0"/>
          </a:p>
        </p:txBody>
      </p:sp>
      <p:pic>
        <p:nvPicPr>
          <p:cNvPr id="47" name="Image 4" descr="/home/claude/palmcare-analysis/icons/bell_gray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55380" y="5980176"/>
            <a:ext cx="164592" cy="164592"/>
          </a:xfrm>
          <a:prstGeom prst="rect">
            <a:avLst/>
          </a:prstGeom>
        </p:spPr>
      </p:pic>
      <p:sp>
        <p:nvSpPr>
          <p:cNvPr id="48" name="Text 41"/>
          <p:cNvSpPr/>
          <p:nvPr/>
        </p:nvSpPr>
        <p:spPr>
          <a:xfrm>
            <a:off x="8567928" y="6236208"/>
            <a:ext cx="5394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5B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Notif.</a:t>
            </a:r>
            <a:endParaRPr lang="en-US" sz="650" dirty="0"/>
          </a:p>
        </p:txBody>
      </p:sp>
      <p:pic>
        <p:nvPicPr>
          <p:cNvPr id="49" name="Image 5" descr="/home/claude/palmcare-analysis/icons/profile_gray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294876" y="5980176"/>
            <a:ext cx="164592" cy="164592"/>
          </a:xfrm>
          <a:prstGeom prst="rect">
            <a:avLst/>
          </a:prstGeom>
        </p:spPr>
      </p:pic>
      <p:sp>
        <p:nvSpPr>
          <p:cNvPr id="50" name="Text 42"/>
          <p:cNvSpPr/>
          <p:nvPr/>
        </p:nvSpPr>
        <p:spPr>
          <a:xfrm>
            <a:off x="9107424" y="6236208"/>
            <a:ext cx="5394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5B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</a:t>
            </a:r>
            <a:endParaRPr lang="en-US" sz="650" dirty="0"/>
          </a:p>
        </p:txBody>
      </p:sp>
      <p:sp>
        <p:nvSpPr>
          <p:cNvPr id="51" name="Text 43"/>
          <p:cNvSpPr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PalmCare — Mockup UI</a:t>
            </a:r>
            <a:endParaRPr lang="en-US" sz="900" dirty="0"/>
          </a:p>
        </p:txBody>
      </p:sp>
      <p:sp>
        <p:nvSpPr>
          <p:cNvPr id="52" name="Text 44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1C7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TECHNICIAN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229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Lapor Breakdown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1C7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ANOTASI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48640" y="1764792"/>
            <a:ext cx="82296" cy="82296"/>
          </a:xfrm>
          <a:prstGeom prst="ellipse">
            <a:avLst/>
          </a:prstGeom>
          <a:solidFill>
            <a:srgbClr val="0A4A69"/>
          </a:solidFill>
          <a:ln/>
        </p:spPr>
      </p:sp>
      <p:sp>
        <p:nvSpPr>
          <p:cNvPr id="6" name="Text 4"/>
          <p:cNvSpPr/>
          <p:nvPr/>
        </p:nvSpPr>
        <p:spPr>
          <a:xfrm>
            <a:off x="749808" y="1682496"/>
            <a:ext cx="4572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just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2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 pelaporan kerusakan mendadak, terpisah dari alur preventive maintenance terjadwal.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548640" y="2368296"/>
            <a:ext cx="82296" cy="82296"/>
          </a:xfrm>
          <a:prstGeom prst="ellipse">
            <a:avLst/>
          </a:prstGeom>
          <a:solidFill>
            <a:srgbClr val="0A4A69"/>
          </a:solidFill>
          <a:ln/>
        </p:spPr>
      </p:sp>
      <p:sp>
        <p:nvSpPr>
          <p:cNvPr id="8" name="Text 6"/>
          <p:cNvSpPr/>
          <p:nvPr/>
        </p:nvSpPr>
        <p:spPr>
          <a:xfrm>
            <a:off x="749808" y="2286000"/>
            <a:ext cx="4572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just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2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Pemilihan equipment, deskripsi masalah, dan tingkat prioritas (mis. Critical) wajib diisi.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548640" y="2971800"/>
            <a:ext cx="82296" cy="82296"/>
          </a:xfrm>
          <a:prstGeom prst="ellipse">
            <a:avLst/>
          </a:prstGeom>
          <a:solidFill>
            <a:srgbClr val="0A4A69"/>
          </a:solidFill>
          <a:ln/>
        </p:spPr>
      </p:sp>
      <p:sp>
        <p:nvSpPr>
          <p:cNvPr id="10" name="Text 8"/>
          <p:cNvSpPr/>
          <p:nvPr/>
        </p:nvSpPr>
        <p:spPr>
          <a:xfrm>
            <a:off x="749808" y="2889504"/>
            <a:ext cx="4572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just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2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Dapat melampirkan foto kondisi kerusakan sebagai bukti awal sebelum ditinjau Supervisor.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6903720" y="502920"/>
            <a:ext cx="2788920" cy="5989320"/>
          </a:xfrm>
          <a:prstGeom prst="roundRect">
            <a:avLst>
              <a:gd name="adj" fmla="val 7213"/>
            </a:avLst>
          </a:prstGeom>
          <a:solidFill>
            <a:srgbClr val="12293D"/>
          </a:solidFill>
          <a:ln/>
          <a:effectLst>
            <a:outerShdw sx="100000" sy="100000" kx="0" ky="0" algn="bl" rotWithShape="0" blurRad="127000" dist="50800" dir="5400000">
              <a:srgbClr val="0A4A69">
                <a:alpha val="3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949440" y="548640"/>
            <a:ext cx="2697480" cy="5897880"/>
          </a:xfrm>
          <a:prstGeom prst="roundRect">
            <a:avLst>
              <a:gd name="adj" fmla="val 6102"/>
            </a:avLst>
          </a:prstGeom>
          <a:solidFill>
            <a:srgbClr val="F6F9FB"/>
          </a:solidFill>
          <a:ln/>
        </p:spPr>
      </p:sp>
      <p:sp>
        <p:nvSpPr>
          <p:cNvPr id="13" name="Text 11"/>
          <p:cNvSpPr/>
          <p:nvPr/>
        </p:nvSpPr>
        <p:spPr>
          <a:xfrm>
            <a:off x="7068312" y="594360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2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9:41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9272016" y="630936"/>
            <a:ext cx="274320" cy="118872"/>
          </a:xfrm>
          <a:prstGeom prst="roundRect">
            <a:avLst>
              <a:gd name="adj" fmla="val 23077"/>
            </a:avLst>
          </a:prstGeom>
          <a:noFill/>
          <a:ln w="9525">
            <a:solidFill>
              <a:srgbClr val="12293D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022592" y="832104"/>
            <a:ext cx="2551176" cy="420624"/>
          </a:xfrm>
          <a:prstGeom prst="rect">
            <a:avLst/>
          </a:prstGeom>
          <a:solidFill>
            <a:srgbClr val="0A4A69"/>
          </a:solidFill>
          <a:ln/>
        </p:spPr>
      </p:sp>
      <p:pic>
        <p:nvPicPr>
          <p:cNvPr id="16" name="Image 0" descr="/home/claude/palmcare-analysis/icons/history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32320" y="950976"/>
            <a:ext cx="182880" cy="182880"/>
          </a:xfrm>
          <a:prstGeom prst="rect">
            <a:avLst/>
          </a:prstGeom>
        </p:spPr>
      </p:pic>
      <p:sp>
        <p:nvSpPr>
          <p:cNvPr id="17" name="Text 14"/>
          <p:cNvSpPr/>
          <p:nvPr/>
        </p:nvSpPr>
        <p:spPr>
          <a:xfrm>
            <a:off x="7351776" y="832104"/>
            <a:ext cx="191109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Lapor Breakdown</a:t>
            </a:r>
            <a:endParaRPr lang="en-US" sz="1250" dirty="0"/>
          </a:p>
        </p:txBody>
      </p:sp>
      <p:sp>
        <p:nvSpPr>
          <p:cNvPr id="18" name="Text 15"/>
          <p:cNvSpPr/>
          <p:nvPr/>
        </p:nvSpPr>
        <p:spPr>
          <a:xfrm>
            <a:off x="7022592" y="1344168"/>
            <a:ext cx="255117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B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Equipment</a:t>
            </a:r>
            <a:endParaRPr lang="en-US" sz="750" dirty="0"/>
          </a:p>
        </p:txBody>
      </p:sp>
      <p:sp>
        <p:nvSpPr>
          <p:cNvPr id="19" name="Shape 16"/>
          <p:cNvSpPr/>
          <p:nvPr/>
        </p:nvSpPr>
        <p:spPr>
          <a:xfrm>
            <a:off x="7022592" y="1517904"/>
            <a:ext cx="2551176" cy="292608"/>
          </a:xfrm>
          <a:prstGeom prst="roundRect">
            <a:avLst>
              <a:gd name="adj" fmla="val 18750"/>
            </a:avLst>
          </a:prstGeom>
          <a:solidFill>
            <a:srgbClr val="FFFFFF"/>
          </a:solidFill>
          <a:ln w="12700">
            <a:solidFill>
              <a:srgbClr val="E1EBF2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7114032" y="1517904"/>
            <a:ext cx="23682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2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Screw Press #02</a:t>
            </a:r>
            <a:endParaRPr lang="en-US" sz="850" dirty="0"/>
          </a:p>
        </p:txBody>
      </p:sp>
      <p:sp>
        <p:nvSpPr>
          <p:cNvPr id="21" name="Text 18"/>
          <p:cNvSpPr/>
          <p:nvPr/>
        </p:nvSpPr>
        <p:spPr>
          <a:xfrm>
            <a:off x="7022592" y="1901952"/>
            <a:ext cx="255117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B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Masalah</a:t>
            </a:r>
            <a:endParaRPr lang="en-US" sz="750" dirty="0"/>
          </a:p>
        </p:txBody>
      </p:sp>
      <p:sp>
        <p:nvSpPr>
          <p:cNvPr id="22" name="Shape 19"/>
          <p:cNvSpPr/>
          <p:nvPr/>
        </p:nvSpPr>
        <p:spPr>
          <a:xfrm>
            <a:off x="7022592" y="2075688"/>
            <a:ext cx="2551176" cy="292608"/>
          </a:xfrm>
          <a:prstGeom prst="roundRect">
            <a:avLst>
              <a:gd name="adj" fmla="val 18750"/>
            </a:avLst>
          </a:prstGeom>
          <a:solidFill>
            <a:srgbClr val="FFFFFF"/>
          </a:solidFill>
          <a:ln w="12700">
            <a:solidFill>
              <a:srgbClr val="E1EBF2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7114032" y="2075688"/>
            <a:ext cx="23682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2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stopped suddenly</a:t>
            </a:r>
            <a:endParaRPr lang="en-US" sz="850" dirty="0"/>
          </a:p>
        </p:txBody>
      </p:sp>
      <p:sp>
        <p:nvSpPr>
          <p:cNvPr id="24" name="Text 21"/>
          <p:cNvSpPr/>
          <p:nvPr/>
        </p:nvSpPr>
        <p:spPr>
          <a:xfrm>
            <a:off x="7022592" y="2459736"/>
            <a:ext cx="255117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B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Prioritas</a:t>
            </a:r>
            <a:endParaRPr lang="en-US" sz="750" dirty="0"/>
          </a:p>
        </p:txBody>
      </p:sp>
      <p:sp>
        <p:nvSpPr>
          <p:cNvPr id="25" name="Shape 22"/>
          <p:cNvSpPr/>
          <p:nvPr/>
        </p:nvSpPr>
        <p:spPr>
          <a:xfrm>
            <a:off x="7022592" y="2633472"/>
            <a:ext cx="2551176" cy="292608"/>
          </a:xfrm>
          <a:prstGeom prst="roundRect">
            <a:avLst>
              <a:gd name="adj" fmla="val 18750"/>
            </a:avLst>
          </a:prstGeom>
          <a:solidFill>
            <a:srgbClr val="FFFFFF"/>
          </a:solidFill>
          <a:ln w="12700">
            <a:solidFill>
              <a:srgbClr val="E1EBF2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7114032" y="2633472"/>
            <a:ext cx="23682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2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</a:t>
            </a:r>
            <a:endParaRPr lang="en-US" sz="850" dirty="0"/>
          </a:p>
        </p:txBody>
      </p:sp>
      <p:sp>
        <p:nvSpPr>
          <p:cNvPr id="27" name="Text 24"/>
          <p:cNvSpPr/>
          <p:nvPr/>
        </p:nvSpPr>
        <p:spPr>
          <a:xfrm>
            <a:off x="7022592" y="3017520"/>
            <a:ext cx="255117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1C7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FOTO KONDISI</a:t>
            </a:r>
            <a:endParaRPr lang="en-US" sz="800" dirty="0"/>
          </a:p>
        </p:txBody>
      </p:sp>
      <p:sp>
        <p:nvSpPr>
          <p:cNvPr id="28" name="Shape 25"/>
          <p:cNvSpPr/>
          <p:nvPr/>
        </p:nvSpPr>
        <p:spPr>
          <a:xfrm>
            <a:off x="7022592" y="3236976"/>
            <a:ext cx="2551176" cy="731520"/>
          </a:xfrm>
          <a:prstGeom prst="roundRect">
            <a:avLst>
              <a:gd name="adj" fmla="val 8750"/>
            </a:avLst>
          </a:prstGeom>
          <a:solidFill>
            <a:srgbClr val="DCEAF3"/>
          </a:solidFill>
          <a:ln w="9525">
            <a:solidFill>
              <a:srgbClr val="1C7FB0"/>
            </a:solidFill>
            <a:prstDash val="dash"/>
          </a:ln>
        </p:spPr>
      </p:sp>
      <p:pic>
        <p:nvPicPr>
          <p:cNvPr id="29" name="Image 1" descr="/home/claude/palmcare-analysis/icons/folder_navy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51876" y="3346704"/>
            <a:ext cx="292608" cy="292608"/>
          </a:xfrm>
          <a:prstGeom prst="rect">
            <a:avLst/>
          </a:prstGeom>
        </p:spPr>
      </p:pic>
      <p:sp>
        <p:nvSpPr>
          <p:cNvPr id="30" name="Text 26"/>
          <p:cNvSpPr/>
          <p:nvPr/>
        </p:nvSpPr>
        <p:spPr>
          <a:xfrm>
            <a:off x="7022592" y="3657600"/>
            <a:ext cx="255117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C7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Tambah Foto</a:t>
            </a:r>
            <a:endParaRPr lang="en-US" sz="750" dirty="0"/>
          </a:p>
        </p:txBody>
      </p:sp>
      <p:sp>
        <p:nvSpPr>
          <p:cNvPr id="31" name="Shape 27"/>
          <p:cNvSpPr/>
          <p:nvPr/>
        </p:nvSpPr>
        <p:spPr>
          <a:xfrm>
            <a:off x="7022592" y="4059936"/>
            <a:ext cx="2551176" cy="347472"/>
          </a:xfrm>
          <a:prstGeom prst="roundRect">
            <a:avLst>
              <a:gd name="adj" fmla="val 21053"/>
            </a:avLst>
          </a:prstGeom>
          <a:solidFill>
            <a:srgbClr val="0A4A69"/>
          </a:solidFill>
          <a:ln w="15875">
            <a:solidFill>
              <a:srgbClr val="0A4A69"/>
            </a:solidFill>
            <a:prstDash val="solid"/>
          </a:ln>
        </p:spPr>
      </p:sp>
      <p:sp>
        <p:nvSpPr>
          <p:cNvPr id="32" name="Text 28"/>
          <p:cNvSpPr/>
          <p:nvPr/>
        </p:nvSpPr>
        <p:spPr>
          <a:xfrm>
            <a:off x="7022592" y="4059936"/>
            <a:ext cx="255117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 Breakdown</a:t>
            </a:r>
            <a:endParaRPr lang="en-US" sz="950" dirty="0"/>
          </a:p>
        </p:txBody>
      </p:sp>
      <p:sp>
        <p:nvSpPr>
          <p:cNvPr id="33" name="Shape 29"/>
          <p:cNvSpPr/>
          <p:nvPr/>
        </p:nvSpPr>
        <p:spPr>
          <a:xfrm>
            <a:off x="6949440" y="5888736"/>
            <a:ext cx="2697480" cy="51206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4" name="Shape 30"/>
          <p:cNvSpPr/>
          <p:nvPr/>
        </p:nvSpPr>
        <p:spPr>
          <a:xfrm>
            <a:off x="6949440" y="5888736"/>
            <a:ext cx="2697480" cy="0"/>
          </a:xfrm>
          <a:prstGeom prst="line">
            <a:avLst/>
          </a:prstGeom>
          <a:noFill/>
          <a:ln w="12700">
            <a:solidFill>
              <a:srgbClr val="E1EBF2"/>
            </a:solidFill>
            <a:prstDash val="solid"/>
          </a:ln>
        </p:spPr>
      </p:sp>
      <p:pic>
        <p:nvPicPr>
          <p:cNvPr id="35" name="Image 2" descr="/home/claude/palmcare-analysis/icons/dashboard_gra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6892" y="5980176"/>
            <a:ext cx="164592" cy="164592"/>
          </a:xfrm>
          <a:prstGeom prst="rect">
            <a:avLst/>
          </a:prstGeom>
        </p:spPr>
      </p:pic>
      <p:sp>
        <p:nvSpPr>
          <p:cNvPr id="36" name="Text 31"/>
          <p:cNvSpPr/>
          <p:nvPr/>
        </p:nvSpPr>
        <p:spPr>
          <a:xfrm>
            <a:off x="6949440" y="6236208"/>
            <a:ext cx="5394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5B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</a:t>
            </a:r>
            <a:endParaRPr lang="en-US" sz="650" dirty="0"/>
          </a:p>
        </p:txBody>
      </p:sp>
      <p:sp>
        <p:nvSpPr>
          <p:cNvPr id="37" name="Shape 32"/>
          <p:cNvSpPr/>
          <p:nvPr/>
        </p:nvSpPr>
        <p:spPr>
          <a:xfrm>
            <a:off x="7612380" y="5943600"/>
            <a:ext cx="292608" cy="292608"/>
          </a:xfrm>
          <a:prstGeom prst="roundRect">
            <a:avLst>
              <a:gd name="adj" fmla="val 25000"/>
            </a:avLst>
          </a:prstGeom>
          <a:solidFill>
            <a:srgbClr val="DCEAF3"/>
          </a:solidFill>
          <a:ln/>
        </p:spPr>
      </p:sp>
      <p:pic>
        <p:nvPicPr>
          <p:cNvPr id="38" name="Image 3" descr="/home/claude/palmcare-analysis/icons/workorder_navy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76388" y="5980176"/>
            <a:ext cx="164592" cy="164592"/>
          </a:xfrm>
          <a:prstGeom prst="rect">
            <a:avLst/>
          </a:prstGeom>
        </p:spPr>
      </p:pic>
      <p:sp>
        <p:nvSpPr>
          <p:cNvPr id="39" name="Text 33"/>
          <p:cNvSpPr/>
          <p:nvPr/>
        </p:nvSpPr>
        <p:spPr>
          <a:xfrm>
            <a:off x="7488936" y="6236208"/>
            <a:ext cx="5394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0A4A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Tasks</a:t>
            </a:r>
            <a:endParaRPr lang="en-US" sz="650" dirty="0"/>
          </a:p>
        </p:txBody>
      </p:sp>
      <p:pic>
        <p:nvPicPr>
          <p:cNvPr id="40" name="Image 4" descr="/home/claude/palmcare-analysis/icons/tools_gray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15884" y="5980176"/>
            <a:ext cx="164592" cy="164592"/>
          </a:xfrm>
          <a:prstGeom prst="rect">
            <a:avLst/>
          </a:prstGeom>
        </p:spPr>
      </p:pic>
      <p:sp>
        <p:nvSpPr>
          <p:cNvPr id="41" name="Text 34"/>
          <p:cNvSpPr/>
          <p:nvPr/>
        </p:nvSpPr>
        <p:spPr>
          <a:xfrm>
            <a:off x="8028432" y="6236208"/>
            <a:ext cx="5394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5B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Equip.</a:t>
            </a:r>
            <a:endParaRPr lang="en-US" sz="650" dirty="0"/>
          </a:p>
        </p:txBody>
      </p:sp>
      <p:pic>
        <p:nvPicPr>
          <p:cNvPr id="42" name="Image 5" descr="/home/claude/palmcare-analysis/icons/bell_gray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755380" y="5980176"/>
            <a:ext cx="164592" cy="164592"/>
          </a:xfrm>
          <a:prstGeom prst="rect">
            <a:avLst/>
          </a:prstGeom>
        </p:spPr>
      </p:pic>
      <p:sp>
        <p:nvSpPr>
          <p:cNvPr id="43" name="Text 35"/>
          <p:cNvSpPr/>
          <p:nvPr/>
        </p:nvSpPr>
        <p:spPr>
          <a:xfrm>
            <a:off x="8567928" y="6236208"/>
            <a:ext cx="5394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5B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Notif.</a:t>
            </a:r>
            <a:endParaRPr lang="en-US" sz="650" dirty="0"/>
          </a:p>
        </p:txBody>
      </p:sp>
      <p:pic>
        <p:nvPicPr>
          <p:cNvPr id="44" name="Image 6" descr="/home/claude/palmcare-analysis/icons/profile_gray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294876" y="5980176"/>
            <a:ext cx="164592" cy="164592"/>
          </a:xfrm>
          <a:prstGeom prst="rect">
            <a:avLst/>
          </a:prstGeom>
        </p:spPr>
      </p:pic>
      <p:sp>
        <p:nvSpPr>
          <p:cNvPr id="45" name="Text 36"/>
          <p:cNvSpPr/>
          <p:nvPr/>
        </p:nvSpPr>
        <p:spPr>
          <a:xfrm>
            <a:off x="9107424" y="6236208"/>
            <a:ext cx="5394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5B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</a:t>
            </a:r>
            <a:endParaRPr lang="en-US" sz="650" dirty="0"/>
          </a:p>
        </p:txBody>
      </p:sp>
      <p:sp>
        <p:nvSpPr>
          <p:cNvPr id="46" name="Text 37"/>
          <p:cNvSpPr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PalmCare — Mockup UI</a:t>
            </a:r>
            <a:endParaRPr lang="en-US" sz="900" dirty="0"/>
          </a:p>
        </p:txBody>
      </p:sp>
      <p:sp>
        <p:nvSpPr>
          <p:cNvPr id="47" name="Text 38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1C7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TECHNICIAN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229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Riwayat Maintenance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1C7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ANOTASI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48640" y="1764792"/>
            <a:ext cx="82296" cy="82296"/>
          </a:xfrm>
          <a:prstGeom prst="ellipse">
            <a:avLst/>
          </a:prstGeom>
          <a:solidFill>
            <a:srgbClr val="0A4A69"/>
          </a:solidFill>
          <a:ln/>
        </p:spPr>
      </p:sp>
      <p:sp>
        <p:nvSpPr>
          <p:cNvPr id="6" name="Text 4"/>
          <p:cNvSpPr/>
          <p:nvPr/>
        </p:nvSpPr>
        <p:spPr>
          <a:xfrm>
            <a:off x="749808" y="1682496"/>
            <a:ext cx="4572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just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2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Menampilkan histori pekerjaan yang pernah dikerjakan oleh Technician yang bersangkutan.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548640" y="2368296"/>
            <a:ext cx="82296" cy="82296"/>
          </a:xfrm>
          <a:prstGeom prst="ellipse">
            <a:avLst/>
          </a:prstGeom>
          <a:solidFill>
            <a:srgbClr val="0A4A69"/>
          </a:solidFill>
          <a:ln/>
        </p:spPr>
      </p:sp>
      <p:sp>
        <p:nvSpPr>
          <p:cNvPr id="8" name="Text 6"/>
          <p:cNvSpPr/>
          <p:nvPr/>
        </p:nvSpPr>
        <p:spPr>
          <a:xfrm>
            <a:off x="749808" y="2286000"/>
            <a:ext cx="4572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just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2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Setiap entri menunjukkan tanggal, jenis maintenance, dan status akhir (Approved/Rejected).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548640" y="2971800"/>
            <a:ext cx="82296" cy="82296"/>
          </a:xfrm>
          <a:prstGeom prst="ellipse">
            <a:avLst/>
          </a:prstGeom>
          <a:solidFill>
            <a:srgbClr val="0A4A69"/>
          </a:solidFill>
          <a:ln/>
        </p:spPr>
      </p:sp>
      <p:sp>
        <p:nvSpPr>
          <p:cNvPr id="10" name="Text 8"/>
          <p:cNvSpPr/>
          <p:nvPr/>
        </p:nvSpPr>
        <p:spPr>
          <a:xfrm>
            <a:off x="749808" y="2889504"/>
            <a:ext cx="4572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just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2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Bersifat read-only — sebagai referensi pribadi, bukan untuk verifikasi ulang.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6903720" y="502920"/>
            <a:ext cx="2788920" cy="5989320"/>
          </a:xfrm>
          <a:prstGeom prst="roundRect">
            <a:avLst>
              <a:gd name="adj" fmla="val 7213"/>
            </a:avLst>
          </a:prstGeom>
          <a:solidFill>
            <a:srgbClr val="12293D"/>
          </a:solidFill>
          <a:ln/>
          <a:effectLst>
            <a:outerShdw sx="100000" sy="100000" kx="0" ky="0" algn="bl" rotWithShape="0" blurRad="127000" dist="50800" dir="5400000">
              <a:srgbClr val="0A4A69">
                <a:alpha val="3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949440" y="548640"/>
            <a:ext cx="2697480" cy="5897880"/>
          </a:xfrm>
          <a:prstGeom prst="roundRect">
            <a:avLst>
              <a:gd name="adj" fmla="val 6102"/>
            </a:avLst>
          </a:prstGeom>
          <a:solidFill>
            <a:srgbClr val="F6F9FB"/>
          </a:solidFill>
          <a:ln/>
        </p:spPr>
      </p:sp>
      <p:sp>
        <p:nvSpPr>
          <p:cNvPr id="13" name="Text 11"/>
          <p:cNvSpPr/>
          <p:nvPr/>
        </p:nvSpPr>
        <p:spPr>
          <a:xfrm>
            <a:off x="7068312" y="594360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2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9:41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9272016" y="630936"/>
            <a:ext cx="274320" cy="118872"/>
          </a:xfrm>
          <a:prstGeom prst="roundRect">
            <a:avLst>
              <a:gd name="adj" fmla="val 23077"/>
            </a:avLst>
          </a:prstGeom>
          <a:noFill/>
          <a:ln w="9525">
            <a:solidFill>
              <a:srgbClr val="12293D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022592" y="832104"/>
            <a:ext cx="2551176" cy="420624"/>
          </a:xfrm>
          <a:prstGeom prst="rect">
            <a:avLst/>
          </a:prstGeom>
          <a:solidFill>
            <a:srgbClr val="0A4A69"/>
          </a:solidFill>
          <a:ln/>
        </p:spPr>
      </p:sp>
      <p:sp>
        <p:nvSpPr>
          <p:cNvPr id="16" name="Text 14"/>
          <p:cNvSpPr/>
          <p:nvPr/>
        </p:nvSpPr>
        <p:spPr>
          <a:xfrm>
            <a:off x="7168896" y="832104"/>
            <a:ext cx="191109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Riwayat Saya</a:t>
            </a:r>
            <a:endParaRPr lang="en-US" sz="1250" dirty="0"/>
          </a:p>
        </p:txBody>
      </p:sp>
      <p:pic>
        <p:nvPicPr>
          <p:cNvPr id="17" name="Image 0" descr="/home/claude/palmcare-analysis/icons/bell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62872" y="950976"/>
            <a:ext cx="182880" cy="182880"/>
          </a:xfrm>
          <a:prstGeom prst="rect">
            <a:avLst/>
          </a:prstGeom>
        </p:spPr>
      </p:pic>
      <p:sp>
        <p:nvSpPr>
          <p:cNvPr id="18" name="Shape 15"/>
          <p:cNvSpPr/>
          <p:nvPr/>
        </p:nvSpPr>
        <p:spPr>
          <a:xfrm>
            <a:off x="7022592" y="1344168"/>
            <a:ext cx="2551176" cy="530352"/>
          </a:xfrm>
          <a:prstGeom prst="roundRect">
            <a:avLst>
              <a:gd name="adj" fmla="val 12069"/>
            </a:avLst>
          </a:prstGeom>
          <a:solidFill>
            <a:srgbClr val="FFFFFF"/>
          </a:solidFill>
          <a:ln w="9525">
            <a:solidFill>
              <a:srgbClr val="E1EBF2"/>
            </a:solidFill>
            <a:prstDash val="solid"/>
          </a:ln>
          <a:effectLst>
            <a:outerShdw sx="100000" sy="100000" kx="0" ky="0" algn="bl" rotWithShape="0" blurRad="38100" dist="12700" dir="5400000">
              <a:srgbClr val="1F3864">
                <a:alpha val="6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7132320" y="1568196"/>
            <a:ext cx="82296" cy="82296"/>
          </a:xfrm>
          <a:prstGeom prst="ellipse">
            <a:avLst/>
          </a:prstGeom>
          <a:solidFill>
            <a:srgbClr val="1E8A5F"/>
          </a:solidFill>
          <a:ln/>
        </p:spPr>
      </p:sp>
      <p:sp>
        <p:nvSpPr>
          <p:cNvPr id="20" name="Text 17"/>
          <p:cNvSpPr/>
          <p:nvPr/>
        </p:nvSpPr>
        <p:spPr>
          <a:xfrm>
            <a:off x="7315200" y="1408176"/>
            <a:ext cx="1508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2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Sep 2026 · Screw Press #02</a:t>
            </a:r>
            <a:endParaRPr lang="en-US" sz="950" dirty="0"/>
          </a:p>
        </p:txBody>
      </p:sp>
      <p:sp>
        <p:nvSpPr>
          <p:cNvPr id="21" name="Text 18"/>
          <p:cNvSpPr/>
          <p:nvPr/>
        </p:nvSpPr>
        <p:spPr>
          <a:xfrm>
            <a:off x="7315200" y="1618488"/>
            <a:ext cx="2148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Preventive Maintenance</a:t>
            </a:r>
            <a:endParaRPr lang="en-US" sz="800" dirty="0"/>
          </a:p>
        </p:txBody>
      </p:sp>
      <p:sp>
        <p:nvSpPr>
          <p:cNvPr id="22" name="Text 19"/>
          <p:cNvSpPr/>
          <p:nvPr/>
        </p:nvSpPr>
        <p:spPr>
          <a:xfrm>
            <a:off x="8860536" y="1344168"/>
            <a:ext cx="62179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1C7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Approved</a:t>
            </a:r>
            <a:endParaRPr lang="en-US" sz="750" dirty="0"/>
          </a:p>
        </p:txBody>
      </p:sp>
      <p:sp>
        <p:nvSpPr>
          <p:cNvPr id="23" name="Shape 20"/>
          <p:cNvSpPr/>
          <p:nvPr/>
        </p:nvSpPr>
        <p:spPr>
          <a:xfrm>
            <a:off x="7022592" y="1965960"/>
            <a:ext cx="2551176" cy="530352"/>
          </a:xfrm>
          <a:prstGeom prst="roundRect">
            <a:avLst>
              <a:gd name="adj" fmla="val 12069"/>
            </a:avLst>
          </a:prstGeom>
          <a:solidFill>
            <a:srgbClr val="FFFFFF"/>
          </a:solidFill>
          <a:ln w="9525">
            <a:solidFill>
              <a:srgbClr val="E1EBF2"/>
            </a:solidFill>
            <a:prstDash val="solid"/>
          </a:ln>
          <a:effectLst>
            <a:outerShdw sx="100000" sy="100000" kx="0" ky="0" algn="bl" rotWithShape="0" blurRad="38100" dist="12700" dir="5400000">
              <a:srgbClr val="1F3864">
                <a:alpha val="6000"/>
              </a:srgbClr>
            </a:outerShdw>
          </a:effectLst>
        </p:spPr>
      </p:sp>
      <p:sp>
        <p:nvSpPr>
          <p:cNvPr id="24" name="Shape 21"/>
          <p:cNvSpPr/>
          <p:nvPr/>
        </p:nvSpPr>
        <p:spPr>
          <a:xfrm>
            <a:off x="7132320" y="2189988"/>
            <a:ext cx="82296" cy="82296"/>
          </a:xfrm>
          <a:prstGeom prst="ellipse">
            <a:avLst/>
          </a:prstGeom>
          <a:solidFill>
            <a:srgbClr val="1E8A5F"/>
          </a:solidFill>
          <a:ln/>
        </p:spPr>
      </p:sp>
      <p:sp>
        <p:nvSpPr>
          <p:cNvPr id="25" name="Text 22"/>
          <p:cNvSpPr/>
          <p:nvPr/>
        </p:nvSpPr>
        <p:spPr>
          <a:xfrm>
            <a:off x="7315200" y="2029968"/>
            <a:ext cx="1508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2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 Aug 2026 · Boiler #01</a:t>
            </a:r>
            <a:endParaRPr lang="en-US" sz="950" dirty="0"/>
          </a:p>
        </p:txBody>
      </p:sp>
      <p:sp>
        <p:nvSpPr>
          <p:cNvPr id="26" name="Text 23"/>
          <p:cNvSpPr/>
          <p:nvPr/>
        </p:nvSpPr>
        <p:spPr>
          <a:xfrm>
            <a:off x="7315200" y="2240280"/>
            <a:ext cx="2148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Inspection</a:t>
            </a:r>
            <a:endParaRPr lang="en-US" sz="800" dirty="0"/>
          </a:p>
        </p:txBody>
      </p:sp>
      <p:sp>
        <p:nvSpPr>
          <p:cNvPr id="27" name="Text 24"/>
          <p:cNvSpPr/>
          <p:nvPr/>
        </p:nvSpPr>
        <p:spPr>
          <a:xfrm>
            <a:off x="8860536" y="1965960"/>
            <a:ext cx="62179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1C7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Approved</a:t>
            </a:r>
            <a:endParaRPr lang="en-US" sz="750" dirty="0"/>
          </a:p>
        </p:txBody>
      </p:sp>
      <p:sp>
        <p:nvSpPr>
          <p:cNvPr id="28" name="Shape 25"/>
          <p:cNvSpPr/>
          <p:nvPr/>
        </p:nvSpPr>
        <p:spPr>
          <a:xfrm>
            <a:off x="7022592" y="2587752"/>
            <a:ext cx="2551176" cy="530352"/>
          </a:xfrm>
          <a:prstGeom prst="roundRect">
            <a:avLst>
              <a:gd name="adj" fmla="val 12069"/>
            </a:avLst>
          </a:prstGeom>
          <a:solidFill>
            <a:srgbClr val="FFFFFF"/>
          </a:solidFill>
          <a:ln w="9525">
            <a:solidFill>
              <a:srgbClr val="E1EBF2"/>
            </a:solidFill>
            <a:prstDash val="solid"/>
          </a:ln>
          <a:effectLst>
            <a:outerShdw sx="100000" sy="100000" kx="0" ky="0" algn="bl" rotWithShape="0" blurRad="38100" dist="12700" dir="5400000">
              <a:srgbClr val="1F3864">
                <a:alpha val="6000"/>
              </a:srgbClr>
            </a:outerShdw>
          </a:effectLst>
        </p:spPr>
      </p:sp>
      <p:sp>
        <p:nvSpPr>
          <p:cNvPr id="29" name="Shape 26"/>
          <p:cNvSpPr/>
          <p:nvPr/>
        </p:nvSpPr>
        <p:spPr>
          <a:xfrm>
            <a:off x="7132320" y="2811780"/>
            <a:ext cx="82296" cy="82296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30" name="Text 27"/>
          <p:cNvSpPr/>
          <p:nvPr/>
        </p:nvSpPr>
        <p:spPr>
          <a:xfrm>
            <a:off x="7315200" y="2651760"/>
            <a:ext cx="1508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2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Aug 2026 · Pump #03</a:t>
            </a:r>
            <a:endParaRPr lang="en-US" sz="950" dirty="0"/>
          </a:p>
        </p:txBody>
      </p:sp>
      <p:sp>
        <p:nvSpPr>
          <p:cNvPr id="31" name="Text 28"/>
          <p:cNvSpPr/>
          <p:nvPr/>
        </p:nvSpPr>
        <p:spPr>
          <a:xfrm>
            <a:off x="7315200" y="2862072"/>
            <a:ext cx="2148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Breakdown</a:t>
            </a:r>
            <a:endParaRPr lang="en-US" sz="800" dirty="0"/>
          </a:p>
        </p:txBody>
      </p:sp>
      <p:sp>
        <p:nvSpPr>
          <p:cNvPr id="32" name="Text 29"/>
          <p:cNvSpPr/>
          <p:nvPr/>
        </p:nvSpPr>
        <p:spPr>
          <a:xfrm>
            <a:off x="8860536" y="2587752"/>
            <a:ext cx="62179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1C7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Rejected</a:t>
            </a:r>
            <a:endParaRPr lang="en-US" sz="750" dirty="0"/>
          </a:p>
        </p:txBody>
      </p:sp>
      <p:sp>
        <p:nvSpPr>
          <p:cNvPr id="33" name="Shape 30"/>
          <p:cNvSpPr/>
          <p:nvPr/>
        </p:nvSpPr>
        <p:spPr>
          <a:xfrm>
            <a:off x="6949440" y="5888736"/>
            <a:ext cx="2697480" cy="51206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4" name="Shape 31"/>
          <p:cNvSpPr/>
          <p:nvPr/>
        </p:nvSpPr>
        <p:spPr>
          <a:xfrm>
            <a:off x="6949440" y="5888736"/>
            <a:ext cx="2697480" cy="0"/>
          </a:xfrm>
          <a:prstGeom prst="line">
            <a:avLst/>
          </a:prstGeom>
          <a:noFill/>
          <a:ln w="12700">
            <a:solidFill>
              <a:srgbClr val="E1EBF2"/>
            </a:solidFill>
            <a:prstDash val="solid"/>
          </a:ln>
        </p:spPr>
      </p:sp>
      <p:sp>
        <p:nvSpPr>
          <p:cNvPr id="35" name="Shape 32"/>
          <p:cNvSpPr/>
          <p:nvPr/>
        </p:nvSpPr>
        <p:spPr>
          <a:xfrm>
            <a:off x="7072884" y="5943600"/>
            <a:ext cx="292608" cy="292608"/>
          </a:xfrm>
          <a:prstGeom prst="roundRect">
            <a:avLst>
              <a:gd name="adj" fmla="val 25000"/>
            </a:avLst>
          </a:prstGeom>
          <a:solidFill>
            <a:srgbClr val="DCEAF3"/>
          </a:solidFill>
          <a:ln/>
        </p:spPr>
      </p:sp>
      <p:pic>
        <p:nvPicPr>
          <p:cNvPr id="36" name="Image 1" descr="/home/claude/palmcare-analysis/icons/dashboard_navy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6892" y="5980176"/>
            <a:ext cx="164592" cy="164592"/>
          </a:xfrm>
          <a:prstGeom prst="rect">
            <a:avLst/>
          </a:prstGeom>
        </p:spPr>
      </p:pic>
      <p:sp>
        <p:nvSpPr>
          <p:cNvPr id="37" name="Text 33"/>
          <p:cNvSpPr/>
          <p:nvPr/>
        </p:nvSpPr>
        <p:spPr>
          <a:xfrm>
            <a:off x="6949440" y="6236208"/>
            <a:ext cx="5394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0A4A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</a:t>
            </a:r>
            <a:endParaRPr lang="en-US" sz="650" dirty="0"/>
          </a:p>
        </p:txBody>
      </p:sp>
      <p:pic>
        <p:nvPicPr>
          <p:cNvPr id="38" name="Image 2" descr="/home/claude/palmcare-analysis/icons/workorder_gra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76388" y="5980176"/>
            <a:ext cx="164592" cy="164592"/>
          </a:xfrm>
          <a:prstGeom prst="rect">
            <a:avLst/>
          </a:prstGeom>
        </p:spPr>
      </p:pic>
      <p:sp>
        <p:nvSpPr>
          <p:cNvPr id="39" name="Text 34"/>
          <p:cNvSpPr/>
          <p:nvPr/>
        </p:nvSpPr>
        <p:spPr>
          <a:xfrm>
            <a:off x="7488936" y="6236208"/>
            <a:ext cx="5394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5B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Tasks</a:t>
            </a:r>
            <a:endParaRPr lang="en-US" sz="650" dirty="0"/>
          </a:p>
        </p:txBody>
      </p:sp>
      <p:pic>
        <p:nvPicPr>
          <p:cNvPr id="40" name="Image 3" descr="/home/claude/palmcare-analysis/icons/tools_gray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15884" y="5980176"/>
            <a:ext cx="164592" cy="164592"/>
          </a:xfrm>
          <a:prstGeom prst="rect">
            <a:avLst/>
          </a:prstGeom>
        </p:spPr>
      </p:pic>
      <p:sp>
        <p:nvSpPr>
          <p:cNvPr id="41" name="Text 35"/>
          <p:cNvSpPr/>
          <p:nvPr/>
        </p:nvSpPr>
        <p:spPr>
          <a:xfrm>
            <a:off x="8028432" y="6236208"/>
            <a:ext cx="5394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5B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Equip.</a:t>
            </a:r>
            <a:endParaRPr lang="en-US" sz="650" dirty="0"/>
          </a:p>
        </p:txBody>
      </p:sp>
      <p:pic>
        <p:nvPicPr>
          <p:cNvPr id="42" name="Image 4" descr="/home/claude/palmcare-analysis/icons/bell_gray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55380" y="5980176"/>
            <a:ext cx="164592" cy="164592"/>
          </a:xfrm>
          <a:prstGeom prst="rect">
            <a:avLst/>
          </a:prstGeom>
        </p:spPr>
      </p:pic>
      <p:sp>
        <p:nvSpPr>
          <p:cNvPr id="43" name="Text 36"/>
          <p:cNvSpPr/>
          <p:nvPr/>
        </p:nvSpPr>
        <p:spPr>
          <a:xfrm>
            <a:off x="8567928" y="6236208"/>
            <a:ext cx="5394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5B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Notif.</a:t>
            </a:r>
            <a:endParaRPr lang="en-US" sz="650" dirty="0"/>
          </a:p>
        </p:txBody>
      </p:sp>
      <p:pic>
        <p:nvPicPr>
          <p:cNvPr id="44" name="Image 5" descr="/home/claude/palmcare-analysis/icons/profile_gray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294876" y="5980176"/>
            <a:ext cx="164592" cy="164592"/>
          </a:xfrm>
          <a:prstGeom prst="rect">
            <a:avLst/>
          </a:prstGeom>
        </p:spPr>
      </p:pic>
      <p:sp>
        <p:nvSpPr>
          <p:cNvPr id="45" name="Text 37"/>
          <p:cNvSpPr/>
          <p:nvPr/>
        </p:nvSpPr>
        <p:spPr>
          <a:xfrm>
            <a:off x="9107424" y="6236208"/>
            <a:ext cx="5394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5B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</a:t>
            </a:r>
            <a:endParaRPr lang="en-US" sz="650" dirty="0"/>
          </a:p>
        </p:txBody>
      </p:sp>
      <p:sp>
        <p:nvSpPr>
          <p:cNvPr id="46" name="Text 38"/>
          <p:cNvSpPr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PalmCare — Mockup UI</a:t>
            </a:r>
            <a:endParaRPr lang="en-US" sz="900" dirty="0"/>
          </a:p>
        </p:txBody>
      </p:sp>
      <p:sp>
        <p:nvSpPr>
          <p:cNvPr id="47" name="Text 39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1C7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TECHNICIAN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229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Notifikasi &amp; Profil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188720" y="1371600"/>
            <a:ext cx="2606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2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Notifikasi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1188720" y="1645920"/>
            <a:ext cx="2606040" cy="4754880"/>
          </a:xfrm>
          <a:prstGeom prst="roundRect">
            <a:avLst>
              <a:gd name="adj" fmla="val 7719"/>
            </a:avLst>
          </a:prstGeom>
          <a:solidFill>
            <a:srgbClr val="12293D"/>
          </a:solidFill>
          <a:ln/>
          <a:effectLst>
            <a:outerShdw sx="100000" sy="100000" kx="0" ky="0" algn="bl" rotWithShape="0" blurRad="127000" dist="50800" dir="5400000">
              <a:srgbClr val="0A4A69">
                <a:alpha val="3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234440" y="1691640"/>
            <a:ext cx="2514600" cy="4663440"/>
          </a:xfrm>
          <a:prstGeom prst="roundRect">
            <a:avLst>
              <a:gd name="adj" fmla="val 6545"/>
            </a:avLst>
          </a:prstGeom>
          <a:solidFill>
            <a:srgbClr val="F6F9FB"/>
          </a:solidFill>
          <a:ln/>
        </p:spPr>
      </p:sp>
      <p:sp>
        <p:nvSpPr>
          <p:cNvPr id="7" name="Text 5"/>
          <p:cNvSpPr/>
          <p:nvPr/>
        </p:nvSpPr>
        <p:spPr>
          <a:xfrm>
            <a:off x="1353312" y="1737360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2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9:41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3374136" y="1773936"/>
            <a:ext cx="274320" cy="118872"/>
          </a:xfrm>
          <a:prstGeom prst="roundRect">
            <a:avLst>
              <a:gd name="adj" fmla="val 23077"/>
            </a:avLst>
          </a:prstGeom>
          <a:noFill/>
          <a:ln w="9525">
            <a:solidFill>
              <a:srgbClr val="12293D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307592" y="1975104"/>
            <a:ext cx="2368296" cy="420624"/>
          </a:xfrm>
          <a:prstGeom prst="rect">
            <a:avLst/>
          </a:prstGeom>
          <a:solidFill>
            <a:srgbClr val="0A4A69"/>
          </a:solidFill>
          <a:ln/>
        </p:spPr>
      </p:sp>
      <p:sp>
        <p:nvSpPr>
          <p:cNvPr id="10" name="Text 8"/>
          <p:cNvSpPr/>
          <p:nvPr/>
        </p:nvSpPr>
        <p:spPr>
          <a:xfrm>
            <a:off x="1453896" y="1975104"/>
            <a:ext cx="17282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Notifikasi</a:t>
            </a:r>
            <a:endParaRPr lang="en-US" sz="1250" dirty="0"/>
          </a:p>
        </p:txBody>
      </p:sp>
      <p:pic>
        <p:nvPicPr>
          <p:cNvPr id="11" name="Image 0" descr="/home/claude/palmcare-analysis/icons/bell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364992" y="2093976"/>
            <a:ext cx="182880" cy="182880"/>
          </a:xfrm>
          <a:prstGeom prst="rect">
            <a:avLst/>
          </a:prstGeom>
        </p:spPr>
      </p:pic>
      <p:sp>
        <p:nvSpPr>
          <p:cNvPr id="12" name="Shape 9"/>
          <p:cNvSpPr/>
          <p:nvPr/>
        </p:nvSpPr>
        <p:spPr>
          <a:xfrm>
            <a:off x="1307592" y="2487168"/>
            <a:ext cx="2368296" cy="530352"/>
          </a:xfrm>
          <a:prstGeom prst="roundRect">
            <a:avLst>
              <a:gd name="adj" fmla="val 12069"/>
            </a:avLst>
          </a:prstGeom>
          <a:solidFill>
            <a:srgbClr val="FFFFFF"/>
          </a:solidFill>
          <a:ln w="9525">
            <a:solidFill>
              <a:srgbClr val="E1EBF2"/>
            </a:solidFill>
            <a:prstDash val="solid"/>
          </a:ln>
          <a:effectLst>
            <a:outerShdw sx="100000" sy="100000" kx="0" ky="0" algn="bl" rotWithShape="0" blurRad="38100" dist="12700" dir="5400000">
              <a:srgbClr val="1F3864">
                <a:alpha val="6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1435608" y="2551176"/>
            <a:ext cx="21305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2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Tugas baru ditugaskan</a:t>
            </a:r>
            <a:endParaRPr lang="en-US" sz="950" dirty="0"/>
          </a:p>
        </p:txBody>
      </p:sp>
      <p:sp>
        <p:nvSpPr>
          <p:cNvPr id="14" name="Text 11"/>
          <p:cNvSpPr/>
          <p:nvPr/>
        </p:nvSpPr>
        <p:spPr>
          <a:xfrm>
            <a:off x="1435608" y="2761488"/>
            <a:ext cx="21305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Boiler #01 · 5 menit lalu</a:t>
            </a:r>
            <a:endParaRPr lang="en-US" sz="800" dirty="0"/>
          </a:p>
        </p:txBody>
      </p:sp>
      <p:sp>
        <p:nvSpPr>
          <p:cNvPr id="15" name="Shape 12"/>
          <p:cNvSpPr/>
          <p:nvPr/>
        </p:nvSpPr>
        <p:spPr>
          <a:xfrm>
            <a:off x="1307592" y="3108960"/>
            <a:ext cx="2368296" cy="530352"/>
          </a:xfrm>
          <a:prstGeom prst="roundRect">
            <a:avLst>
              <a:gd name="adj" fmla="val 12069"/>
            </a:avLst>
          </a:prstGeom>
          <a:solidFill>
            <a:srgbClr val="FFFFFF"/>
          </a:solidFill>
          <a:ln w="9525">
            <a:solidFill>
              <a:srgbClr val="E1EBF2"/>
            </a:solidFill>
            <a:prstDash val="solid"/>
          </a:ln>
          <a:effectLst>
            <a:outerShdw sx="100000" sy="100000" kx="0" ky="0" algn="bl" rotWithShape="0" blurRad="38100" dist="12700" dir="5400000">
              <a:srgbClr val="1F3864">
                <a:alpha val="6000"/>
              </a:srgbClr>
            </a:outerShdw>
          </a:effectLst>
        </p:spPr>
      </p:sp>
      <p:sp>
        <p:nvSpPr>
          <p:cNvPr id="16" name="Text 13"/>
          <p:cNvSpPr/>
          <p:nvPr/>
        </p:nvSpPr>
        <p:spPr>
          <a:xfrm>
            <a:off x="1435608" y="3172968"/>
            <a:ext cx="21305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2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Hasil kerja disetujui</a:t>
            </a:r>
            <a:endParaRPr lang="en-US" sz="950" dirty="0"/>
          </a:p>
        </p:txBody>
      </p:sp>
      <p:sp>
        <p:nvSpPr>
          <p:cNvPr id="17" name="Text 14"/>
          <p:cNvSpPr/>
          <p:nvPr/>
        </p:nvSpPr>
        <p:spPr>
          <a:xfrm>
            <a:off x="1435608" y="3383280"/>
            <a:ext cx="21305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Screw Press #02 · 1 jam lalu</a:t>
            </a:r>
            <a:endParaRPr lang="en-US" sz="800" dirty="0"/>
          </a:p>
        </p:txBody>
      </p:sp>
      <p:sp>
        <p:nvSpPr>
          <p:cNvPr id="18" name="Shape 15"/>
          <p:cNvSpPr/>
          <p:nvPr/>
        </p:nvSpPr>
        <p:spPr>
          <a:xfrm>
            <a:off x="1307592" y="3730752"/>
            <a:ext cx="2368296" cy="530352"/>
          </a:xfrm>
          <a:prstGeom prst="roundRect">
            <a:avLst>
              <a:gd name="adj" fmla="val 12069"/>
            </a:avLst>
          </a:prstGeom>
          <a:solidFill>
            <a:srgbClr val="FFFFFF"/>
          </a:solidFill>
          <a:ln w="9525">
            <a:solidFill>
              <a:srgbClr val="E1EBF2"/>
            </a:solidFill>
            <a:prstDash val="solid"/>
          </a:ln>
          <a:effectLst>
            <a:outerShdw sx="100000" sy="100000" kx="0" ky="0" algn="bl" rotWithShape="0" blurRad="38100" dist="12700" dir="5400000">
              <a:srgbClr val="1F3864">
                <a:alpha val="6000"/>
              </a:srgbClr>
            </a:outerShdw>
          </a:effectLst>
        </p:spPr>
      </p:sp>
      <p:sp>
        <p:nvSpPr>
          <p:cNvPr id="19" name="Text 16"/>
          <p:cNvSpPr/>
          <p:nvPr/>
        </p:nvSpPr>
        <p:spPr>
          <a:xfrm>
            <a:off x="1435608" y="3794760"/>
            <a:ext cx="21305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2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Reminder maintenance</a:t>
            </a:r>
            <a:endParaRPr lang="en-US" sz="950" dirty="0"/>
          </a:p>
        </p:txBody>
      </p:sp>
      <p:sp>
        <p:nvSpPr>
          <p:cNvPr id="20" name="Text 17"/>
          <p:cNvSpPr/>
          <p:nvPr/>
        </p:nvSpPr>
        <p:spPr>
          <a:xfrm>
            <a:off x="1435608" y="4005072"/>
            <a:ext cx="21305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Digester #01 besok</a:t>
            </a:r>
            <a:endParaRPr lang="en-US" sz="800" dirty="0"/>
          </a:p>
        </p:txBody>
      </p:sp>
      <p:sp>
        <p:nvSpPr>
          <p:cNvPr id="21" name="Shape 18"/>
          <p:cNvSpPr/>
          <p:nvPr/>
        </p:nvSpPr>
        <p:spPr>
          <a:xfrm>
            <a:off x="1234440" y="5797296"/>
            <a:ext cx="2514600" cy="51206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2" name="Shape 19"/>
          <p:cNvSpPr/>
          <p:nvPr/>
        </p:nvSpPr>
        <p:spPr>
          <a:xfrm>
            <a:off x="1234440" y="5797296"/>
            <a:ext cx="2514600" cy="0"/>
          </a:xfrm>
          <a:prstGeom prst="line">
            <a:avLst/>
          </a:prstGeom>
          <a:noFill/>
          <a:ln w="12700">
            <a:solidFill>
              <a:srgbClr val="E1EBF2"/>
            </a:solidFill>
            <a:prstDash val="solid"/>
          </a:ln>
        </p:spPr>
      </p:sp>
      <p:pic>
        <p:nvPicPr>
          <p:cNvPr id="23" name="Image 1" descr="/home/claude/palmcare-analysis/icons/dashboard_gray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03604" y="5888736"/>
            <a:ext cx="164592" cy="164592"/>
          </a:xfrm>
          <a:prstGeom prst="rect">
            <a:avLst/>
          </a:prstGeom>
        </p:spPr>
      </p:pic>
      <p:sp>
        <p:nvSpPr>
          <p:cNvPr id="24" name="Text 20"/>
          <p:cNvSpPr/>
          <p:nvPr/>
        </p:nvSpPr>
        <p:spPr>
          <a:xfrm>
            <a:off x="1234440" y="6144768"/>
            <a:ext cx="502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5B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</a:t>
            </a:r>
            <a:endParaRPr lang="en-US" sz="650" dirty="0"/>
          </a:p>
        </p:txBody>
      </p:sp>
      <p:pic>
        <p:nvPicPr>
          <p:cNvPr id="25" name="Image 2" descr="/home/claude/palmcare-analysis/icons/workorder_gra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06524" y="5888736"/>
            <a:ext cx="164592" cy="164592"/>
          </a:xfrm>
          <a:prstGeom prst="rect">
            <a:avLst/>
          </a:prstGeom>
        </p:spPr>
      </p:pic>
      <p:sp>
        <p:nvSpPr>
          <p:cNvPr id="26" name="Text 21"/>
          <p:cNvSpPr/>
          <p:nvPr/>
        </p:nvSpPr>
        <p:spPr>
          <a:xfrm>
            <a:off x="1737360" y="6144768"/>
            <a:ext cx="502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5B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Tasks</a:t>
            </a:r>
            <a:endParaRPr lang="en-US" sz="650" dirty="0"/>
          </a:p>
        </p:txBody>
      </p:sp>
      <p:pic>
        <p:nvPicPr>
          <p:cNvPr id="27" name="Image 3" descr="/home/claude/palmcare-analysis/icons/tools_gray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09444" y="5888736"/>
            <a:ext cx="164592" cy="164592"/>
          </a:xfrm>
          <a:prstGeom prst="rect">
            <a:avLst/>
          </a:prstGeom>
        </p:spPr>
      </p:pic>
      <p:sp>
        <p:nvSpPr>
          <p:cNvPr id="28" name="Text 22"/>
          <p:cNvSpPr/>
          <p:nvPr/>
        </p:nvSpPr>
        <p:spPr>
          <a:xfrm>
            <a:off x="2240280" y="6144768"/>
            <a:ext cx="502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5B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Equip.</a:t>
            </a:r>
            <a:endParaRPr lang="en-US" sz="650" dirty="0"/>
          </a:p>
        </p:txBody>
      </p:sp>
      <p:sp>
        <p:nvSpPr>
          <p:cNvPr id="29" name="Shape 23"/>
          <p:cNvSpPr/>
          <p:nvPr/>
        </p:nvSpPr>
        <p:spPr>
          <a:xfrm>
            <a:off x="2848356" y="5852160"/>
            <a:ext cx="292608" cy="292608"/>
          </a:xfrm>
          <a:prstGeom prst="roundRect">
            <a:avLst>
              <a:gd name="adj" fmla="val 25000"/>
            </a:avLst>
          </a:prstGeom>
          <a:solidFill>
            <a:srgbClr val="DCEAF3"/>
          </a:solidFill>
          <a:ln/>
        </p:spPr>
      </p:sp>
      <p:pic>
        <p:nvPicPr>
          <p:cNvPr id="30" name="Image 4" descr="/home/claude/palmcare-analysis/icons/bell_navy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912364" y="5888736"/>
            <a:ext cx="164592" cy="164592"/>
          </a:xfrm>
          <a:prstGeom prst="rect">
            <a:avLst/>
          </a:prstGeom>
        </p:spPr>
      </p:pic>
      <p:sp>
        <p:nvSpPr>
          <p:cNvPr id="31" name="Text 24"/>
          <p:cNvSpPr/>
          <p:nvPr/>
        </p:nvSpPr>
        <p:spPr>
          <a:xfrm>
            <a:off x="2743200" y="6144768"/>
            <a:ext cx="502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0A4A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Notif.</a:t>
            </a:r>
            <a:endParaRPr lang="en-US" sz="650" dirty="0"/>
          </a:p>
        </p:txBody>
      </p:sp>
      <p:pic>
        <p:nvPicPr>
          <p:cNvPr id="32" name="Image 5" descr="/home/claude/palmcare-analysis/icons/profile_gray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415284" y="5888736"/>
            <a:ext cx="164592" cy="164592"/>
          </a:xfrm>
          <a:prstGeom prst="rect">
            <a:avLst/>
          </a:prstGeom>
        </p:spPr>
      </p:pic>
      <p:sp>
        <p:nvSpPr>
          <p:cNvPr id="33" name="Text 25"/>
          <p:cNvSpPr/>
          <p:nvPr/>
        </p:nvSpPr>
        <p:spPr>
          <a:xfrm>
            <a:off x="3246120" y="6144768"/>
            <a:ext cx="502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5B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</a:t>
            </a:r>
            <a:endParaRPr lang="en-US" sz="650" dirty="0"/>
          </a:p>
        </p:txBody>
      </p:sp>
      <p:sp>
        <p:nvSpPr>
          <p:cNvPr id="34" name="Text 26"/>
          <p:cNvSpPr/>
          <p:nvPr/>
        </p:nvSpPr>
        <p:spPr>
          <a:xfrm>
            <a:off x="6309360" y="1371600"/>
            <a:ext cx="2606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2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</a:t>
            </a:r>
            <a:endParaRPr lang="en-US" sz="1100" dirty="0"/>
          </a:p>
        </p:txBody>
      </p:sp>
      <p:sp>
        <p:nvSpPr>
          <p:cNvPr id="35" name="Shape 27"/>
          <p:cNvSpPr/>
          <p:nvPr/>
        </p:nvSpPr>
        <p:spPr>
          <a:xfrm>
            <a:off x="6309360" y="1645920"/>
            <a:ext cx="2606040" cy="4754880"/>
          </a:xfrm>
          <a:prstGeom prst="roundRect">
            <a:avLst>
              <a:gd name="adj" fmla="val 7719"/>
            </a:avLst>
          </a:prstGeom>
          <a:solidFill>
            <a:srgbClr val="12293D"/>
          </a:solidFill>
          <a:ln/>
          <a:effectLst>
            <a:outerShdw sx="100000" sy="100000" kx="0" ky="0" algn="bl" rotWithShape="0" blurRad="127000" dist="50800" dir="5400000">
              <a:srgbClr val="0A4A69">
                <a:alpha val="35000"/>
              </a:srgbClr>
            </a:outerShdw>
          </a:effectLst>
        </p:spPr>
      </p:sp>
      <p:sp>
        <p:nvSpPr>
          <p:cNvPr id="36" name="Shape 28"/>
          <p:cNvSpPr/>
          <p:nvPr/>
        </p:nvSpPr>
        <p:spPr>
          <a:xfrm>
            <a:off x="6355080" y="1691640"/>
            <a:ext cx="2514600" cy="4663440"/>
          </a:xfrm>
          <a:prstGeom prst="roundRect">
            <a:avLst>
              <a:gd name="adj" fmla="val 6545"/>
            </a:avLst>
          </a:prstGeom>
          <a:solidFill>
            <a:srgbClr val="F6F9FB"/>
          </a:solidFill>
          <a:ln/>
        </p:spPr>
      </p:sp>
      <p:sp>
        <p:nvSpPr>
          <p:cNvPr id="37" name="Text 29"/>
          <p:cNvSpPr/>
          <p:nvPr/>
        </p:nvSpPr>
        <p:spPr>
          <a:xfrm>
            <a:off x="6473952" y="1737360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2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9:41</a:t>
            </a:r>
            <a:endParaRPr lang="en-US" sz="800" dirty="0"/>
          </a:p>
        </p:txBody>
      </p:sp>
      <p:sp>
        <p:nvSpPr>
          <p:cNvPr id="38" name="Shape 30"/>
          <p:cNvSpPr/>
          <p:nvPr/>
        </p:nvSpPr>
        <p:spPr>
          <a:xfrm>
            <a:off x="8494776" y="1773936"/>
            <a:ext cx="274320" cy="118872"/>
          </a:xfrm>
          <a:prstGeom prst="roundRect">
            <a:avLst>
              <a:gd name="adj" fmla="val 23077"/>
            </a:avLst>
          </a:prstGeom>
          <a:noFill/>
          <a:ln w="9525">
            <a:solidFill>
              <a:srgbClr val="12293D"/>
            </a:solidFill>
            <a:prstDash val="solid"/>
          </a:ln>
        </p:spPr>
      </p:sp>
      <p:sp>
        <p:nvSpPr>
          <p:cNvPr id="39" name="Shape 31"/>
          <p:cNvSpPr/>
          <p:nvPr/>
        </p:nvSpPr>
        <p:spPr>
          <a:xfrm>
            <a:off x="6428232" y="1975104"/>
            <a:ext cx="2368296" cy="420624"/>
          </a:xfrm>
          <a:prstGeom prst="rect">
            <a:avLst/>
          </a:prstGeom>
          <a:solidFill>
            <a:srgbClr val="0A4A69"/>
          </a:solidFill>
          <a:ln/>
        </p:spPr>
      </p:sp>
      <p:sp>
        <p:nvSpPr>
          <p:cNvPr id="40" name="Text 32"/>
          <p:cNvSpPr/>
          <p:nvPr/>
        </p:nvSpPr>
        <p:spPr>
          <a:xfrm>
            <a:off x="6574536" y="1975104"/>
            <a:ext cx="17282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</a:t>
            </a:r>
            <a:endParaRPr lang="en-US" sz="1250" dirty="0"/>
          </a:p>
        </p:txBody>
      </p:sp>
      <p:pic>
        <p:nvPicPr>
          <p:cNvPr id="41" name="Image 6" descr="/home/claude/palmcare-analysis/icons/bell_white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485632" y="2093976"/>
            <a:ext cx="182880" cy="182880"/>
          </a:xfrm>
          <a:prstGeom prst="rect">
            <a:avLst/>
          </a:prstGeom>
        </p:spPr>
      </p:pic>
      <p:sp>
        <p:nvSpPr>
          <p:cNvPr id="42" name="Shape 33"/>
          <p:cNvSpPr/>
          <p:nvPr/>
        </p:nvSpPr>
        <p:spPr>
          <a:xfrm>
            <a:off x="6428232" y="2487168"/>
            <a:ext cx="2368296" cy="640080"/>
          </a:xfrm>
          <a:prstGeom prst="roundRect">
            <a:avLst>
              <a:gd name="adj" fmla="val 10000"/>
            </a:avLst>
          </a:prstGeom>
          <a:solidFill>
            <a:srgbClr val="DCEAF3"/>
          </a:solidFill>
          <a:ln w="9525">
            <a:solidFill>
              <a:srgbClr val="1C7FB0"/>
            </a:solidFill>
            <a:prstDash val="dash"/>
          </a:ln>
        </p:spPr>
      </p:sp>
      <p:pic>
        <p:nvPicPr>
          <p:cNvPr id="43" name="Image 7" descr="/home/claude/palmcare-analysis/icons/folder_navy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466076" y="2551176"/>
            <a:ext cx="292608" cy="292608"/>
          </a:xfrm>
          <a:prstGeom prst="rect">
            <a:avLst/>
          </a:prstGeom>
        </p:spPr>
      </p:pic>
      <p:sp>
        <p:nvSpPr>
          <p:cNvPr id="44" name="Text 34"/>
          <p:cNvSpPr/>
          <p:nvPr/>
        </p:nvSpPr>
        <p:spPr>
          <a:xfrm>
            <a:off x="6428232" y="2862072"/>
            <a:ext cx="23682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C7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Foto Profil</a:t>
            </a:r>
            <a:endParaRPr lang="en-US" sz="750" dirty="0"/>
          </a:p>
        </p:txBody>
      </p:sp>
      <p:sp>
        <p:nvSpPr>
          <p:cNvPr id="45" name="Shape 35"/>
          <p:cNvSpPr/>
          <p:nvPr/>
        </p:nvSpPr>
        <p:spPr>
          <a:xfrm>
            <a:off x="6428232" y="3218688"/>
            <a:ext cx="2368296" cy="64008"/>
          </a:xfrm>
          <a:prstGeom prst="roundRect">
            <a:avLst>
              <a:gd name="adj" fmla="val 28571"/>
            </a:avLst>
          </a:prstGeom>
          <a:solidFill>
            <a:srgbClr val="DCEAF3"/>
          </a:solidFill>
          <a:ln/>
        </p:spPr>
      </p:sp>
      <p:sp>
        <p:nvSpPr>
          <p:cNvPr id="46" name="Shape 36"/>
          <p:cNvSpPr/>
          <p:nvPr/>
        </p:nvSpPr>
        <p:spPr>
          <a:xfrm>
            <a:off x="6428232" y="3364992"/>
            <a:ext cx="1420978" cy="64008"/>
          </a:xfrm>
          <a:prstGeom prst="roundRect">
            <a:avLst>
              <a:gd name="adj" fmla="val 28571"/>
            </a:avLst>
          </a:prstGeom>
          <a:solidFill>
            <a:srgbClr val="DCEAF3"/>
          </a:solidFill>
          <a:ln/>
        </p:spPr>
      </p:sp>
      <p:sp>
        <p:nvSpPr>
          <p:cNvPr id="47" name="Text 37"/>
          <p:cNvSpPr/>
          <p:nvPr/>
        </p:nvSpPr>
        <p:spPr>
          <a:xfrm>
            <a:off x="6428232" y="3602736"/>
            <a:ext cx="23682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1C7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AKUN</a:t>
            </a:r>
            <a:endParaRPr lang="en-US" sz="800" dirty="0"/>
          </a:p>
        </p:txBody>
      </p:sp>
      <p:sp>
        <p:nvSpPr>
          <p:cNvPr id="48" name="Shape 38"/>
          <p:cNvSpPr/>
          <p:nvPr/>
        </p:nvSpPr>
        <p:spPr>
          <a:xfrm>
            <a:off x="6428232" y="3822192"/>
            <a:ext cx="2368296" cy="530352"/>
          </a:xfrm>
          <a:prstGeom prst="roundRect">
            <a:avLst>
              <a:gd name="adj" fmla="val 12069"/>
            </a:avLst>
          </a:prstGeom>
          <a:solidFill>
            <a:srgbClr val="FFFFFF"/>
          </a:solidFill>
          <a:ln w="9525">
            <a:solidFill>
              <a:srgbClr val="E1EBF2"/>
            </a:solidFill>
            <a:prstDash val="solid"/>
          </a:ln>
          <a:effectLst>
            <a:outerShdw sx="100000" sy="100000" kx="0" ky="0" algn="bl" rotWithShape="0" blurRad="38100" dist="12700" dir="5400000">
              <a:srgbClr val="1F3864">
                <a:alpha val="6000"/>
              </a:srgbClr>
            </a:outerShdw>
          </a:effectLst>
        </p:spPr>
      </p:sp>
      <p:sp>
        <p:nvSpPr>
          <p:cNvPr id="49" name="Text 39"/>
          <p:cNvSpPr/>
          <p:nvPr/>
        </p:nvSpPr>
        <p:spPr>
          <a:xfrm>
            <a:off x="6556248" y="3886200"/>
            <a:ext cx="14904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2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Ubah Password</a:t>
            </a:r>
            <a:endParaRPr lang="en-US" sz="950" dirty="0"/>
          </a:p>
        </p:txBody>
      </p:sp>
      <p:sp>
        <p:nvSpPr>
          <p:cNvPr id="50" name="Text 40"/>
          <p:cNvSpPr/>
          <p:nvPr/>
        </p:nvSpPr>
        <p:spPr>
          <a:xfrm>
            <a:off x="8083296" y="3822192"/>
            <a:ext cx="62179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1C7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</a:t>
            </a:r>
            <a:endParaRPr lang="en-US" sz="750" dirty="0"/>
          </a:p>
        </p:txBody>
      </p:sp>
      <p:sp>
        <p:nvSpPr>
          <p:cNvPr id="51" name="Shape 41"/>
          <p:cNvSpPr/>
          <p:nvPr/>
        </p:nvSpPr>
        <p:spPr>
          <a:xfrm>
            <a:off x="6428232" y="4443984"/>
            <a:ext cx="2368296" cy="530352"/>
          </a:xfrm>
          <a:prstGeom prst="roundRect">
            <a:avLst>
              <a:gd name="adj" fmla="val 12069"/>
            </a:avLst>
          </a:prstGeom>
          <a:solidFill>
            <a:srgbClr val="FFFFFF"/>
          </a:solidFill>
          <a:ln w="9525">
            <a:solidFill>
              <a:srgbClr val="E1EBF2"/>
            </a:solidFill>
            <a:prstDash val="solid"/>
          </a:ln>
          <a:effectLst>
            <a:outerShdw sx="100000" sy="100000" kx="0" ky="0" algn="bl" rotWithShape="0" blurRad="38100" dist="12700" dir="5400000">
              <a:srgbClr val="1F3864">
                <a:alpha val="6000"/>
              </a:srgbClr>
            </a:outerShdw>
          </a:effectLst>
        </p:spPr>
      </p:sp>
      <p:sp>
        <p:nvSpPr>
          <p:cNvPr id="52" name="Text 42"/>
          <p:cNvSpPr/>
          <p:nvPr/>
        </p:nvSpPr>
        <p:spPr>
          <a:xfrm>
            <a:off x="6556248" y="4507992"/>
            <a:ext cx="14904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2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Keluar</a:t>
            </a:r>
            <a:endParaRPr lang="en-US" sz="950" dirty="0"/>
          </a:p>
        </p:txBody>
      </p:sp>
      <p:sp>
        <p:nvSpPr>
          <p:cNvPr id="53" name="Text 43"/>
          <p:cNvSpPr/>
          <p:nvPr/>
        </p:nvSpPr>
        <p:spPr>
          <a:xfrm>
            <a:off x="8083296" y="4443984"/>
            <a:ext cx="62179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1C7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</a:t>
            </a:r>
            <a:endParaRPr lang="en-US" sz="750" dirty="0"/>
          </a:p>
        </p:txBody>
      </p:sp>
      <p:sp>
        <p:nvSpPr>
          <p:cNvPr id="54" name="Shape 44"/>
          <p:cNvSpPr/>
          <p:nvPr/>
        </p:nvSpPr>
        <p:spPr>
          <a:xfrm>
            <a:off x="6355080" y="5797296"/>
            <a:ext cx="2514600" cy="51206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5" name="Shape 45"/>
          <p:cNvSpPr/>
          <p:nvPr/>
        </p:nvSpPr>
        <p:spPr>
          <a:xfrm>
            <a:off x="6355080" y="5797296"/>
            <a:ext cx="2514600" cy="0"/>
          </a:xfrm>
          <a:prstGeom prst="line">
            <a:avLst/>
          </a:prstGeom>
          <a:noFill/>
          <a:ln w="12700">
            <a:solidFill>
              <a:srgbClr val="E1EBF2"/>
            </a:solidFill>
            <a:prstDash val="solid"/>
          </a:ln>
        </p:spPr>
      </p:sp>
      <p:pic>
        <p:nvPicPr>
          <p:cNvPr id="56" name="Image 8" descr="/home/claude/palmcare-analysis/icons/dashboard_gray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524244" y="5888736"/>
            <a:ext cx="164592" cy="164592"/>
          </a:xfrm>
          <a:prstGeom prst="rect">
            <a:avLst/>
          </a:prstGeom>
        </p:spPr>
      </p:pic>
      <p:sp>
        <p:nvSpPr>
          <p:cNvPr id="57" name="Text 46"/>
          <p:cNvSpPr/>
          <p:nvPr/>
        </p:nvSpPr>
        <p:spPr>
          <a:xfrm>
            <a:off x="6355080" y="6144768"/>
            <a:ext cx="502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5B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</a:t>
            </a:r>
            <a:endParaRPr lang="en-US" sz="650" dirty="0"/>
          </a:p>
        </p:txBody>
      </p:sp>
      <p:pic>
        <p:nvPicPr>
          <p:cNvPr id="58" name="Image 9" descr="/home/claude/palmcare-analysis/icons/workorder_gray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027164" y="5888736"/>
            <a:ext cx="164592" cy="164592"/>
          </a:xfrm>
          <a:prstGeom prst="rect">
            <a:avLst/>
          </a:prstGeom>
        </p:spPr>
      </p:pic>
      <p:sp>
        <p:nvSpPr>
          <p:cNvPr id="59" name="Text 47"/>
          <p:cNvSpPr/>
          <p:nvPr/>
        </p:nvSpPr>
        <p:spPr>
          <a:xfrm>
            <a:off x="6858000" y="6144768"/>
            <a:ext cx="502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5B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Tasks</a:t>
            </a:r>
            <a:endParaRPr lang="en-US" sz="650" dirty="0"/>
          </a:p>
        </p:txBody>
      </p:sp>
      <p:pic>
        <p:nvPicPr>
          <p:cNvPr id="60" name="Image 10" descr="/home/claude/palmcare-analysis/icons/tools_gray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530084" y="5888736"/>
            <a:ext cx="164592" cy="164592"/>
          </a:xfrm>
          <a:prstGeom prst="rect">
            <a:avLst/>
          </a:prstGeom>
        </p:spPr>
      </p:pic>
      <p:sp>
        <p:nvSpPr>
          <p:cNvPr id="61" name="Text 48"/>
          <p:cNvSpPr/>
          <p:nvPr/>
        </p:nvSpPr>
        <p:spPr>
          <a:xfrm>
            <a:off x="7360920" y="6144768"/>
            <a:ext cx="502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5B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Equip.</a:t>
            </a:r>
            <a:endParaRPr lang="en-US" sz="650" dirty="0"/>
          </a:p>
        </p:txBody>
      </p:sp>
      <p:pic>
        <p:nvPicPr>
          <p:cNvPr id="62" name="Image 11" descr="/home/claude/palmcare-analysis/icons/bell_gray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033004" y="5888736"/>
            <a:ext cx="164592" cy="164592"/>
          </a:xfrm>
          <a:prstGeom prst="rect">
            <a:avLst/>
          </a:prstGeom>
        </p:spPr>
      </p:pic>
      <p:sp>
        <p:nvSpPr>
          <p:cNvPr id="63" name="Text 49"/>
          <p:cNvSpPr/>
          <p:nvPr/>
        </p:nvSpPr>
        <p:spPr>
          <a:xfrm>
            <a:off x="7863840" y="6144768"/>
            <a:ext cx="502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5B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Notif.</a:t>
            </a:r>
            <a:endParaRPr lang="en-US" sz="650" dirty="0"/>
          </a:p>
        </p:txBody>
      </p:sp>
      <p:sp>
        <p:nvSpPr>
          <p:cNvPr id="64" name="Shape 50"/>
          <p:cNvSpPr/>
          <p:nvPr/>
        </p:nvSpPr>
        <p:spPr>
          <a:xfrm>
            <a:off x="8471916" y="5852160"/>
            <a:ext cx="292608" cy="292608"/>
          </a:xfrm>
          <a:prstGeom prst="roundRect">
            <a:avLst>
              <a:gd name="adj" fmla="val 25000"/>
            </a:avLst>
          </a:prstGeom>
          <a:solidFill>
            <a:srgbClr val="DCEAF3"/>
          </a:solidFill>
          <a:ln/>
        </p:spPr>
      </p:sp>
      <p:pic>
        <p:nvPicPr>
          <p:cNvPr id="65" name="Image 12" descr="/home/claude/palmcare-analysis/icons/profile_navy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535924" y="5888736"/>
            <a:ext cx="164592" cy="164592"/>
          </a:xfrm>
          <a:prstGeom prst="rect">
            <a:avLst/>
          </a:prstGeom>
        </p:spPr>
      </p:pic>
      <p:sp>
        <p:nvSpPr>
          <p:cNvPr id="66" name="Text 51"/>
          <p:cNvSpPr/>
          <p:nvPr/>
        </p:nvSpPr>
        <p:spPr>
          <a:xfrm>
            <a:off x="8366760" y="6144768"/>
            <a:ext cx="502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0A4A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</a:t>
            </a:r>
            <a:endParaRPr lang="en-US" sz="650" dirty="0"/>
          </a:p>
        </p:txBody>
      </p:sp>
      <p:sp>
        <p:nvSpPr>
          <p:cNvPr id="67" name="Text 52"/>
          <p:cNvSpPr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PalmCare — Mockup UI</a:t>
            </a:r>
            <a:endParaRPr lang="en-US" sz="900" dirty="0"/>
          </a:p>
        </p:txBody>
      </p:sp>
      <p:sp>
        <p:nvSpPr>
          <p:cNvPr id="68" name="Text 53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A4A6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03920" y="-2286000"/>
            <a:ext cx="7315200" cy="7315200"/>
          </a:xfrm>
          <a:prstGeom prst="ellipse">
            <a:avLst/>
          </a:prstGeom>
          <a:solidFill>
            <a:srgbClr val="0E5C82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9692640" y="3840480"/>
            <a:ext cx="6400800" cy="6400800"/>
          </a:xfrm>
          <a:prstGeom prst="ellipse">
            <a:avLst/>
          </a:prstGeom>
          <a:solidFill>
            <a:srgbClr val="1C7FB0">
              <a:alpha val="4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731520" y="1920240"/>
            <a:ext cx="640080" cy="640080"/>
          </a:xfrm>
          <a:prstGeom prst="ellipse">
            <a:avLst/>
          </a:prstGeom>
          <a:solidFill>
            <a:srgbClr val="0E5C82"/>
          </a:solidFill>
          <a:ln/>
        </p:spPr>
      </p:sp>
      <p:pic>
        <p:nvPicPr>
          <p:cNvPr id="5" name="Image 0" descr="/home/claude/palmcare-analysis/icons/supervisor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6112" y="2084832"/>
            <a:ext cx="310896" cy="31089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31520" y="274320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SUPERVISOR</a:t>
            </a:r>
            <a:endParaRPr lang="en-US" sz="4000" dirty="0"/>
          </a:p>
        </p:txBody>
      </p:sp>
      <p:sp>
        <p:nvSpPr>
          <p:cNvPr id="7" name="Shape 4"/>
          <p:cNvSpPr/>
          <p:nvPr/>
        </p:nvSpPr>
        <p:spPr>
          <a:xfrm>
            <a:off x="749808" y="3584448"/>
            <a:ext cx="1188720" cy="0"/>
          </a:xfrm>
          <a:prstGeom prst="line">
            <a:avLst/>
          </a:prstGeom>
          <a:noFill/>
          <a:ln w="38100">
            <a:solidFill>
              <a:srgbClr val="1C7FB0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31520" y="3767328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DCEA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Menugaskan, mengelola &amp; memverifikasi pekerjaan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731520" y="42519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FB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layar mockup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1C7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SUPERVISOR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229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Dashboard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1C7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ANOTASI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48640" y="1764792"/>
            <a:ext cx="82296" cy="82296"/>
          </a:xfrm>
          <a:prstGeom prst="ellipse">
            <a:avLst/>
          </a:prstGeom>
          <a:solidFill>
            <a:srgbClr val="0A4A69"/>
          </a:solidFill>
          <a:ln/>
        </p:spPr>
      </p:sp>
      <p:sp>
        <p:nvSpPr>
          <p:cNvPr id="6" name="Text 4"/>
          <p:cNvSpPr/>
          <p:nvPr/>
        </p:nvSpPr>
        <p:spPr>
          <a:xfrm>
            <a:off x="749808" y="1682496"/>
            <a:ext cx="4572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just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2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Ringkasan status pekerjaan tim: due today, in progress, overdue, dan completed.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548640" y="2368296"/>
            <a:ext cx="82296" cy="82296"/>
          </a:xfrm>
          <a:prstGeom prst="ellipse">
            <a:avLst/>
          </a:prstGeom>
          <a:solidFill>
            <a:srgbClr val="0A4A69"/>
          </a:solidFill>
          <a:ln/>
        </p:spPr>
      </p:sp>
      <p:sp>
        <p:nvSpPr>
          <p:cNvPr id="8" name="Text 6"/>
          <p:cNvSpPr/>
          <p:nvPr/>
        </p:nvSpPr>
        <p:spPr>
          <a:xfrm>
            <a:off x="749808" y="2286000"/>
            <a:ext cx="4572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just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2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Indikator PM Compliance dan Equipment Health sebagai KPI utama yang selalu terlihat.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548640" y="2971800"/>
            <a:ext cx="82296" cy="82296"/>
          </a:xfrm>
          <a:prstGeom prst="ellipse">
            <a:avLst/>
          </a:prstGeom>
          <a:solidFill>
            <a:srgbClr val="0A4A69"/>
          </a:solidFill>
          <a:ln/>
        </p:spPr>
      </p:sp>
      <p:sp>
        <p:nvSpPr>
          <p:cNvPr id="10" name="Text 8"/>
          <p:cNvSpPr/>
          <p:nvPr/>
        </p:nvSpPr>
        <p:spPr>
          <a:xfrm>
            <a:off x="749808" y="2889504"/>
            <a:ext cx="4572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just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2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Daftar “Critical Issues” untuk menyoroti equipment yang butuh perhatian segera.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6903720" y="502920"/>
            <a:ext cx="2788920" cy="5989320"/>
          </a:xfrm>
          <a:prstGeom prst="roundRect">
            <a:avLst>
              <a:gd name="adj" fmla="val 7213"/>
            </a:avLst>
          </a:prstGeom>
          <a:solidFill>
            <a:srgbClr val="12293D"/>
          </a:solidFill>
          <a:ln/>
          <a:effectLst>
            <a:outerShdw sx="100000" sy="100000" kx="0" ky="0" algn="bl" rotWithShape="0" blurRad="127000" dist="50800" dir="5400000">
              <a:srgbClr val="0A4A69">
                <a:alpha val="3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949440" y="548640"/>
            <a:ext cx="2697480" cy="5897880"/>
          </a:xfrm>
          <a:prstGeom prst="roundRect">
            <a:avLst>
              <a:gd name="adj" fmla="val 6102"/>
            </a:avLst>
          </a:prstGeom>
          <a:solidFill>
            <a:srgbClr val="F6F9FB"/>
          </a:solidFill>
          <a:ln/>
        </p:spPr>
      </p:sp>
      <p:sp>
        <p:nvSpPr>
          <p:cNvPr id="13" name="Text 11"/>
          <p:cNvSpPr/>
          <p:nvPr/>
        </p:nvSpPr>
        <p:spPr>
          <a:xfrm>
            <a:off x="7068312" y="594360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2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9:41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9272016" y="630936"/>
            <a:ext cx="274320" cy="118872"/>
          </a:xfrm>
          <a:prstGeom prst="roundRect">
            <a:avLst>
              <a:gd name="adj" fmla="val 23077"/>
            </a:avLst>
          </a:prstGeom>
          <a:noFill/>
          <a:ln w="9525">
            <a:solidFill>
              <a:srgbClr val="12293D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022592" y="832104"/>
            <a:ext cx="2551176" cy="420624"/>
          </a:xfrm>
          <a:prstGeom prst="rect">
            <a:avLst/>
          </a:prstGeom>
          <a:solidFill>
            <a:srgbClr val="0A4A69"/>
          </a:solidFill>
          <a:ln/>
        </p:spPr>
      </p:sp>
      <p:sp>
        <p:nvSpPr>
          <p:cNvPr id="16" name="Text 14"/>
          <p:cNvSpPr/>
          <p:nvPr/>
        </p:nvSpPr>
        <p:spPr>
          <a:xfrm>
            <a:off x="7168896" y="832104"/>
            <a:ext cx="191109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PalmCare</a:t>
            </a:r>
            <a:endParaRPr lang="en-US" sz="1250" dirty="0"/>
          </a:p>
        </p:txBody>
      </p:sp>
      <p:pic>
        <p:nvPicPr>
          <p:cNvPr id="17" name="Image 0" descr="/home/claude/palmcare-analysis/icons/bell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62872" y="950976"/>
            <a:ext cx="182880" cy="182880"/>
          </a:xfrm>
          <a:prstGeom prst="rect">
            <a:avLst/>
          </a:prstGeom>
        </p:spPr>
      </p:pic>
      <p:sp>
        <p:nvSpPr>
          <p:cNvPr id="18" name="Shape 15"/>
          <p:cNvSpPr/>
          <p:nvPr/>
        </p:nvSpPr>
        <p:spPr>
          <a:xfrm>
            <a:off x="7022592" y="1344168"/>
            <a:ext cx="589788" cy="5486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1EBF2"/>
            </a:solidFill>
            <a:prstDash val="solid"/>
          </a:ln>
          <a:effectLst>
            <a:outerShdw sx="100000" sy="100000" kx="0" ky="0" algn="bl" rotWithShape="0" blurRad="50800" dist="12700" dir="5400000">
              <a:srgbClr val="1F3864">
                <a:alpha val="8000"/>
              </a:srgbClr>
            </a:outerShdw>
          </a:effectLst>
        </p:spPr>
      </p:sp>
      <p:sp>
        <p:nvSpPr>
          <p:cNvPr id="19" name="Text 16"/>
          <p:cNvSpPr/>
          <p:nvPr/>
        </p:nvSpPr>
        <p:spPr>
          <a:xfrm>
            <a:off x="7022592" y="1408176"/>
            <a:ext cx="5897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A4A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400" dirty="0"/>
          </a:p>
        </p:txBody>
      </p:sp>
      <p:sp>
        <p:nvSpPr>
          <p:cNvPr id="20" name="Text 17"/>
          <p:cNvSpPr/>
          <p:nvPr/>
        </p:nvSpPr>
        <p:spPr>
          <a:xfrm>
            <a:off x="7022592" y="1673352"/>
            <a:ext cx="5897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5B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Due Today</a:t>
            </a:r>
            <a:endParaRPr lang="en-US" sz="650" dirty="0"/>
          </a:p>
        </p:txBody>
      </p:sp>
      <p:sp>
        <p:nvSpPr>
          <p:cNvPr id="21" name="Shape 18"/>
          <p:cNvSpPr/>
          <p:nvPr/>
        </p:nvSpPr>
        <p:spPr>
          <a:xfrm>
            <a:off x="7676388" y="1344168"/>
            <a:ext cx="589788" cy="5486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1EBF2"/>
            </a:solidFill>
            <a:prstDash val="solid"/>
          </a:ln>
          <a:effectLst>
            <a:outerShdw sx="100000" sy="100000" kx="0" ky="0" algn="bl" rotWithShape="0" blurRad="50800" dist="12700" dir="5400000">
              <a:srgbClr val="1F3864">
                <a:alpha val="8000"/>
              </a:srgbClr>
            </a:outerShdw>
          </a:effectLst>
        </p:spPr>
      </p:sp>
      <p:sp>
        <p:nvSpPr>
          <p:cNvPr id="22" name="Text 19"/>
          <p:cNvSpPr/>
          <p:nvPr/>
        </p:nvSpPr>
        <p:spPr>
          <a:xfrm>
            <a:off x="7676388" y="1408176"/>
            <a:ext cx="5897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C7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23" name="Text 20"/>
          <p:cNvSpPr/>
          <p:nvPr/>
        </p:nvSpPr>
        <p:spPr>
          <a:xfrm>
            <a:off x="7676388" y="1673352"/>
            <a:ext cx="5897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5B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Progress</a:t>
            </a:r>
            <a:endParaRPr lang="en-US" sz="650" dirty="0"/>
          </a:p>
        </p:txBody>
      </p:sp>
      <p:sp>
        <p:nvSpPr>
          <p:cNvPr id="24" name="Shape 21"/>
          <p:cNvSpPr/>
          <p:nvPr/>
        </p:nvSpPr>
        <p:spPr>
          <a:xfrm>
            <a:off x="8330184" y="1344168"/>
            <a:ext cx="589788" cy="5486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1EBF2"/>
            </a:solidFill>
            <a:prstDash val="solid"/>
          </a:ln>
          <a:effectLst>
            <a:outerShdw sx="100000" sy="100000" kx="0" ky="0" algn="bl" rotWithShape="0" blurRad="50800" dist="12700" dir="5400000">
              <a:srgbClr val="1F3864">
                <a:alpha val="8000"/>
              </a:srgbClr>
            </a:outerShdw>
          </a:effectLst>
        </p:spPr>
      </p:sp>
      <p:sp>
        <p:nvSpPr>
          <p:cNvPr id="25" name="Text 22"/>
          <p:cNvSpPr/>
          <p:nvPr/>
        </p:nvSpPr>
        <p:spPr>
          <a:xfrm>
            <a:off x="8330184" y="1408176"/>
            <a:ext cx="5897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26" name="Text 23"/>
          <p:cNvSpPr/>
          <p:nvPr/>
        </p:nvSpPr>
        <p:spPr>
          <a:xfrm>
            <a:off x="8330184" y="1673352"/>
            <a:ext cx="5897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5B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Overdue</a:t>
            </a:r>
            <a:endParaRPr lang="en-US" sz="650" dirty="0"/>
          </a:p>
        </p:txBody>
      </p:sp>
      <p:sp>
        <p:nvSpPr>
          <p:cNvPr id="27" name="Shape 24"/>
          <p:cNvSpPr/>
          <p:nvPr/>
        </p:nvSpPr>
        <p:spPr>
          <a:xfrm>
            <a:off x="8983980" y="1344168"/>
            <a:ext cx="589788" cy="5486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1EBF2"/>
            </a:solidFill>
            <a:prstDash val="solid"/>
          </a:ln>
          <a:effectLst>
            <a:outerShdw sx="100000" sy="100000" kx="0" ky="0" algn="bl" rotWithShape="0" blurRad="50800" dist="12700" dir="5400000">
              <a:srgbClr val="1F3864">
                <a:alpha val="8000"/>
              </a:srgbClr>
            </a:outerShdw>
          </a:effectLst>
        </p:spPr>
      </p:sp>
      <p:sp>
        <p:nvSpPr>
          <p:cNvPr id="28" name="Text 25"/>
          <p:cNvSpPr/>
          <p:nvPr/>
        </p:nvSpPr>
        <p:spPr>
          <a:xfrm>
            <a:off x="8983980" y="1408176"/>
            <a:ext cx="5897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8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400" dirty="0"/>
          </a:p>
        </p:txBody>
      </p:sp>
      <p:sp>
        <p:nvSpPr>
          <p:cNvPr id="29" name="Text 26"/>
          <p:cNvSpPr/>
          <p:nvPr/>
        </p:nvSpPr>
        <p:spPr>
          <a:xfrm>
            <a:off x="8983980" y="1673352"/>
            <a:ext cx="5897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5B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Selesai</a:t>
            </a:r>
            <a:endParaRPr lang="en-US" sz="650" dirty="0"/>
          </a:p>
        </p:txBody>
      </p:sp>
      <p:sp>
        <p:nvSpPr>
          <p:cNvPr id="30" name="Shape 27"/>
          <p:cNvSpPr/>
          <p:nvPr/>
        </p:nvSpPr>
        <p:spPr>
          <a:xfrm>
            <a:off x="7022592" y="2020824"/>
            <a:ext cx="1243584" cy="5486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1EBF2"/>
            </a:solidFill>
            <a:prstDash val="solid"/>
          </a:ln>
          <a:effectLst>
            <a:outerShdw sx="100000" sy="100000" kx="0" ky="0" algn="bl" rotWithShape="0" blurRad="50800" dist="12700" dir="5400000">
              <a:srgbClr val="1F3864">
                <a:alpha val="8000"/>
              </a:srgbClr>
            </a:outerShdw>
          </a:effectLst>
        </p:spPr>
      </p:sp>
      <p:sp>
        <p:nvSpPr>
          <p:cNvPr id="31" name="Text 28"/>
          <p:cNvSpPr/>
          <p:nvPr/>
        </p:nvSpPr>
        <p:spPr>
          <a:xfrm>
            <a:off x="7022592" y="2084832"/>
            <a:ext cx="12435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8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92.8%</a:t>
            </a:r>
            <a:endParaRPr lang="en-US" sz="1400" dirty="0"/>
          </a:p>
        </p:txBody>
      </p:sp>
      <p:sp>
        <p:nvSpPr>
          <p:cNvPr id="32" name="Text 29"/>
          <p:cNvSpPr/>
          <p:nvPr/>
        </p:nvSpPr>
        <p:spPr>
          <a:xfrm>
            <a:off x="7022592" y="2350008"/>
            <a:ext cx="12435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5B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PM Compliance</a:t>
            </a:r>
            <a:endParaRPr lang="en-US" sz="650" dirty="0"/>
          </a:p>
        </p:txBody>
      </p:sp>
      <p:sp>
        <p:nvSpPr>
          <p:cNvPr id="33" name="Shape 30"/>
          <p:cNvSpPr/>
          <p:nvPr/>
        </p:nvSpPr>
        <p:spPr>
          <a:xfrm>
            <a:off x="8330184" y="2020824"/>
            <a:ext cx="1243584" cy="5486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1EBF2"/>
            </a:solidFill>
            <a:prstDash val="solid"/>
          </a:ln>
          <a:effectLst>
            <a:outerShdw sx="100000" sy="100000" kx="0" ky="0" algn="bl" rotWithShape="0" blurRad="50800" dist="12700" dir="5400000">
              <a:srgbClr val="1F3864">
                <a:alpha val="8000"/>
              </a:srgbClr>
            </a:outerShdw>
          </a:effectLst>
        </p:spPr>
      </p:sp>
      <p:sp>
        <p:nvSpPr>
          <p:cNvPr id="34" name="Text 31"/>
          <p:cNvSpPr/>
          <p:nvPr/>
        </p:nvSpPr>
        <p:spPr>
          <a:xfrm>
            <a:off x="8330184" y="2084832"/>
            <a:ext cx="12435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8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96.4%</a:t>
            </a:r>
            <a:endParaRPr lang="en-US" sz="1400" dirty="0"/>
          </a:p>
        </p:txBody>
      </p:sp>
      <p:sp>
        <p:nvSpPr>
          <p:cNvPr id="35" name="Text 32"/>
          <p:cNvSpPr/>
          <p:nvPr/>
        </p:nvSpPr>
        <p:spPr>
          <a:xfrm>
            <a:off x="8330184" y="2350008"/>
            <a:ext cx="12435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5B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Equip. Health</a:t>
            </a:r>
            <a:endParaRPr lang="en-US" sz="650" dirty="0"/>
          </a:p>
        </p:txBody>
      </p:sp>
      <p:sp>
        <p:nvSpPr>
          <p:cNvPr id="36" name="Text 33"/>
          <p:cNvSpPr/>
          <p:nvPr/>
        </p:nvSpPr>
        <p:spPr>
          <a:xfrm>
            <a:off x="7022592" y="2697480"/>
            <a:ext cx="255117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1C7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 ISSUES</a:t>
            </a:r>
            <a:endParaRPr lang="en-US" sz="800" dirty="0"/>
          </a:p>
        </p:txBody>
      </p:sp>
      <p:sp>
        <p:nvSpPr>
          <p:cNvPr id="37" name="Shape 34"/>
          <p:cNvSpPr/>
          <p:nvPr/>
        </p:nvSpPr>
        <p:spPr>
          <a:xfrm>
            <a:off x="7022592" y="2916936"/>
            <a:ext cx="2551176" cy="530352"/>
          </a:xfrm>
          <a:prstGeom prst="roundRect">
            <a:avLst>
              <a:gd name="adj" fmla="val 12069"/>
            </a:avLst>
          </a:prstGeom>
          <a:solidFill>
            <a:srgbClr val="FFFFFF"/>
          </a:solidFill>
          <a:ln w="9525">
            <a:solidFill>
              <a:srgbClr val="E1EBF2"/>
            </a:solidFill>
            <a:prstDash val="solid"/>
          </a:ln>
          <a:effectLst>
            <a:outerShdw sx="100000" sy="100000" kx="0" ky="0" algn="bl" rotWithShape="0" blurRad="38100" dist="12700" dir="5400000">
              <a:srgbClr val="1F3864">
                <a:alpha val="6000"/>
              </a:srgbClr>
            </a:outerShdw>
          </a:effectLst>
        </p:spPr>
      </p:sp>
      <p:sp>
        <p:nvSpPr>
          <p:cNvPr id="38" name="Shape 35"/>
          <p:cNvSpPr/>
          <p:nvPr/>
        </p:nvSpPr>
        <p:spPr>
          <a:xfrm>
            <a:off x="7132320" y="3140964"/>
            <a:ext cx="82296" cy="82296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39" name="Text 36"/>
          <p:cNvSpPr/>
          <p:nvPr/>
        </p:nvSpPr>
        <p:spPr>
          <a:xfrm>
            <a:off x="7315200" y="2980944"/>
            <a:ext cx="1508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2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Screw Press #02</a:t>
            </a:r>
            <a:endParaRPr lang="en-US" sz="950" dirty="0"/>
          </a:p>
        </p:txBody>
      </p:sp>
      <p:sp>
        <p:nvSpPr>
          <p:cNvPr id="40" name="Text 37"/>
          <p:cNvSpPr/>
          <p:nvPr/>
        </p:nvSpPr>
        <p:spPr>
          <a:xfrm>
            <a:off x="7315200" y="3191256"/>
            <a:ext cx="2148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Gearbox Leakage</a:t>
            </a:r>
            <a:endParaRPr lang="en-US" sz="800" dirty="0"/>
          </a:p>
        </p:txBody>
      </p:sp>
      <p:sp>
        <p:nvSpPr>
          <p:cNvPr id="41" name="Text 38"/>
          <p:cNvSpPr/>
          <p:nvPr/>
        </p:nvSpPr>
        <p:spPr>
          <a:xfrm>
            <a:off x="8860536" y="2916936"/>
            <a:ext cx="62179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1C7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Detail</a:t>
            </a:r>
            <a:endParaRPr lang="en-US" sz="750" dirty="0"/>
          </a:p>
        </p:txBody>
      </p:sp>
      <p:sp>
        <p:nvSpPr>
          <p:cNvPr id="42" name="Shape 39"/>
          <p:cNvSpPr/>
          <p:nvPr/>
        </p:nvSpPr>
        <p:spPr>
          <a:xfrm>
            <a:off x="7022592" y="3538728"/>
            <a:ext cx="2551176" cy="530352"/>
          </a:xfrm>
          <a:prstGeom prst="roundRect">
            <a:avLst>
              <a:gd name="adj" fmla="val 12069"/>
            </a:avLst>
          </a:prstGeom>
          <a:solidFill>
            <a:srgbClr val="FFFFFF"/>
          </a:solidFill>
          <a:ln w="9525">
            <a:solidFill>
              <a:srgbClr val="E1EBF2"/>
            </a:solidFill>
            <a:prstDash val="solid"/>
          </a:ln>
          <a:effectLst>
            <a:outerShdw sx="100000" sy="100000" kx="0" ky="0" algn="bl" rotWithShape="0" blurRad="38100" dist="12700" dir="5400000">
              <a:srgbClr val="1F3864">
                <a:alpha val="6000"/>
              </a:srgbClr>
            </a:outerShdw>
          </a:effectLst>
        </p:spPr>
      </p:sp>
      <p:sp>
        <p:nvSpPr>
          <p:cNvPr id="43" name="Shape 40"/>
          <p:cNvSpPr/>
          <p:nvPr/>
        </p:nvSpPr>
        <p:spPr>
          <a:xfrm>
            <a:off x="7132320" y="3762756"/>
            <a:ext cx="82296" cy="82296"/>
          </a:xfrm>
          <a:prstGeom prst="ellipse">
            <a:avLst/>
          </a:prstGeom>
          <a:solidFill>
            <a:srgbClr val="D4900B"/>
          </a:solidFill>
          <a:ln/>
        </p:spPr>
      </p:sp>
      <p:sp>
        <p:nvSpPr>
          <p:cNvPr id="44" name="Text 41"/>
          <p:cNvSpPr/>
          <p:nvPr/>
        </p:nvSpPr>
        <p:spPr>
          <a:xfrm>
            <a:off x="7315200" y="3602736"/>
            <a:ext cx="1508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2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Boiler #01</a:t>
            </a:r>
            <a:endParaRPr lang="en-US" sz="950" dirty="0"/>
          </a:p>
        </p:txBody>
      </p:sp>
      <p:sp>
        <p:nvSpPr>
          <p:cNvPr id="45" name="Text 42"/>
          <p:cNvSpPr/>
          <p:nvPr/>
        </p:nvSpPr>
        <p:spPr>
          <a:xfrm>
            <a:off x="7315200" y="3813048"/>
            <a:ext cx="2148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Temperature</a:t>
            </a:r>
            <a:endParaRPr lang="en-US" sz="800" dirty="0"/>
          </a:p>
        </p:txBody>
      </p:sp>
      <p:sp>
        <p:nvSpPr>
          <p:cNvPr id="46" name="Text 43"/>
          <p:cNvSpPr/>
          <p:nvPr/>
        </p:nvSpPr>
        <p:spPr>
          <a:xfrm>
            <a:off x="8860536" y="3538728"/>
            <a:ext cx="62179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1C7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Detail</a:t>
            </a:r>
            <a:endParaRPr lang="en-US" sz="750" dirty="0"/>
          </a:p>
        </p:txBody>
      </p:sp>
      <p:sp>
        <p:nvSpPr>
          <p:cNvPr id="47" name="Shape 44"/>
          <p:cNvSpPr/>
          <p:nvPr/>
        </p:nvSpPr>
        <p:spPr>
          <a:xfrm>
            <a:off x="6949440" y="5888736"/>
            <a:ext cx="2697480" cy="51206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8" name="Shape 45"/>
          <p:cNvSpPr/>
          <p:nvPr/>
        </p:nvSpPr>
        <p:spPr>
          <a:xfrm>
            <a:off x="6949440" y="5888736"/>
            <a:ext cx="2697480" cy="0"/>
          </a:xfrm>
          <a:prstGeom prst="line">
            <a:avLst/>
          </a:prstGeom>
          <a:noFill/>
          <a:ln w="12700">
            <a:solidFill>
              <a:srgbClr val="E1EBF2"/>
            </a:solidFill>
            <a:prstDash val="solid"/>
          </a:ln>
        </p:spPr>
      </p:sp>
      <p:sp>
        <p:nvSpPr>
          <p:cNvPr id="49" name="Shape 46"/>
          <p:cNvSpPr/>
          <p:nvPr/>
        </p:nvSpPr>
        <p:spPr>
          <a:xfrm>
            <a:off x="7072884" y="5943600"/>
            <a:ext cx="292608" cy="292608"/>
          </a:xfrm>
          <a:prstGeom prst="roundRect">
            <a:avLst>
              <a:gd name="adj" fmla="val 25000"/>
            </a:avLst>
          </a:prstGeom>
          <a:solidFill>
            <a:srgbClr val="DCEAF3"/>
          </a:solidFill>
          <a:ln/>
        </p:spPr>
      </p:sp>
      <p:pic>
        <p:nvPicPr>
          <p:cNvPr id="50" name="Image 1" descr="/home/claude/palmcare-analysis/icons/dashboard_navy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6892" y="5980176"/>
            <a:ext cx="164592" cy="164592"/>
          </a:xfrm>
          <a:prstGeom prst="rect">
            <a:avLst/>
          </a:prstGeom>
        </p:spPr>
      </p:pic>
      <p:sp>
        <p:nvSpPr>
          <p:cNvPr id="51" name="Text 47"/>
          <p:cNvSpPr/>
          <p:nvPr/>
        </p:nvSpPr>
        <p:spPr>
          <a:xfrm>
            <a:off x="6949440" y="6236208"/>
            <a:ext cx="5394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0A4A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</a:t>
            </a:r>
            <a:endParaRPr lang="en-US" sz="650" dirty="0"/>
          </a:p>
        </p:txBody>
      </p:sp>
      <p:pic>
        <p:nvPicPr>
          <p:cNvPr id="52" name="Image 2" descr="/home/claude/palmcare-analysis/icons/workorder_gra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76388" y="5980176"/>
            <a:ext cx="164592" cy="164592"/>
          </a:xfrm>
          <a:prstGeom prst="rect">
            <a:avLst/>
          </a:prstGeom>
        </p:spPr>
      </p:pic>
      <p:sp>
        <p:nvSpPr>
          <p:cNvPr id="53" name="Text 48"/>
          <p:cNvSpPr/>
          <p:nvPr/>
        </p:nvSpPr>
        <p:spPr>
          <a:xfrm>
            <a:off x="7488936" y="6236208"/>
            <a:ext cx="5394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5B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Maint.</a:t>
            </a:r>
            <a:endParaRPr lang="en-US" sz="650" dirty="0"/>
          </a:p>
        </p:txBody>
      </p:sp>
      <p:pic>
        <p:nvPicPr>
          <p:cNvPr id="54" name="Image 3" descr="/home/claude/palmcare-analysis/icons/tools_gray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15884" y="5980176"/>
            <a:ext cx="164592" cy="164592"/>
          </a:xfrm>
          <a:prstGeom prst="rect">
            <a:avLst/>
          </a:prstGeom>
        </p:spPr>
      </p:pic>
      <p:sp>
        <p:nvSpPr>
          <p:cNvPr id="55" name="Text 49"/>
          <p:cNvSpPr/>
          <p:nvPr/>
        </p:nvSpPr>
        <p:spPr>
          <a:xfrm>
            <a:off x="8028432" y="6236208"/>
            <a:ext cx="5394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5B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Equip.</a:t>
            </a:r>
            <a:endParaRPr lang="en-US" sz="650" dirty="0"/>
          </a:p>
        </p:txBody>
      </p:sp>
      <p:pic>
        <p:nvPicPr>
          <p:cNvPr id="56" name="Image 4" descr="/home/claude/palmcare-analysis/icons/bell_gray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55380" y="5980176"/>
            <a:ext cx="164592" cy="164592"/>
          </a:xfrm>
          <a:prstGeom prst="rect">
            <a:avLst/>
          </a:prstGeom>
        </p:spPr>
      </p:pic>
      <p:sp>
        <p:nvSpPr>
          <p:cNvPr id="57" name="Text 50"/>
          <p:cNvSpPr/>
          <p:nvPr/>
        </p:nvSpPr>
        <p:spPr>
          <a:xfrm>
            <a:off x="8567928" y="6236208"/>
            <a:ext cx="5394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5B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Notif.</a:t>
            </a:r>
            <a:endParaRPr lang="en-US" sz="650" dirty="0"/>
          </a:p>
        </p:txBody>
      </p:sp>
      <p:pic>
        <p:nvPicPr>
          <p:cNvPr id="58" name="Image 5" descr="/home/claude/palmcare-analysis/icons/profile_gray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294876" y="5980176"/>
            <a:ext cx="164592" cy="164592"/>
          </a:xfrm>
          <a:prstGeom prst="rect">
            <a:avLst/>
          </a:prstGeom>
        </p:spPr>
      </p:pic>
      <p:sp>
        <p:nvSpPr>
          <p:cNvPr id="59" name="Text 51"/>
          <p:cNvSpPr/>
          <p:nvPr/>
        </p:nvSpPr>
        <p:spPr>
          <a:xfrm>
            <a:off x="9107424" y="6236208"/>
            <a:ext cx="5394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5B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</a:t>
            </a:r>
            <a:endParaRPr lang="en-US" sz="650" dirty="0"/>
          </a:p>
        </p:txBody>
      </p:sp>
      <p:sp>
        <p:nvSpPr>
          <p:cNvPr id="60" name="Text 52"/>
          <p:cNvSpPr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PalmCare — Mockup UI</a:t>
            </a:r>
            <a:endParaRPr lang="en-US" sz="900" dirty="0"/>
          </a:p>
        </p:txBody>
      </p:sp>
      <p:sp>
        <p:nvSpPr>
          <p:cNvPr id="61" name="Text 53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1C7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SUPERVISOR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229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Jadwal (PM Schedule)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1C7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ANOTASI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48640" y="1764792"/>
            <a:ext cx="82296" cy="82296"/>
          </a:xfrm>
          <a:prstGeom prst="ellipse">
            <a:avLst/>
          </a:prstGeom>
          <a:solidFill>
            <a:srgbClr val="0A4A69"/>
          </a:solidFill>
          <a:ln/>
        </p:spPr>
      </p:sp>
      <p:sp>
        <p:nvSpPr>
          <p:cNvPr id="6" name="Text 4"/>
          <p:cNvSpPr/>
          <p:nvPr/>
        </p:nvSpPr>
        <p:spPr>
          <a:xfrm>
            <a:off x="749808" y="1682496"/>
            <a:ext cx="4572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just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2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Kalender bulanan menampilkan tanggal-tanggal dengan jadwal preventive maintenance (ditandai bulatan biru).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548640" y="2368296"/>
            <a:ext cx="82296" cy="82296"/>
          </a:xfrm>
          <a:prstGeom prst="ellipse">
            <a:avLst/>
          </a:prstGeom>
          <a:solidFill>
            <a:srgbClr val="0A4A69"/>
          </a:solidFill>
          <a:ln/>
        </p:spPr>
      </p:sp>
      <p:sp>
        <p:nvSpPr>
          <p:cNvPr id="8" name="Text 6"/>
          <p:cNvSpPr/>
          <p:nvPr/>
        </p:nvSpPr>
        <p:spPr>
          <a:xfrm>
            <a:off x="749808" y="2286000"/>
            <a:ext cx="4572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just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2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Tombol tambah untuk membuat jadwal baru — memilih equipment, frekuensi, dan checklist template.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548640" y="2971800"/>
            <a:ext cx="82296" cy="82296"/>
          </a:xfrm>
          <a:prstGeom prst="ellipse">
            <a:avLst/>
          </a:prstGeom>
          <a:solidFill>
            <a:srgbClr val="0A4A69"/>
          </a:solidFill>
          <a:ln/>
        </p:spPr>
      </p:sp>
      <p:sp>
        <p:nvSpPr>
          <p:cNvPr id="10" name="Text 8"/>
          <p:cNvSpPr/>
          <p:nvPr/>
        </p:nvSpPr>
        <p:spPr>
          <a:xfrm>
            <a:off x="749808" y="2889504"/>
            <a:ext cx="4572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just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2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Tap tanggal tertentu akan menampilkan daftar equipment yang dijadwalkan pada hari itu.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6903720" y="502920"/>
            <a:ext cx="2788920" cy="5989320"/>
          </a:xfrm>
          <a:prstGeom prst="roundRect">
            <a:avLst>
              <a:gd name="adj" fmla="val 7213"/>
            </a:avLst>
          </a:prstGeom>
          <a:solidFill>
            <a:srgbClr val="12293D"/>
          </a:solidFill>
          <a:ln/>
          <a:effectLst>
            <a:outerShdw sx="100000" sy="100000" kx="0" ky="0" algn="bl" rotWithShape="0" blurRad="127000" dist="50800" dir="5400000">
              <a:srgbClr val="0A4A69">
                <a:alpha val="3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949440" y="548640"/>
            <a:ext cx="2697480" cy="5897880"/>
          </a:xfrm>
          <a:prstGeom prst="roundRect">
            <a:avLst>
              <a:gd name="adj" fmla="val 6102"/>
            </a:avLst>
          </a:prstGeom>
          <a:solidFill>
            <a:srgbClr val="F6F9FB"/>
          </a:solidFill>
          <a:ln/>
        </p:spPr>
      </p:sp>
      <p:sp>
        <p:nvSpPr>
          <p:cNvPr id="13" name="Text 11"/>
          <p:cNvSpPr/>
          <p:nvPr/>
        </p:nvSpPr>
        <p:spPr>
          <a:xfrm>
            <a:off x="7068312" y="594360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2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9:41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9272016" y="630936"/>
            <a:ext cx="274320" cy="118872"/>
          </a:xfrm>
          <a:prstGeom prst="roundRect">
            <a:avLst>
              <a:gd name="adj" fmla="val 23077"/>
            </a:avLst>
          </a:prstGeom>
          <a:noFill/>
          <a:ln w="9525">
            <a:solidFill>
              <a:srgbClr val="12293D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022592" y="832104"/>
            <a:ext cx="2551176" cy="420624"/>
          </a:xfrm>
          <a:prstGeom prst="rect">
            <a:avLst/>
          </a:prstGeom>
          <a:solidFill>
            <a:srgbClr val="0A4A69"/>
          </a:solidFill>
          <a:ln/>
        </p:spPr>
      </p:sp>
      <p:pic>
        <p:nvPicPr>
          <p:cNvPr id="16" name="Image 0" descr="/home/claude/palmcare-analysis/icons/history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32320" y="950976"/>
            <a:ext cx="182880" cy="182880"/>
          </a:xfrm>
          <a:prstGeom prst="rect">
            <a:avLst/>
          </a:prstGeom>
        </p:spPr>
      </p:pic>
      <p:sp>
        <p:nvSpPr>
          <p:cNvPr id="17" name="Text 14"/>
          <p:cNvSpPr/>
          <p:nvPr/>
        </p:nvSpPr>
        <p:spPr>
          <a:xfrm>
            <a:off x="7351776" y="832104"/>
            <a:ext cx="191109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Jadwal Maintenance</a:t>
            </a:r>
            <a:endParaRPr lang="en-US" sz="1250" dirty="0"/>
          </a:p>
        </p:txBody>
      </p:sp>
      <p:pic>
        <p:nvPicPr>
          <p:cNvPr id="18" name="Image 1" descr="/home/claude/palmcare-analysis/icons/bell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62872" y="950976"/>
            <a:ext cx="182880" cy="182880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7022592" y="1344168"/>
            <a:ext cx="255117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1C7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SEPTEMBER 2026</a:t>
            </a:r>
            <a:endParaRPr lang="en-US" sz="800" dirty="0"/>
          </a:p>
        </p:txBody>
      </p:sp>
      <p:sp>
        <p:nvSpPr>
          <p:cNvPr id="20" name="Shape 16"/>
          <p:cNvSpPr/>
          <p:nvPr/>
        </p:nvSpPr>
        <p:spPr>
          <a:xfrm>
            <a:off x="7022592" y="1563624"/>
            <a:ext cx="2551176" cy="1417320"/>
          </a:xfrm>
          <a:prstGeom prst="roundRect">
            <a:avLst>
              <a:gd name="adj" fmla="val 4516"/>
            </a:avLst>
          </a:prstGeom>
          <a:solidFill>
            <a:srgbClr val="FFFFFF"/>
          </a:solidFill>
          <a:ln w="9525">
            <a:solidFill>
              <a:srgbClr val="E1EBF2"/>
            </a:solidFill>
            <a:prstDash val="solid"/>
          </a:ln>
          <a:effectLst>
            <a:outerShdw sx="100000" sy="100000" kx="0" ky="0" algn="bl" rotWithShape="0" blurRad="38100" dist="12700" dir="5400000">
              <a:srgbClr val="1F3864">
                <a:alpha val="6000"/>
              </a:srgbClr>
            </a:outerShdw>
          </a:effectLst>
        </p:spPr>
      </p:sp>
      <p:sp>
        <p:nvSpPr>
          <p:cNvPr id="21" name="Text 17"/>
          <p:cNvSpPr/>
          <p:nvPr/>
        </p:nvSpPr>
        <p:spPr>
          <a:xfrm>
            <a:off x="7022592" y="1618488"/>
            <a:ext cx="36445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1C7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</a:t>
            </a:r>
            <a:endParaRPr lang="en-US" sz="650" dirty="0"/>
          </a:p>
        </p:txBody>
      </p:sp>
      <p:sp>
        <p:nvSpPr>
          <p:cNvPr id="22" name="Text 18"/>
          <p:cNvSpPr/>
          <p:nvPr/>
        </p:nvSpPr>
        <p:spPr>
          <a:xfrm>
            <a:off x="7387046" y="1618488"/>
            <a:ext cx="36445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1C7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</a:t>
            </a:r>
            <a:endParaRPr lang="en-US" sz="650" dirty="0"/>
          </a:p>
        </p:txBody>
      </p:sp>
      <p:sp>
        <p:nvSpPr>
          <p:cNvPr id="23" name="Text 19"/>
          <p:cNvSpPr/>
          <p:nvPr/>
        </p:nvSpPr>
        <p:spPr>
          <a:xfrm>
            <a:off x="7751499" y="1618488"/>
            <a:ext cx="36445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1C7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</a:t>
            </a:r>
            <a:endParaRPr lang="en-US" sz="650" dirty="0"/>
          </a:p>
        </p:txBody>
      </p:sp>
      <p:sp>
        <p:nvSpPr>
          <p:cNvPr id="24" name="Text 20"/>
          <p:cNvSpPr/>
          <p:nvPr/>
        </p:nvSpPr>
        <p:spPr>
          <a:xfrm>
            <a:off x="8115953" y="1618488"/>
            <a:ext cx="36445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1C7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</a:t>
            </a:r>
            <a:endParaRPr lang="en-US" sz="650" dirty="0"/>
          </a:p>
        </p:txBody>
      </p:sp>
      <p:sp>
        <p:nvSpPr>
          <p:cNvPr id="25" name="Text 21"/>
          <p:cNvSpPr/>
          <p:nvPr/>
        </p:nvSpPr>
        <p:spPr>
          <a:xfrm>
            <a:off x="8480407" y="1618488"/>
            <a:ext cx="36445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1C7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</a:t>
            </a:r>
            <a:endParaRPr lang="en-US" sz="650" dirty="0"/>
          </a:p>
        </p:txBody>
      </p:sp>
      <p:sp>
        <p:nvSpPr>
          <p:cNvPr id="26" name="Text 22"/>
          <p:cNvSpPr/>
          <p:nvPr/>
        </p:nvSpPr>
        <p:spPr>
          <a:xfrm>
            <a:off x="8844861" y="1618488"/>
            <a:ext cx="36445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1C7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</a:t>
            </a:r>
            <a:endParaRPr lang="en-US" sz="650" dirty="0"/>
          </a:p>
        </p:txBody>
      </p:sp>
      <p:sp>
        <p:nvSpPr>
          <p:cNvPr id="27" name="Text 23"/>
          <p:cNvSpPr/>
          <p:nvPr/>
        </p:nvSpPr>
        <p:spPr>
          <a:xfrm>
            <a:off x="9209314" y="1618488"/>
            <a:ext cx="36445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1C7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</a:t>
            </a:r>
            <a:endParaRPr lang="en-US" sz="650" dirty="0"/>
          </a:p>
        </p:txBody>
      </p:sp>
      <p:sp>
        <p:nvSpPr>
          <p:cNvPr id="28" name="Text 24"/>
          <p:cNvSpPr/>
          <p:nvPr/>
        </p:nvSpPr>
        <p:spPr>
          <a:xfrm>
            <a:off x="7022592" y="1801368"/>
            <a:ext cx="364454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12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700" dirty="0"/>
          </a:p>
        </p:txBody>
      </p:sp>
      <p:sp>
        <p:nvSpPr>
          <p:cNvPr id="29" name="Text 25"/>
          <p:cNvSpPr/>
          <p:nvPr/>
        </p:nvSpPr>
        <p:spPr>
          <a:xfrm>
            <a:off x="7387046" y="1801368"/>
            <a:ext cx="364454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12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700" dirty="0"/>
          </a:p>
        </p:txBody>
      </p:sp>
      <p:sp>
        <p:nvSpPr>
          <p:cNvPr id="30" name="Text 26"/>
          <p:cNvSpPr/>
          <p:nvPr/>
        </p:nvSpPr>
        <p:spPr>
          <a:xfrm>
            <a:off x="7751499" y="1801368"/>
            <a:ext cx="364454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12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700" dirty="0"/>
          </a:p>
        </p:txBody>
      </p:sp>
      <p:sp>
        <p:nvSpPr>
          <p:cNvPr id="31" name="Shape 27"/>
          <p:cNvSpPr/>
          <p:nvPr/>
        </p:nvSpPr>
        <p:spPr>
          <a:xfrm>
            <a:off x="8215884" y="1801368"/>
            <a:ext cx="164592" cy="164592"/>
          </a:xfrm>
          <a:prstGeom prst="ellipse">
            <a:avLst/>
          </a:prstGeom>
          <a:solidFill>
            <a:srgbClr val="0E5C82"/>
          </a:solidFill>
          <a:ln/>
        </p:spPr>
      </p:sp>
      <p:sp>
        <p:nvSpPr>
          <p:cNvPr id="32" name="Text 28"/>
          <p:cNvSpPr/>
          <p:nvPr/>
        </p:nvSpPr>
        <p:spPr>
          <a:xfrm>
            <a:off x="8115953" y="1801368"/>
            <a:ext cx="364454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700" dirty="0"/>
          </a:p>
        </p:txBody>
      </p:sp>
      <p:sp>
        <p:nvSpPr>
          <p:cNvPr id="33" name="Text 29"/>
          <p:cNvSpPr/>
          <p:nvPr/>
        </p:nvSpPr>
        <p:spPr>
          <a:xfrm>
            <a:off x="8480407" y="1801368"/>
            <a:ext cx="364454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12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700" dirty="0"/>
          </a:p>
        </p:txBody>
      </p:sp>
      <p:sp>
        <p:nvSpPr>
          <p:cNvPr id="34" name="Text 30"/>
          <p:cNvSpPr/>
          <p:nvPr/>
        </p:nvSpPr>
        <p:spPr>
          <a:xfrm>
            <a:off x="8844861" y="1801368"/>
            <a:ext cx="364454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12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700" dirty="0"/>
          </a:p>
        </p:txBody>
      </p:sp>
      <p:sp>
        <p:nvSpPr>
          <p:cNvPr id="35" name="Text 31"/>
          <p:cNvSpPr/>
          <p:nvPr/>
        </p:nvSpPr>
        <p:spPr>
          <a:xfrm>
            <a:off x="9209314" y="1801368"/>
            <a:ext cx="364454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12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700" dirty="0"/>
          </a:p>
        </p:txBody>
      </p:sp>
      <p:sp>
        <p:nvSpPr>
          <p:cNvPr id="36" name="Shape 32"/>
          <p:cNvSpPr/>
          <p:nvPr/>
        </p:nvSpPr>
        <p:spPr>
          <a:xfrm>
            <a:off x="7122523" y="2084832"/>
            <a:ext cx="164592" cy="164592"/>
          </a:xfrm>
          <a:prstGeom prst="ellipse">
            <a:avLst/>
          </a:prstGeom>
          <a:solidFill>
            <a:srgbClr val="0E5C82"/>
          </a:solidFill>
          <a:ln/>
        </p:spPr>
      </p:sp>
      <p:sp>
        <p:nvSpPr>
          <p:cNvPr id="37" name="Text 33"/>
          <p:cNvSpPr/>
          <p:nvPr/>
        </p:nvSpPr>
        <p:spPr>
          <a:xfrm>
            <a:off x="7022592" y="2084832"/>
            <a:ext cx="364454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700" dirty="0"/>
          </a:p>
        </p:txBody>
      </p:sp>
      <p:sp>
        <p:nvSpPr>
          <p:cNvPr id="38" name="Text 34"/>
          <p:cNvSpPr/>
          <p:nvPr/>
        </p:nvSpPr>
        <p:spPr>
          <a:xfrm>
            <a:off x="7387046" y="2084832"/>
            <a:ext cx="364454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12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700" dirty="0"/>
          </a:p>
        </p:txBody>
      </p:sp>
      <p:sp>
        <p:nvSpPr>
          <p:cNvPr id="39" name="Text 35"/>
          <p:cNvSpPr/>
          <p:nvPr/>
        </p:nvSpPr>
        <p:spPr>
          <a:xfrm>
            <a:off x="7751499" y="2084832"/>
            <a:ext cx="364454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12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700" dirty="0"/>
          </a:p>
        </p:txBody>
      </p:sp>
      <p:sp>
        <p:nvSpPr>
          <p:cNvPr id="40" name="Shape 36"/>
          <p:cNvSpPr/>
          <p:nvPr/>
        </p:nvSpPr>
        <p:spPr>
          <a:xfrm>
            <a:off x="8215884" y="2084832"/>
            <a:ext cx="164592" cy="164592"/>
          </a:xfrm>
          <a:prstGeom prst="ellipse">
            <a:avLst/>
          </a:prstGeom>
          <a:solidFill>
            <a:srgbClr val="0E5C82"/>
          </a:solidFill>
          <a:ln/>
        </p:spPr>
      </p:sp>
      <p:sp>
        <p:nvSpPr>
          <p:cNvPr id="41" name="Text 37"/>
          <p:cNvSpPr/>
          <p:nvPr/>
        </p:nvSpPr>
        <p:spPr>
          <a:xfrm>
            <a:off x="8115953" y="2084832"/>
            <a:ext cx="364454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700" dirty="0"/>
          </a:p>
        </p:txBody>
      </p:sp>
      <p:sp>
        <p:nvSpPr>
          <p:cNvPr id="42" name="Text 38"/>
          <p:cNvSpPr/>
          <p:nvPr/>
        </p:nvSpPr>
        <p:spPr>
          <a:xfrm>
            <a:off x="8480407" y="2084832"/>
            <a:ext cx="364454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12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700" dirty="0"/>
          </a:p>
        </p:txBody>
      </p:sp>
      <p:sp>
        <p:nvSpPr>
          <p:cNvPr id="43" name="Text 39"/>
          <p:cNvSpPr/>
          <p:nvPr/>
        </p:nvSpPr>
        <p:spPr>
          <a:xfrm>
            <a:off x="8844861" y="2084832"/>
            <a:ext cx="364454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12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700" dirty="0"/>
          </a:p>
        </p:txBody>
      </p:sp>
      <p:sp>
        <p:nvSpPr>
          <p:cNvPr id="44" name="Text 40"/>
          <p:cNvSpPr/>
          <p:nvPr/>
        </p:nvSpPr>
        <p:spPr>
          <a:xfrm>
            <a:off x="9209314" y="2084832"/>
            <a:ext cx="364454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12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700" dirty="0"/>
          </a:p>
        </p:txBody>
      </p:sp>
      <p:sp>
        <p:nvSpPr>
          <p:cNvPr id="45" name="Text 41"/>
          <p:cNvSpPr/>
          <p:nvPr/>
        </p:nvSpPr>
        <p:spPr>
          <a:xfrm>
            <a:off x="7022592" y="2368296"/>
            <a:ext cx="364454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12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700" dirty="0"/>
          </a:p>
        </p:txBody>
      </p:sp>
      <p:sp>
        <p:nvSpPr>
          <p:cNvPr id="46" name="Text 42"/>
          <p:cNvSpPr/>
          <p:nvPr/>
        </p:nvSpPr>
        <p:spPr>
          <a:xfrm>
            <a:off x="7387046" y="2368296"/>
            <a:ext cx="364454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12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700" dirty="0"/>
          </a:p>
        </p:txBody>
      </p:sp>
      <p:sp>
        <p:nvSpPr>
          <p:cNvPr id="47" name="Text 43"/>
          <p:cNvSpPr/>
          <p:nvPr/>
        </p:nvSpPr>
        <p:spPr>
          <a:xfrm>
            <a:off x="7751499" y="2368296"/>
            <a:ext cx="364454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12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700" dirty="0"/>
          </a:p>
        </p:txBody>
      </p:sp>
      <p:sp>
        <p:nvSpPr>
          <p:cNvPr id="48" name="Shape 44"/>
          <p:cNvSpPr/>
          <p:nvPr/>
        </p:nvSpPr>
        <p:spPr>
          <a:xfrm>
            <a:off x="8215884" y="2368296"/>
            <a:ext cx="164592" cy="164592"/>
          </a:xfrm>
          <a:prstGeom prst="ellipse">
            <a:avLst/>
          </a:prstGeom>
          <a:solidFill>
            <a:srgbClr val="0E5C82"/>
          </a:solidFill>
          <a:ln/>
        </p:spPr>
      </p:sp>
      <p:sp>
        <p:nvSpPr>
          <p:cNvPr id="49" name="Text 45"/>
          <p:cNvSpPr/>
          <p:nvPr/>
        </p:nvSpPr>
        <p:spPr>
          <a:xfrm>
            <a:off x="8115953" y="2368296"/>
            <a:ext cx="364454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700" dirty="0"/>
          </a:p>
        </p:txBody>
      </p:sp>
      <p:sp>
        <p:nvSpPr>
          <p:cNvPr id="50" name="Text 46"/>
          <p:cNvSpPr/>
          <p:nvPr/>
        </p:nvSpPr>
        <p:spPr>
          <a:xfrm>
            <a:off x="8480407" y="2368296"/>
            <a:ext cx="364454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12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700" dirty="0"/>
          </a:p>
        </p:txBody>
      </p:sp>
      <p:sp>
        <p:nvSpPr>
          <p:cNvPr id="51" name="Text 47"/>
          <p:cNvSpPr/>
          <p:nvPr/>
        </p:nvSpPr>
        <p:spPr>
          <a:xfrm>
            <a:off x="8844861" y="2368296"/>
            <a:ext cx="364454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12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700" dirty="0"/>
          </a:p>
        </p:txBody>
      </p:sp>
      <p:sp>
        <p:nvSpPr>
          <p:cNvPr id="52" name="Text 48"/>
          <p:cNvSpPr/>
          <p:nvPr/>
        </p:nvSpPr>
        <p:spPr>
          <a:xfrm>
            <a:off x="9209314" y="2368296"/>
            <a:ext cx="364454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12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700" dirty="0"/>
          </a:p>
        </p:txBody>
      </p:sp>
      <p:sp>
        <p:nvSpPr>
          <p:cNvPr id="53" name="Text 49"/>
          <p:cNvSpPr/>
          <p:nvPr/>
        </p:nvSpPr>
        <p:spPr>
          <a:xfrm>
            <a:off x="7022592" y="2651760"/>
            <a:ext cx="364454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12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700" dirty="0"/>
          </a:p>
        </p:txBody>
      </p:sp>
      <p:sp>
        <p:nvSpPr>
          <p:cNvPr id="54" name="Text 50"/>
          <p:cNvSpPr/>
          <p:nvPr/>
        </p:nvSpPr>
        <p:spPr>
          <a:xfrm>
            <a:off x="7387046" y="2651760"/>
            <a:ext cx="364454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12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700" dirty="0"/>
          </a:p>
        </p:txBody>
      </p:sp>
      <p:sp>
        <p:nvSpPr>
          <p:cNvPr id="55" name="Text 51"/>
          <p:cNvSpPr/>
          <p:nvPr/>
        </p:nvSpPr>
        <p:spPr>
          <a:xfrm>
            <a:off x="7751499" y="2651760"/>
            <a:ext cx="364454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12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700" dirty="0"/>
          </a:p>
        </p:txBody>
      </p:sp>
      <p:sp>
        <p:nvSpPr>
          <p:cNvPr id="56" name="Shape 52"/>
          <p:cNvSpPr/>
          <p:nvPr/>
        </p:nvSpPr>
        <p:spPr>
          <a:xfrm>
            <a:off x="8215884" y="2651760"/>
            <a:ext cx="164592" cy="164592"/>
          </a:xfrm>
          <a:prstGeom prst="ellipse">
            <a:avLst/>
          </a:prstGeom>
          <a:solidFill>
            <a:srgbClr val="0E5C82"/>
          </a:solidFill>
          <a:ln/>
        </p:spPr>
      </p:sp>
      <p:sp>
        <p:nvSpPr>
          <p:cNvPr id="57" name="Text 53"/>
          <p:cNvSpPr/>
          <p:nvPr/>
        </p:nvSpPr>
        <p:spPr>
          <a:xfrm>
            <a:off x="8115953" y="2651760"/>
            <a:ext cx="364454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700" dirty="0"/>
          </a:p>
        </p:txBody>
      </p:sp>
      <p:sp>
        <p:nvSpPr>
          <p:cNvPr id="58" name="Text 54"/>
          <p:cNvSpPr/>
          <p:nvPr/>
        </p:nvSpPr>
        <p:spPr>
          <a:xfrm>
            <a:off x="8480407" y="2651760"/>
            <a:ext cx="364454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12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</a:t>
            </a:r>
            <a:endParaRPr lang="en-US" sz="700" dirty="0"/>
          </a:p>
        </p:txBody>
      </p:sp>
      <p:sp>
        <p:nvSpPr>
          <p:cNvPr id="59" name="Text 55"/>
          <p:cNvSpPr/>
          <p:nvPr/>
        </p:nvSpPr>
        <p:spPr>
          <a:xfrm>
            <a:off x="8844861" y="2651760"/>
            <a:ext cx="364454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12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</a:t>
            </a:r>
            <a:endParaRPr lang="en-US" sz="700" dirty="0"/>
          </a:p>
        </p:txBody>
      </p:sp>
      <p:sp>
        <p:nvSpPr>
          <p:cNvPr id="60" name="Text 56"/>
          <p:cNvSpPr/>
          <p:nvPr/>
        </p:nvSpPr>
        <p:spPr>
          <a:xfrm>
            <a:off x="9209314" y="2651760"/>
            <a:ext cx="364454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12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</a:t>
            </a:r>
            <a:endParaRPr lang="en-US" sz="700" dirty="0"/>
          </a:p>
        </p:txBody>
      </p:sp>
      <p:sp>
        <p:nvSpPr>
          <p:cNvPr id="61" name="Text 57"/>
          <p:cNvSpPr/>
          <p:nvPr/>
        </p:nvSpPr>
        <p:spPr>
          <a:xfrm>
            <a:off x="7022592" y="3072384"/>
            <a:ext cx="255117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1C7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SEPTEMBER</a:t>
            </a:r>
            <a:endParaRPr lang="en-US" sz="800" dirty="0"/>
          </a:p>
        </p:txBody>
      </p:sp>
      <p:sp>
        <p:nvSpPr>
          <p:cNvPr id="62" name="Shape 58"/>
          <p:cNvSpPr/>
          <p:nvPr/>
        </p:nvSpPr>
        <p:spPr>
          <a:xfrm>
            <a:off x="7022592" y="3291840"/>
            <a:ext cx="2551176" cy="530352"/>
          </a:xfrm>
          <a:prstGeom prst="roundRect">
            <a:avLst>
              <a:gd name="adj" fmla="val 12069"/>
            </a:avLst>
          </a:prstGeom>
          <a:solidFill>
            <a:srgbClr val="FFFFFF"/>
          </a:solidFill>
          <a:ln w="9525">
            <a:solidFill>
              <a:srgbClr val="E1EBF2"/>
            </a:solidFill>
            <a:prstDash val="solid"/>
          </a:ln>
          <a:effectLst>
            <a:outerShdw sx="100000" sy="100000" kx="0" ky="0" algn="bl" rotWithShape="0" blurRad="38100" dist="12700" dir="5400000">
              <a:srgbClr val="1F3864">
                <a:alpha val="6000"/>
              </a:srgbClr>
            </a:outerShdw>
          </a:effectLst>
        </p:spPr>
      </p:sp>
      <p:sp>
        <p:nvSpPr>
          <p:cNvPr id="63" name="Text 59"/>
          <p:cNvSpPr/>
          <p:nvPr/>
        </p:nvSpPr>
        <p:spPr>
          <a:xfrm>
            <a:off x="7150608" y="3355848"/>
            <a:ext cx="16733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2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Screw Press #02</a:t>
            </a:r>
            <a:endParaRPr lang="en-US" sz="950" dirty="0"/>
          </a:p>
        </p:txBody>
      </p:sp>
      <p:sp>
        <p:nvSpPr>
          <p:cNvPr id="64" name="Text 60"/>
          <p:cNvSpPr/>
          <p:nvPr/>
        </p:nvSpPr>
        <p:spPr>
          <a:xfrm>
            <a:off x="7150608" y="3566160"/>
            <a:ext cx="23134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Routine Inspection · 2 jam</a:t>
            </a:r>
            <a:endParaRPr lang="en-US" sz="800" dirty="0"/>
          </a:p>
        </p:txBody>
      </p:sp>
      <p:sp>
        <p:nvSpPr>
          <p:cNvPr id="65" name="Text 61"/>
          <p:cNvSpPr/>
          <p:nvPr/>
        </p:nvSpPr>
        <p:spPr>
          <a:xfrm>
            <a:off x="8860536" y="3291840"/>
            <a:ext cx="62179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1C7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Lihat</a:t>
            </a:r>
            <a:endParaRPr lang="en-US" sz="750" dirty="0"/>
          </a:p>
        </p:txBody>
      </p:sp>
      <p:sp>
        <p:nvSpPr>
          <p:cNvPr id="66" name="Shape 62"/>
          <p:cNvSpPr/>
          <p:nvPr/>
        </p:nvSpPr>
        <p:spPr>
          <a:xfrm>
            <a:off x="7022592" y="3913632"/>
            <a:ext cx="2551176" cy="347472"/>
          </a:xfrm>
          <a:prstGeom prst="roundRect">
            <a:avLst>
              <a:gd name="adj" fmla="val 21053"/>
            </a:avLst>
          </a:prstGeom>
          <a:solidFill>
            <a:srgbClr val="0A4A69"/>
          </a:solidFill>
          <a:ln w="15875">
            <a:solidFill>
              <a:srgbClr val="0A4A69"/>
            </a:solidFill>
            <a:prstDash val="solid"/>
          </a:ln>
        </p:spPr>
      </p:sp>
      <p:sp>
        <p:nvSpPr>
          <p:cNvPr id="67" name="Text 63"/>
          <p:cNvSpPr/>
          <p:nvPr/>
        </p:nvSpPr>
        <p:spPr>
          <a:xfrm>
            <a:off x="7022592" y="3913632"/>
            <a:ext cx="255117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Buat Jadwal Baru</a:t>
            </a:r>
            <a:endParaRPr lang="en-US" sz="950" dirty="0"/>
          </a:p>
        </p:txBody>
      </p:sp>
      <p:sp>
        <p:nvSpPr>
          <p:cNvPr id="68" name="Shape 64"/>
          <p:cNvSpPr/>
          <p:nvPr/>
        </p:nvSpPr>
        <p:spPr>
          <a:xfrm>
            <a:off x="6949440" y="5888736"/>
            <a:ext cx="2697480" cy="51206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9" name="Shape 65"/>
          <p:cNvSpPr/>
          <p:nvPr/>
        </p:nvSpPr>
        <p:spPr>
          <a:xfrm>
            <a:off x="6949440" y="5888736"/>
            <a:ext cx="2697480" cy="0"/>
          </a:xfrm>
          <a:prstGeom prst="line">
            <a:avLst/>
          </a:prstGeom>
          <a:noFill/>
          <a:ln w="12700">
            <a:solidFill>
              <a:srgbClr val="E1EBF2"/>
            </a:solidFill>
            <a:prstDash val="solid"/>
          </a:ln>
        </p:spPr>
      </p:sp>
      <p:pic>
        <p:nvPicPr>
          <p:cNvPr id="70" name="Image 2" descr="/home/claude/palmcare-analysis/icons/dashboard_gra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6892" y="5980176"/>
            <a:ext cx="164592" cy="164592"/>
          </a:xfrm>
          <a:prstGeom prst="rect">
            <a:avLst/>
          </a:prstGeom>
        </p:spPr>
      </p:pic>
      <p:sp>
        <p:nvSpPr>
          <p:cNvPr id="71" name="Text 66"/>
          <p:cNvSpPr/>
          <p:nvPr/>
        </p:nvSpPr>
        <p:spPr>
          <a:xfrm>
            <a:off x="6949440" y="6236208"/>
            <a:ext cx="5394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5B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</a:t>
            </a:r>
            <a:endParaRPr lang="en-US" sz="650" dirty="0"/>
          </a:p>
        </p:txBody>
      </p:sp>
      <p:sp>
        <p:nvSpPr>
          <p:cNvPr id="72" name="Shape 67"/>
          <p:cNvSpPr/>
          <p:nvPr/>
        </p:nvSpPr>
        <p:spPr>
          <a:xfrm>
            <a:off x="7612380" y="5943600"/>
            <a:ext cx="292608" cy="292608"/>
          </a:xfrm>
          <a:prstGeom prst="roundRect">
            <a:avLst>
              <a:gd name="adj" fmla="val 25000"/>
            </a:avLst>
          </a:prstGeom>
          <a:solidFill>
            <a:srgbClr val="DCEAF3"/>
          </a:solidFill>
          <a:ln/>
        </p:spPr>
      </p:sp>
      <p:pic>
        <p:nvPicPr>
          <p:cNvPr id="73" name="Image 3" descr="/home/claude/palmcare-analysis/icons/workorder_navy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76388" y="5980176"/>
            <a:ext cx="164592" cy="164592"/>
          </a:xfrm>
          <a:prstGeom prst="rect">
            <a:avLst/>
          </a:prstGeom>
        </p:spPr>
      </p:pic>
      <p:sp>
        <p:nvSpPr>
          <p:cNvPr id="74" name="Text 68"/>
          <p:cNvSpPr/>
          <p:nvPr/>
        </p:nvSpPr>
        <p:spPr>
          <a:xfrm>
            <a:off x="7488936" y="6236208"/>
            <a:ext cx="5394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0A4A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Maint.</a:t>
            </a:r>
            <a:endParaRPr lang="en-US" sz="650" dirty="0"/>
          </a:p>
        </p:txBody>
      </p:sp>
      <p:pic>
        <p:nvPicPr>
          <p:cNvPr id="75" name="Image 4" descr="/home/claude/palmcare-analysis/icons/tools_gray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15884" y="5980176"/>
            <a:ext cx="164592" cy="164592"/>
          </a:xfrm>
          <a:prstGeom prst="rect">
            <a:avLst/>
          </a:prstGeom>
        </p:spPr>
      </p:pic>
      <p:sp>
        <p:nvSpPr>
          <p:cNvPr id="76" name="Text 69"/>
          <p:cNvSpPr/>
          <p:nvPr/>
        </p:nvSpPr>
        <p:spPr>
          <a:xfrm>
            <a:off x="8028432" y="6236208"/>
            <a:ext cx="5394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5B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Equip.</a:t>
            </a:r>
            <a:endParaRPr lang="en-US" sz="650" dirty="0"/>
          </a:p>
        </p:txBody>
      </p:sp>
      <p:pic>
        <p:nvPicPr>
          <p:cNvPr id="77" name="Image 5" descr="/home/claude/palmcare-analysis/icons/bell_gray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755380" y="5980176"/>
            <a:ext cx="164592" cy="164592"/>
          </a:xfrm>
          <a:prstGeom prst="rect">
            <a:avLst/>
          </a:prstGeom>
        </p:spPr>
      </p:pic>
      <p:sp>
        <p:nvSpPr>
          <p:cNvPr id="78" name="Text 70"/>
          <p:cNvSpPr/>
          <p:nvPr/>
        </p:nvSpPr>
        <p:spPr>
          <a:xfrm>
            <a:off x="8567928" y="6236208"/>
            <a:ext cx="5394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5B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Notif.</a:t>
            </a:r>
            <a:endParaRPr lang="en-US" sz="650" dirty="0"/>
          </a:p>
        </p:txBody>
      </p:sp>
      <p:pic>
        <p:nvPicPr>
          <p:cNvPr id="79" name="Image 6" descr="/home/claude/palmcare-analysis/icons/profile_gray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294876" y="5980176"/>
            <a:ext cx="164592" cy="164592"/>
          </a:xfrm>
          <a:prstGeom prst="rect">
            <a:avLst/>
          </a:prstGeom>
        </p:spPr>
      </p:pic>
      <p:sp>
        <p:nvSpPr>
          <p:cNvPr id="80" name="Text 71"/>
          <p:cNvSpPr/>
          <p:nvPr/>
        </p:nvSpPr>
        <p:spPr>
          <a:xfrm>
            <a:off x="9107424" y="6236208"/>
            <a:ext cx="5394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5B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</a:t>
            </a:r>
            <a:endParaRPr lang="en-US" sz="650" dirty="0"/>
          </a:p>
        </p:txBody>
      </p:sp>
      <p:sp>
        <p:nvSpPr>
          <p:cNvPr id="81" name="Text 72"/>
          <p:cNvSpPr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PalmCare — Mockup UI</a:t>
            </a:r>
            <a:endParaRPr lang="en-US" sz="900" dirty="0"/>
          </a:p>
        </p:txBody>
      </p:sp>
      <p:sp>
        <p:nvSpPr>
          <p:cNvPr id="82" name="Text 73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1C7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SUPERVISOR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229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Work Order (Buat &amp; Assign)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1C7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ANOTASI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48640" y="1764792"/>
            <a:ext cx="82296" cy="82296"/>
          </a:xfrm>
          <a:prstGeom prst="ellipse">
            <a:avLst/>
          </a:prstGeom>
          <a:solidFill>
            <a:srgbClr val="0A4A69"/>
          </a:solidFill>
          <a:ln/>
        </p:spPr>
      </p:sp>
      <p:sp>
        <p:nvSpPr>
          <p:cNvPr id="6" name="Text 4"/>
          <p:cNvSpPr/>
          <p:nvPr/>
        </p:nvSpPr>
        <p:spPr>
          <a:xfrm>
            <a:off x="749808" y="1682496"/>
            <a:ext cx="4572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just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2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 pembuatan work order: pemilihan equipment, tipe (preventive/breakdown), dan prioritas.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548640" y="2368296"/>
            <a:ext cx="82296" cy="82296"/>
          </a:xfrm>
          <a:prstGeom prst="ellipse">
            <a:avLst/>
          </a:prstGeom>
          <a:solidFill>
            <a:srgbClr val="0A4A69"/>
          </a:solidFill>
          <a:ln/>
        </p:spPr>
      </p:sp>
      <p:sp>
        <p:nvSpPr>
          <p:cNvPr id="8" name="Text 6"/>
          <p:cNvSpPr/>
          <p:nvPr/>
        </p:nvSpPr>
        <p:spPr>
          <a:xfrm>
            <a:off x="749808" y="2286000"/>
            <a:ext cx="4572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just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2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Dropdown assign Technician — menampilkan daftar teknisi yang tersedia.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548640" y="2971800"/>
            <a:ext cx="82296" cy="82296"/>
          </a:xfrm>
          <a:prstGeom prst="ellipse">
            <a:avLst/>
          </a:prstGeom>
          <a:solidFill>
            <a:srgbClr val="0A4A69"/>
          </a:solidFill>
          <a:ln/>
        </p:spPr>
      </p:sp>
      <p:sp>
        <p:nvSpPr>
          <p:cNvPr id="10" name="Text 8"/>
          <p:cNvSpPr/>
          <p:nvPr/>
        </p:nvSpPr>
        <p:spPr>
          <a:xfrm>
            <a:off x="749808" y="2889504"/>
            <a:ext cx="4572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just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2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Setelah disimpan, Technician yang dipilih akan menerima notifikasi tugas baru.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6903720" y="502920"/>
            <a:ext cx="2788920" cy="5989320"/>
          </a:xfrm>
          <a:prstGeom prst="roundRect">
            <a:avLst>
              <a:gd name="adj" fmla="val 7213"/>
            </a:avLst>
          </a:prstGeom>
          <a:solidFill>
            <a:srgbClr val="12293D"/>
          </a:solidFill>
          <a:ln/>
          <a:effectLst>
            <a:outerShdw sx="100000" sy="100000" kx="0" ky="0" algn="bl" rotWithShape="0" blurRad="127000" dist="50800" dir="5400000">
              <a:srgbClr val="0A4A69">
                <a:alpha val="3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949440" y="548640"/>
            <a:ext cx="2697480" cy="5897880"/>
          </a:xfrm>
          <a:prstGeom prst="roundRect">
            <a:avLst>
              <a:gd name="adj" fmla="val 6102"/>
            </a:avLst>
          </a:prstGeom>
          <a:solidFill>
            <a:srgbClr val="F6F9FB"/>
          </a:solidFill>
          <a:ln/>
        </p:spPr>
      </p:sp>
      <p:sp>
        <p:nvSpPr>
          <p:cNvPr id="13" name="Text 11"/>
          <p:cNvSpPr/>
          <p:nvPr/>
        </p:nvSpPr>
        <p:spPr>
          <a:xfrm>
            <a:off x="7068312" y="594360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2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9:41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9272016" y="630936"/>
            <a:ext cx="274320" cy="118872"/>
          </a:xfrm>
          <a:prstGeom prst="roundRect">
            <a:avLst>
              <a:gd name="adj" fmla="val 23077"/>
            </a:avLst>
          </a:prstGeom>
          <a:noFill/>
          <a:ln w="9525">
            <a:solidFill>
              <a:srgbClr val="12293D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022592" y="832104"/>
            <a:ext cx="2551176" cy="420624"/>
          </a:xfrm>
          <a:prstGeom prst="rect">
            <a:avLst/>
          </a:prstGeom>
          <a:solidFill>
            <a:srgbClr val="0A4A69"/>
          </a:solidFill>
          <a:ln/>
        </p:spPr>
      </p:sp>
      <p:pic>
        <p:nvPicPr>
          <p:cNvPr id="16" name="Image 0" descr="/home/claude/palmcare-analysis/icons/history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32320" y="950976"/>
            <a:ext cx="182880" cy="182880"/>
          </a:xfrm>
          <a:prstGeom prst="rect">
            <a:avLst/>
          </a:prstGeom>
        </p:spPr>
      </p:pic>
      <p:sp>
        <p:nvSpPr>
          <p:cNvPr id="17" name="Text 14"/>
          <p:cNvSpPr/>
          <p:nvPr/>
        </p:nvSpPr>
        <p:spPr>
          <a:xfrm>
            <a:off x="7351776" y="832104"/>
            <a:ext cx="191109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 Order Baru</a:t>
            </a:r>
            <a:endParaRPr lang="en-US" sz="1250" dirty="0"/>
          </a:p>
        </p:txBody>
      </p:sp>
      <p:sp>
        <p:nvSpPr>
          <p:cNvPr id="18" name="Text 15"/>
          <p:cNvSpPr/>
          <p:nvPr/>
        </p:nvSpPr>
        <p:spPr>
          <a:xfrm>
            <a:off x="7022592" y="1344168"/>
            <a:ext cx="255117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B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Equipment</a:t>
            </a:r>
            <a:endParaRPr lang="en-US" sz="750" dirty="0"/>
          </a:p>
        </p:txBody>
      </p:sp>
      <p:sp>
        <p:nvSpPr>
          <p:cNvPr id="19" name="Shape 16"/>
          <p:cNvSpPr/>
          <p:nvPr/>
        </p:nvSpPr>
        <p:spPr>
          <a:xfrm>
            <a:off x="7022592" y="1517904"/>
            <a:ext cx="2551176" cy="292608"/>
          </a:xfrm>
          <a:prstGeom prst="roundRect">
            <a:avLst>
              <a:gd name="adj" fmla="val 18750"/>
            </a:avLst>
          </a:prstGeom>
          <a:solidFill>
            <a:srgbClr val="FFFFFF"/>
          </a:solidFill>
          <a:ln w="12700">
            <a:solidFill>
              <a:srgbClr val="E1EBF2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7114032" y="1517904"/>
            <a:ext cx="23682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2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Screw Press #02</a:t>
            </a:r>
            <a:endParaRPr lang="en-US" sz="850" dirty="0"/>
          </a:p>
        </p:txBody>
      </p:sp>
      <p:sp>
        <p:nvSpPr>
          <p:cNvPr id="21" name="Text 18"/>
          <p:cNvSpPr/>
          <p:nvPr/>
        </p:nvSpPr>
        <p:spPr>
          <a:xfrm>
            <a:off x="7022592" y="1901952"/>
            <a:ext cx="255117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B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Tipe</a:t>
            </a:r>
            <a:endParaRPr lang="en-US" sz="750" dirty="0"/>
          </a:p>
        </p:txBody>
      </p:sp>
      <p:sp>
        <p:nvSpPr>
          <p:cNvPr id="22" name="Shape 19"/>
          <p:cNvSpPr/>
          <p:nvPr/>
        </p:nvSpPr>
        <p:spPr>
          <a:xfrm>
            <a:off x="7022592" y="2075688"/>
            <a:ext cx="2551176" cy="292608"/>
          </a:xfrm>
          <a:prstGeom prst="roundRect">
            <a:avLst>
              <a:gd name="adj" fmla="val 18750"/>
            </a:avLst>
          </a:prstGeom>
          <a:solidFill>
            <a:srgbClr val="FFFFFF"/>
          </a:solidFill>
          <a:ln w="12700">
            <a:solidFill>
              <a:srgbClr val="E1EBF2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7114032" y="2075688"/>
            <a:ext cx="23682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2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Preventive Maintenance</a:t>
            </a:r>
            <a:endParaRPr lang="en-US" sz="850" dirty="0"/>
          </a:p>
        </p:txBody>
      </p:sp>
      <p:sp>
        <p:nvSpPr>
          <p:cNvPr id="24" name="Text 21"/>
          <p:cNvSpPr/>
          <p:nvPr/>
        </p:nvSpPr>
        <p:spPr>
          <a:xfrm>
            <a:off x="7022592" y="2459736"/>
            <a:ext cx="255117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B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Prioritas</a:t>
            </a:r>
            <a:endParaRPr lang="en-US" sz="750" dirty="0"/>
          </a:p>
        </p:txBody>
      </p:sp>
      <p:sp>
        <p:nvSpPr>
          <p:cNvPr id="25" name="Shape 22"/>
          <p:cNvSpPr/>
          <p:nvPr/>
        </p:nvSpPr>
        <p:spPr>
          <a:xfrm>
            <a:off x="7022592" y="2633472"/>
            <a:ext cx="2551176" cy="292608"/>
          </a:xfrm>
          <a:prstGeom prst="roundRect">
            <a:avLst>
              <a:gd name="adj" fmla="val 18750"/>
            </a:avLst>
          </a:prstGeom>
          <a:solidFill>
            <a:srgbClr val="FFFFFF"/>
          </a:solidFill>
          <a:ln w="12700">
            <a:solidFill>
              <a:srgbClr val="E1EBF2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7114032" y="2633472"/>
            <a:ext cx="23682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2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850" dirty="0"/>
          </a:p>
        </p:txBody>
      </p:sp>
      <p:sp>
        <p:nvSpPr>
          <p:cNvPr id="27" name="Text 24"/>
          <p:cNvSpPr/>
          <p:nvPr/>
        </p:nvSpPr>
        <p:spPr>
          <a:xfrm>
            <a:off x="7022592" y="3017520"/>
            <a:ext cx="255117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B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 Technician</a:t>
            </a:r>
            <a:endParaRPr lang="en-US" sz="750" dirty="0"/>
          </a:p>
        </p:txBody>
      </p:sp>
      <p:sp>
        <p:nvSpPr>
          <p:cNvPr id="28" name="Shape 25"/>
          <p:cNvSpPr/>
          <p:nvPr/>
        </p:nvSpPr>
        <p:spPr>
          <a:xfrm>
            <a:off x="7022592" y="3191256"/>
            <a:ext cx="2551176" cy="292608"/>
          </a:xfrm>
          <a:prstGeom prst="roundRect">
            <a:avLst>
              <a:gd name="adj" fmla="val 18750"/>
            </a:avLst>
          </a:prstGeom>
          <a:solidFill>
            <a:srgbClr val="FFFFFF"/>
          </a:solidFill>
          <a:ln w="12700">
            <a:solidFill>
              <a:srgbClr val="E1EBF2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7114032" y="3191256"/>
            <a:ext cx="23682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2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Andi</a:t>
            </a:r>
            <a:endParaRPr lang="en-US" sz="850" dirty="0"/>
          </a:p>
        </p:txBody>
      </p:sp>
      <p:sp>
        <p:nvSpPr>
          <p:cNvPr id="30" name="Text 27"/>
          <p:cNvSpPr/>
          <p:nvPr/>
        </p:nvSpPr>
        <p:spPr>
          <a:xfrm>
            <a:off x="7022592" y="3575304"/>
            <a:ext cx="255117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B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Jadwal</a:t>
            </a:r>
            <a:endParaRPr lang="en-US" sz="750" dirty="0"/>
          </a:p>
        </p:txBody>
      </p:sp>
      <p:sp>
        <p:nvSpPr>
          <p:cNvPr id="31" name="Shape 28"/>
          <p:cNvSpPr/>
          <p:nvPr/>
        </p:nvSpPr>
        <p:spPr>
          <a:xfrm>
            <a:off x="7022592" y="3749040"/>
            <a:ext cx="2551176" cy="292608"/>
          </a:xfrm>
          <a:prstGeom prst="roundRect">
            <a:avLst>
              <a:gd name="adj" fmla="val 18750"/>
            </a:avLst>
          </a:prstGeom>
          <a:solidFill>
            <a:srgbClr val="FFFFFF"/>
          </a:solidFill>
          <a:ln w="12700">
            <a:solidFill>
              <a:srgbClr val="E1EBF2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7114032" y="3749040"/>
            <a:ext cx="23682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2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Sep 2026</a:t>
            </a:r>
            <a:endParaRPr lang="en-US" sz="850" dirty="0"/>
          </a:p>
        </p:txBody>
      </p:sp>
      <p:sp>
        <p:nvSpPr>
          <p:cNvPr id="33" name="Shape 30"/>
          <p:cNvSpPr/>
          <p:nvPr/>
        </p:nvSpPr>
        <p:spPr>
          <a:xfrm>
            <a:off x="7022592" y="4133088"/>
            <a:ext cx="2551176" cy="347472"/>
          </a:xfrm>
          <a:prstGeom prst="roundRect">
            <a:avLst>
              <a:gd name="adj" fmla="val 21053"/>
            </a:avLst>
          </a:prstGeom>
          <a:solidFill>
            <a:srgbClr val="0A4A69"/>
          </a:solidFill>
          <a:ln w="15875">
            <a:solidFill>
              <a:srgbClr val="0A4A69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7022592" y="4133088"/>
            <a:ext cx="255117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Simpan &amp; Assign</a:t>
            </a:r>
            <a:endParaRPr lang="en-US" sz="950" dirty="0"/>
          </a:p>
        </p:txBody>
      </p:sp>
      <p:sp>
        <p:nvSpPr>
          <p:cNvPr id="35" name="Shape 32"/>
          <p:cNvSpPr/>
          <p:nvPr/>
        </p:nvSpPr>
        <p:spPr>
          <a:xfrm>
            <a:off x="6949440" y="5888736"/>
            <a:ext cx="2697480" cy="51206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6" name="Shape 33"/>
          <p:cNvSpPr/>
          <p:nvPr/>
        </p:nvSpPr>
        <p:spPr>
          <a:xfrm>
            <a:off x="6949440" y="5888736"/>
            <a:ext cx="2697480" cy="0"/>
          </a:xfrm>
          <a:prstGeom prst="line">
            <a:avLst/>
          </a:prstGeom>
          <a:noFill/>
          <a:ln w="12700">
            <a:solidFill>
              <a:srgbClr val="E1EBF2"/>
            </a:solidFill>
            <a:prstDash val="solid"/>
          </a:ln>
        </p:spPr>
      </p:sp>
      <p:pic>
        <p:nvPicPr>
          <p:cNvPr id="37" name="Image 1" descr="/home/claude/palmcare-analysis/icons/dashboard_gray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6892" y="5980176"/>
            <a:ext cx="164592" cy="164592"/>
          </a:xfrm>
          <a:prstGeom prst="rect">
            <a:avLst/>
          </a:prstGeom>
        </p:spPr>
      </p:pic>
      <p:sp>
        <p:nvSpPr>
          <p:cNvPr id="38" name="Text 34"/>
          <p:cNvSpPr/>
          <p:nvPr/>
        </p:nvSpPr>
        <p:spPr>
          <a:xfrm>
            <a:off x="6949440" y="6236208"/>
            <a:ext cx="5394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5B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</a:t>
            </a:r>
            <a:endParaRPr lang="en-US" sz="650" dirty="0"/>
          </a:p>
        </p:txBody>
      </p:sp>
      <p:sp>
        <p:nvSpPr>
          <p:cNvPr id="39" name="Shape 35"/>
          <p:cNvSpPr/>
          <p:nvPr/>
        </p:nvSpPr>
        <p:spPr>
          <a:xfrm>
            <a:off x="7612380" y="5943600"/>
            <a:ext cx="292608" cy="292608"/>
          </a:xfrm>
          <a:prstGeom prst="roundRect">
            <a:avLst>
              <a:gd name="adj" fmla="val 25000"/>
            </a:avLst>
          </a:prstGeom>
          <a:solidFill>
            <a:srgbClr val="DCEAF3"/>
          </a:solidFill>
          <a:ln/>
        </p:spPr>
      </p:sp>
      <p:pic>
        <p:nvPicPr>
          <p:cNvPr id="40" name="Image 2" descr="/home/claude/palmcare-analysis/icons/workorder_nav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76388" y="5980176"/>
            <a:ext cx="164592" cy="164592"/>
          </a:xfrm>
          <a:prstGeom prst="rect">
            <a:avLst/>
          </a:prstGeom>
        </p:spPr>
      </p:pic>
      <p:sp>
        <p:nvSpPr>
          <p:cNvPr id="41" name="Text 36"/>
          <p:cNvSpPr/>
          <p:nvPr/>
        </p:nvSpPr>
        <p:spPr>
          <a:xfrm>
            <a:off x="7488936" y="6236208"/>
            <a:ext cx="5394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0A4A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Maint.</a:t>
            </a:r>
            <a:endParaRPr lang="en-US" sz="650" dirty="0"/>
          </a:p>
        </p:txBody>
      </p:sp>
      <p:pic>
        <p:nvPicPr>
          <p:cNvPr id="42" name="Image 3" descr="/home/claude/palmcare-analysis/icons/tools_gray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15884" y="5980176"/>
            <a:ext cx="164592" cy="164592"/>
          </a:xfrm>
          <a:prstGeom prst="rect">
            <a:avLst/>
          </a:prstGeom>
        </p:spPr>
      </p:pic>
      <p:sp>
        <p:nvSpPr>
          <p:cNvPr id="43" name="Text 37"/>
          <p:cNvSpPr/>
          <p:nvPr/>
        </p:nvSpPr>
        <p:spPr>
          <a:xfrm>
            <a:off x="8028432" y="6236208"/>
            <a:ext cx="5394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5B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Equip.</a:t>
            </a:r>
            <a:endParaRPr lang="en-US" sz="650" dirty="0"/>
          </a:p>
        </p:txBody>
      </p:sp>
      <p:pic>
        <p:nvPicPr>
          <p:cNvPr id="44" name="Image 4" descr="/home/claude/palmcare-analysis/icons/bell_gray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55380" y="5980176"/>
            <a:ext cx="164592" cy="164592"/>
          </a:xfrm>
          <a:prstGeom prst="rect">
            <a:avLst/>
          </a:prstGeom>
        </p:spPr>
      </p:pic>
      <p:sp>
        <p:nvSpPr>
          <p:cNvPr id="45" name="Text 38"/>
          <p:cNvSpPr/>
          <p:nvPr/>
        </p:nvSpPr>
        <p:spPr>
          <a:xfrm>
            <a:off x="8567928" y="6236208"/>
            <a:ext cx="5394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5B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Notif.</a:t>
            </a:r>
            <a:endParaRPr lang="en-US" sz="650" dirty="0"/>
          </a:p>
        </p:txBody>
      </p:sp>
      <p:pic>
        <p:nvPicPr>
          <p:cNvPr id="46" name="Image 5" descr="/home/claude/palmcare-analysis/icons/profile_gray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294876" y="5980176"/>
            <a:ext cx="164592" cy="164592"/>
          </a:xfrm>
          <a:prstGeom prst="rect">
            <a:avLst/>
          </a:prstGeom>
        </p:spPr>
      </p:pic>
      <p:sp>
        <p:nvSpPr>
          <p:cNvPr id="47" name="Text 39"/>
          <p:cNvSpPr/>
          <p:nvPr/>
        </p:nvSpPr>
        <p:spPr>
          <a:xfrm>
            <a:off x="9107424" y="6236208"/>
            <a:ext cx="5394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5B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</a:t>
            </a:r>
            <a:endParaRPr lang="en-US" sz="650" dirty="0"/>
          </a:p>
        </p:txBody>
      </p:sp>
      <p:sp>
        <p:nvSpPr>
          <p:cNvPr id="48" name="Text 40"/>
          <p:cNvSpPr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PalmCare — Mockup UI</a:t>
            </a:r>
            <a:endParaRPr lang="en-US" sz="900" dirty="0"/>
          </a:p>
        </p:txBody>
      </p:sp>
      <p:sp>
        <p:nvSpPr>
          <p:cNvPr id="49" name="Text 41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1C7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SUPERVISOR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229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Verifikasi Hasil Kerja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1C7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ANOTASI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48640" y="1764792"/>
            <a:ext cx="82296" cy="82296"/>
          </a:xfrm>
          <a:prstGeom prst="ellipse">
            <a:avLst/>
          </a:prstGeom>
          <a:solidFill>
            <a:srgbClr val="0A4A69"/>
          </a:solidFill>
          <a:ln/>
        </p:spPr>
      </p:sp>
      <p:sp>
        <p:nvSpPr>
          <p:cNvPr id="6" name="Text 4"/>
          <p:cNvSpPr/>
          <p:nvPr/>
        </p:nvSpPr>
        <p:spPr>
          <a:xfrm>
            <a:off x="749808" y="1682496"/>
            <a:ext cx="4572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just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2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Menampilkan ringkasan checklist, evidence (foto), dan catatan yang disubmit Technician.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548640" y="2368296"/>
            <a:ext cx="82296" cy="82296"/>
          </a:xfrm>
          <a:prstGeom prst="ellipse">
            <a:avLst/>
          </a:prstGeom>
          <a:solidFill>
            <a:srgbClr val="0A4A69"/>
          </a:solidFill>
          <a:ln/>
        </p:spPr>
      </p:sp>
      <p:sp>
        <p:nvSpPr>
          <p:cNvPr id="8" name="Text 6"/>
          <p:cNvSpPr/>
          <p:nvPr/>
        </p:nvSpPr>
        <p:spPr>
          <a:xfrm>
            <a:off x="749808" y="22860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just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2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Supervisor meninjau kelengkapan sebelum memutuskan.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548640" y="2770632"/>
            <a:ext cx="82296" cy="82296"/>
          </a:xfrm>
          <a:prstGeom prst="ellipse">
            <a:avLst/>
          </a:prstGeom>
          <a:solidFill>
            <a:srgbClr val="0A4A69"/>
          </a:solidFill>
          <a:ln/>
        </p:spPr>
      </p:sp>
      <p:sp>
        <p:nvSpPr>
          <p:cNvPr id="10" name="Text 8"/>
          <p:cNvSpPr/>
          <p:nvPr/>
        </p:nvSpPr>
        <p:spPr>
          <a:xfrm>
            <a:off x="749808" y="2688336"/>
            <a:ext cx="4572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just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2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Dua aksi utama: Approve (pekerjaan ditutup) atau Reject (dikembalikan ke Technician dengan alasan).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6903720" y="502920"/>
            <a:ext cx="2788920" cy="5989320"/>
          </a:xfrm>
          <a:prstGeom prst="roundRect">
            <a:avLst>
              <a:gd name="adj" fmla="val 7213"/>
            </a:avLst>
          </a:prstGeom>
          <a:solidFill>
            <a:srgbClr val="12293D"/>
          </a:solidFill>
          <a:ln/>
          <a:effectLst>
            <a:outerShdw sx="100000" sy="100000" kx="0" ky="0" algn="bl" rotWithShape="0" blurRad="127000" dist="50800" dir="5400000">
              <a:srgbClr val="0A4A69">
                <a:alpha val="3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949440" y="548640"/>
            <a:ext cx="2697480" cy="5897880"/>
          </a:xfrm>
          <a:prstGeom prst="roundRect">
            <a:avLst>
              <a:gd name="adj" fmla="val 6102"/>
            </a:avLst>
          </a:prstGeom>
          <a:solidFill>
            <a:srgbClr val="F6F9FB"/>
          </a:solidFill>
          <a:ln/>
        </p:spPr>
      </p:sp>
      <p:sp>
        <p:nvSpPr>
          <p:cNvPr id="13" name="Text 11"/>
          <p:cNvSpPr/>
          <p:nvPr/>
        </p:nvSpPr>
        <p:spPr>
          <a:xfrm>
            <a:off x="7068312" y="594360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2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9:41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9272016" y="630936"/>
            <a:ext cx="274320" cy="118872"/>
          </a:xfrm>
          <a:prstGeom prst="roundRect">
            <a:avLst>
              <a:gd name="adj" fmla="val 23077"/>
            </a:avLst>
          </a:prstGeom>
          <a:noFill/>
          <a:ln w="9525">
            <a:solidFill>
              <a:srgbClr val="12293D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022592" y="832104"/>
            <a:ext cx="2551176" cy="420624"/>
          </a:xfrm>
          <a:prstGeom prst="rect">
            <a:avLst/>
          </a:prstGeom>
          <a:solidFill>
            <a:srgbClr val="0A4A69"/>
          </a:solidFill>
          <a:ln/>
        </p:spPr>
      </p:sp>
      <p:pic>
        <p:nvPicPr>
          <p:cNvPr id="16" name="Image 0" descr="/home/claude/palmcare-analysis/icons/history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32320" y="950976"/>
            <a:ext cx="182880" cy="182880"/>
          </a:xfrm>
          <a:prstGeom prst="rect">
            <a:avLst/>
          </a:prstGeom>
        </p:spPr>
      </p:pic>
      <p:sp>
        <p:nvSpPr>
          <p:cNvPr id="17" name="Text 14"/>
          <p:cNvSpPr/>
          <p:nvPr/>
        </p:nvSpPr>
        <p:spPr>
          <a:xfrm>
            <a:off x="7351776" y="832104"/>
            <a:ext cx="191109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Verifikasi</a:t>
            </a:r>
            <a:endParaRPr lang="en-US" sz="1250" dirty="0"/>
          </a:p>
        </p:txBody>
      </p:sp>
      <p:sp>
        <p:nvSpPr>
          <p:cNvPr id="18" name="Text 15"/>
          <p:cNvSpPr/>
          <p:nvPr/>
        </p:nvSpPr>
        <p:spPr>
          <a:xfrm>
            <a:off x="7022592" y="1344168"/>
            <a:ext cx="255117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1C7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WO-2026-00921 · SCREW PRESS #02</a:t>
            </a:r>
            <a:endParaRPr lang="en-US" sz="800" dirty="0"/>
          </a:p>
        </p:txBody>
      </p:sp>
      <p:sp>
        <p:nvSpPr>
          <p:cNvPr id="19" name="Shape 16"/>
          <p:cNvSpPr/>
          <p:nvPr/>
        </p:nvSpPr>
        <p:spPr>
          <a:xfrm>
            <a:off x="7022592" y="1563624"/>
            <a:ext cx="2551176" cy="685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1EBF2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7022592" y="1563624"/>
            <a:ext cx="2551176" cy="228600"/>
          </a:xfrm>
          <a:prstGeom prst="rect">
            <a:avLst/>
          </a:prstGeom>
          <a:solidFill>
            <a:srgbClr val="DCEAF3"/>
          </a:solidFill>
          <a:ln/>
        </p:spPr>
      </p:sp>
      <p:sp>
        <p:nvSpPr>
          <p:cNvPr id="21" name="Text 18"/>
          <p:cNvSpPr/>
          <p:nvPr/>
        </p:nvSpPr>
        <p:spPr>
          <a:xfrm>
            <a:off x="7077456" y="1563624"/>
            <a:ext cx="120243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0A4A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Checklist</a:t>
            </a:r>
            <a:endParaRPr lang="en-US" sz="700" dirty="0"/>
          </a:p>
        </p:txBody>
      </p:sp>
      <p:sp>
        <p:nvSpPr>
          <p:cNvPr id="22" name="Text 19"/>
          <p:cNvSpPr/>
          <p:nvPr/>
        </p:nvSpPr>
        <p:spPr>
          <a:xfrm>
            <a:off x="8353044" y="1563624"/>
            <a:ext cx="120243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0A4A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5/5 Selesai</a:t>
            </a:r>
            <a:endParaRPr lang="en-US" sz="700" dirty="0"/>
          </a:p>
        </p:txBody>
      </p:sp>
      <p:sp>
        <p:nvSpPr>
          <p:cNvPr id="23" name="Text 20"/>
          <p:cNvSpPr/>
          <p:nvPr/>
        </p:nvSpPr>
        <p:spPr>
          <a:xfrm>
            <a:off x="7077456" y="1792224"/>
            <a:ext cx="120243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2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</a:t>
            </a:r>
            <a:endParaRPr lang="en-US" sz="700" dirty="0"/>
          </a:p>
        </p:txBody>
      </p:sp>
      <p:sp>
        <p:nvSpPr>
          <p:cNvPr id="24" name="Text 21"/>
          <p:cNvSpPr/>
          <p:nvPr/>
        </p:nvSpPr>
        <p:spPr>
          <a:xfrm>
            <a:off x="8353044" y="1792224"/>
            <a:ext cx="120243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2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Foto</a:t>
            </a:r>
            <a:endParaRPr lang="en-US" sz="700" dirty="0"/>
          </a:p>
        </p:txBody>
      </p:sp>
      <p:sp>
        <p:nvSpPr>
          <p:cNvPr id="25" name="Text 22"/>
          <p:cNvSpPr/>
          <p:nvPr/>
        </p:nvSpPr>
        <p:spPr>
          <a:xfrm>
            <a:off x="7077456" y="2020824"/>
            <a:ext cx="120243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2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Technician</a:t>
            </a:r>
            <a:endParaRPr lang="en-US" sz="700" dirty="0"/>
          </a:p>
        </p:txBody>
      </p:sp>
      <p:sp>
        <p:nvSpPr>
          <p:cNvPr id="26" name="Text 23"/>
          <p:cNvSpPr/>
          <p:nvPr/>
        </p:nvSpPr>
        <p:spPr>
          <a:xfrm>
            <a:off x="8353044" y="2020824"/>
            <a:ext cx="120243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2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Andi</a:t>
            </a:r>
            <a:endParaRPr lang="en-US" sz="700" dirty="0"/>
          </a:p>
        </p:txBody>
      </p:sp>
      <p:sp>
        <p:nvSpPr>
          <p:cNvPr id="27" name="Shape 24"/>
          <p:cNvSpPr/>
          <p:nvPr/>
        </p:nvSpPr>
        <p:spPr>
          <a:xfrm>
            <a:off x="7022592" y="2340864"/>
            <a:ext cx="2551176" cy="685800"/>
          </a:xfrm>
          <a:prstGeom prst="roundRect">
            <a:avLst>
              <a:gd name="adj" fmla="val 9333"/>
            </a:avLst>
          </a:prstGeom>
          <a:solidFill>
            <a:srgbClr val="DCEAF3"/>
          </a:solidFill>
          <a:ln w="9525">
            <a:solidFill>
              <a:srgbClr val="1C7FB0"/>
            </a:solidFill>
            <a:prstDash val="dash"/>
          </a:ln>
        </p:spPr>
      </p:sp>
      <p:pic>
        <p:nvPicPr>
          <p:cNvPr id="28" name="Image 1" descr="/home/claude/palmcare-analysis/icons/folder_navy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51876" y="2427732"/>
            <a:ext cx="292608" cy="292608"/>
          </a:xfrm>
          <a:prstGeom prst="rect">
            <a:avLst/>
          </a:prstGeom>
        </p:spPr>
      </p:pic>
      <p:sp>
        <p:nvSpPr>
          <p:cNvPr id="29" name="Text 25"/>
          <p:cNvSpPr/>
          <p:nvPr/>
        </p:nvSpPr>
        <p:spPr>
          <a:xfrm>
            <a:off x="7022592" y="2738628"/>
            <a:ext cx="255117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C7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Lihat Evidence</a:t>
            </a:r>
            <a:endParaRPr lang="en-US" sz="750" dirty="0"/>
          </a:p>
        </p:txBody>
      </p:sp>
      <p:sp>
        <p:nvSpPr>
          <p:cNvPr id="30" name="Text 26"/>
          <p:cNvSpPr/>
          <p:nvPr/>
        </p:nvSpPr>
        <p:spPr>
          <a:xfrm>
            <a:off x="7022592" y="3118104"/>
            <a:ext cx="255117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B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Catatan Technician</a:t>
            </a:r>
            <a:endParaRPr lang="en-US" sz="750" dirty="0"/>
          </a:p>
        </p:txBody>
      </p:sp>
      <p:sp>
        <p:nvSpPr>
          <p:cNvPr id="31" name="Shape 27"/>
          <p:cNvSpPr/>
          <p:nvPr/>
        </p:nvSpPr>
        <p:spPr>
          <a:xfrm>
            <a:off x="7022592" y="3291840"/>
            <a:ext cx="2551176" cy="292608"/>
          </a:xfrm>
          <a:prstGeom prst="roundRect">
            <a:avLst>
              <a:gd name="adj" fmla="val 18750"/>
            </a:avLst>
          </a:prstGeom>
          <a:solidFill>
            <a:srgbClr val="FFFFFF"/>
          </a:solidFill>
          <a:ln w="12700">
            <a:solidFill>
              <a:srgbClr val="E1EBF2"/>
            </a:solidFill>
            <a:prstDash val="solid"/>
          </a:ln>
        </p:spPr>
      </p:sp>
      <p:sp>
        <p:nvSpPr>
          <p:cNvPr id="32" name="Text 28"/>
          <p:cNvSpPr/>
          <p:nvPr/>
        </p:nvSpPr>
        <p:spPr>
          <a:xfrm>
            <a:off x="7114032" y="3291840"/>
            <a:ext cx="23682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2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Gearbox seal leakage found</a:t>
            </a:r>
            <a:endParaRPr lang="en-US" sz="850" dirty="0"/>
          </a:p>
        </p:txBody>
      </p:sp>
      <p:sp>
        <p:nvSpPr>
          <p:cNvPr id="33" name="Shape 29"/>
          <p:cNvSpPr/>
          <p:nvPr/>
        </p:nvSpPr>
        <p:spPr>
          <a:xfrm>
            <a:off x="7022592" y="3675888"/>
            <a:ext cx="1229868" cy="347472"/>
          </a:xfrm>
          <a:prstGeom prst="roundRect">
            <a:avLst>
              <a:gd name="adj" fmla="val 21053"/>
            </a:avLst>
          </a:prstGeom>
          <a:solidFill>
            <a:srgbClr val="FFFFFF"/>
          </a:solidFill>
          <a:ln w="15875">
            <a:solidFill>
              <a:srgbClr val="C0392B"/>
            </a:solidFill>
            <a:prstDash val="solid"/>
          </a:ln>
        </p:spPr>
      </p:sp>
      <p:sp>
        <p:nvSpPr>
          <p:cNvPr id="34" name="Text 30"/>
          <p:cNvSpPr/>
          <p:nvPr/>
        </p:nvSpPr>
        <p:spPr>
          <a:xfrm>
            <a:off x="7022592" y="3675888"/>
            <a:ext cx="12298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Reject</a:t>
            </a:r>
            <a:endParaRPr lang="en-US" sz="900" dirty="0"/>
          </a:p>
        </p:txBody>
      </p:sp>
      <p:sp>
        <p:nvSpPr>
          <p:cNvPr id="35" name="Shape 31"/>
          <p:cNvSpPr/>
          <p:nvPr/>
        </p:nvSpPr>
        <p:spPr>
          <a:xfrm>
            <a:off x="8343900" y="3675888"/>
            <a:ext cx="1229868" cy="347472"/>
          </a:xfrm>
          <a:prstGeom prst="roundRect">
            <a:avLst>
              <a:gd name="adj" fmla="val 21053"/>
            </a:avLst>
          </a:prstGeom>
          <a:solidFill>
            <a:srgbClr val="0A4A69"/>
          </a:solidFill>
          <a:ln w="15875">
            <a:solidFill>
              <a:srgbClr val="0A4A69"/>
            </a:solidFill>
            <a:prstDash val="solid"/>
          </a:ln>
        </p:spPr>
      </p:sp>
      <p:sp>
        <p:nvSpPr>
          <p:cNvPr id="36" name="Text 32"/>
          <p:cNvSpPr/>
          <p:nvPr/>
        </p:nvSpPr>
        <p:spPr>
          <a:xfrm>
            <a:off x="8343900" y="3675888"/>
            <a:ext cx="12298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</a:t>
            </a:r>
            <a:endParaRPr lang="en-US" sz="900" dirty="0"/>
          </a:p>
        </p:txBody>
      </p:sp>
      <p:sp>
        <p:nvSpPr>
          <p:cNvPr id="37" name="Shape 33"/>
          <p:cNvSpPr/>
          <p:nvPr/>
        </p:nvSpPr>
        <p:spPr>
          <a:xfrm>
            <a:off x="6949440" y="5888736"/>
            <a:ext cx="2697480" cy="51206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8" name="Shape 34"/>
          <p:cNvSpPr/>
          <p:nvPr/>
        </p:nvSpPr>
        <p:spPr>
          <a:xfrm>
            <a:off x="6949440" y="5888736"/>
            <a:ext cx="2697480" cy="0"/>
          </a:xfrm>
          <a:prstGeom prst="line">
            <a:avLst/>
          </a:prstGeom>
          <a:noFill/>
          <a:ln w="12700">
            <a:solidFill>
              <a:srgbClr val="E1EBF2"/>
            </a:solidFill>
            <a:prstDash val="solid"/>
          </a:ln>
        </p:spPr>
      </p:sp>
      <p:pic>
        <p:nvPicPr>
          <p:cNvPr id="39" name="Image 2" descr="/home/claude/palmcare-analysis/icons/dashboard_gra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6892" y="5980176"/>
            <a:ext cx="164592" cy="164592"/>
          </a:xfrm>
          <a:prstGeom prst="rect">
            <a:avLst/>
          </a:prstGeom>
        </p:spPr>
      </p:pic>
      <p:sp>
        <p:nvSpPr>
          <p:cNvPr id="40" name="Text 35"/>
          <p:cNvSpPr/>
          <p:nvPr/>
        </p:nvSpPr>
        <p:spPr>
          <a:xfrm>
            <a:off x="6949440" y="6236208"/>
            <a:ext cx="5394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5B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</a:t>
            </a:r>
            <a:endParaRPr lang="en-US" sz="650" dirty="0"/>
          </a:p>
        </p:txBody>
      </p:sp>
      <p:sp>
        <p:nvSpPr>
          <p:cNvPr id="41" name="Shape 36"/>
          <p:cNvSpPr/>
          <p:nvPr/>
        </p:nvSpPr>
        <p:spPr>
          <a:xfrm>
            <a:off x="7612380" y="5943600"/>
            <a:ext cx="292608" cy="292608"/>
          </a:xfrm>
          <a:prstGeom prst="roundRect">
            <a:avLst>
              <a:gd name="adj" fmla="val 25000"/>
            </a:avLst>
          </a:prstGeom>
          <a:solidFill>
            <a:srgbClr val="DCEAF3"/>
          </a:solidFill>
          <a:ln/>
        </p:spPr>
      </p:sp>
      <p:pic>
        <p:nvPicPr>
          <p:cNvPr id="42" name="Image 3" descr="/home/claude/palmcare-analysis/icons/workorder_navy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76388" y="5980176"/>
            <a:ext cx="164592" cy="164592"/>
          </a:xfrm>
          <a:prstGeom prst="rect">
            <a:avLst/>
          </a:prstGeom>
        </p:spPr>
      </p:pic>
      <p:sp>
        <p:nvSpPr>
          <p:cNvPr id="43" name="Text 37"/>
          <p:cNvSpPr/>
          <p:nvPr/>
        </p:nvSpPr>
        <p:spPr>
          <a:xfrm>
            <a:off x="7488936" y="6236208"/>
            <a:ext cx="5394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0A4A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Maint.</a:t>
            </a:r>
            <a:endParaRPr lang="en-US" sz="650" dirty="0"/>
          </a:p>
        </p:txBody>
      </p:sp>
      <p:pic>
        <p:nvPicPr>
          <p:cNvPr id="44" name="Image 4" descr="/home/claude/palmcare-analysis/icons/tools_gray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15884" y="5980176"/>
            <a:ext cx="164592" cy="164592"/>
          </a:xfrm>
          <a:prstGeom prst="rect">
            <a:avLst/>
          </a:prstGeom>
        </p:spPr>
      </p:pic>
      <p:sp>
        <p:nvSpPr>
          <p:cNvPr id="45" name="Text 38"/>
          <p:cNvSpPr/>
          <p:nvPr/>
        </p:nvSpPr>
        <p:spPr>
          <a:xfrm>
            <a:off x="8028432" y="6236208"/>
            <a:ext cx="5394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5B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Equip.</a:t>
            </a:r>
            <a:endParaRPr lang="en-US" sz="650" dirty="0"/>
          </a:p>
        </p:txBody>
      </p:sp>
      <p:pic>
        <p:nvPicPr>
          <p:cNvPr id="46" name="Image 5" descr="/home/claude/palmcare-analysis/icons/bell_gray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755380" y="5980176"/>
            <a:ext cx="164592" cy="164592"/>
          </a:xfrm>
          <a:prstGeom prst="rect">
            <a:avLst/>
          </a:prstGeom>
        </p:spPr>
      </p:pic>
      <p:sp>
        <p:nvSpPr>
          <p:cNvPr id="47" name="Text 39"/>
          <p:cNvSpPr/>
          <p:nvPr/>
        </p:nvSpPr>
        <p:spPr>
          <a:xfrm>
            <a:off x="8567928" y="6236208"/>
            <a:ext cx="5394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5B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Notif.</a:t>
            </a:r>
            <a:endParaRPr lang="en-US" sz="650" dirty="0"/>
          </a:p>
        </p:txBody>
      </p:sp>
      <p:pic>
        <p:nvPicPr>
          <p:cNvPr id="48" name="Image 6" descr="/home/claude/palmcare-analysis/icons/profile_gray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294876" y="5980176"/>
            <a:ext cx="164592" cy="164592"/>
          </a:xfrm>
          <a:prstGeom prst="rect">
            <a:avLst/>
          </a:prstGeom>
        </p:spPr>
      </p:pic>
      <p:sp>
        <p:nvSpPr>
          <p:cNvPr id="49" name="Text 40"/>
          <p:cNvSpPr/>
          <p:nvPr/>
        </p:nvSpPr>
        <p:spPr>
          <a:xfrm>
            <a:off x="9107424" y="6236208"/>
            <a:ext cx="5394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5B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</a:t>
            </a:r>
            <a:endParaRPr lang="en-US" sz="650" dirty="0"/>
          </a:p>
        </p:txBody>
      </p:sp>
      <p:sp>
        <p:nvSpPr>
          <p:cNvPr id="50" name="Text 41"/>
          <p:cNvSpPr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PalmCare — Mockup UI</a:t>
            </a:r>
            <a:endParaRPr lang="en-US" sz="900" dirty="0"/>
          </a:p>
        </p:txBody>
      </p:sp>
      <p:sp>
        <p:nvSpPr>
          <p:cNvPr id="51" name="Text 42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1C7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SUPERVISOR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229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Breakdown (Tinjau &amp; Assign)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1C7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ANOTASI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48640" y="1764792"/>
            <a:ext cx="82296" cy="82296"/>
          </a:xfrm>
          <a:prstGeom prst="ellipse">
            <a:avLst/>
          </a:prstGeom>
          <a:solidFill>
            <a:srgbClr val="0A4A69"/>
          </a:solidFill>
          <a:ln/>
        </p:spPr>
      </p:sp>
      <p:sp>
        <p:nvSpPr>
          <p:cNvPr id="6" name="Text 4"/>
          <p:cNvSpPr/>
          <p:nvPr/>
        </p:nvSpPr>
        <p:spPr>
          <a:xfrm>
            <a:off x="749808" y="1682496"/>
            <a:ext cx="4572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just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2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Daftar laporan breakdown yang masuk dari Technician, diurutkan berdasarkan prioritas.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548640" y="2368296"/>
            <a:ext cx="82296" cy="82296"/>
          </a:xfrm>
          <a:prstGeom prst="ellipse">
            <a:avLst/>
          </a:prstGeom>
          <a:solidFill>
            <a:srgbClr val="0A4A69"/>
          </a:solidFill>
          <a:ln/>
        </p:spPr>
      </p:sp>
      <p:sp>
        <p:nvSpPr>
          <p:cNvPr id="8" name="Text 6"/>
          <p:cNvSpPr/>
          <p:nvPr/>
        </p:nvSpPr>
        <p:spPr>
          <a:xfrm>
            <a:off x="749808" y="2286000"/>
            <a:ext cx="4572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just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2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Tap salah satu laporan untuk melihat detail dan menugaskan Technician penanganan.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548640" y="2971800"/>
            <a:ext cx="82296" cy="82296"/>
          </a:xfrm>
          <a:prstGeom prst="ellipse">
            <a:avLst/>
          </a:prstGeom>
          <a:solidFill>
            <a:srgbClr val="0A4A69"/>
          </a:solidFill>
          <a:ln/>
        </p:spPr>
      </p:sp>
      <p:sp>
        <p:nvSpPr>
          <p:cNvPr id="10" name="Text 8"/>
          <p:cNvSpPr/>
          <p:nvPr/>
        </p:nvSpPr>
        <p:spPr>
          <a:xfrm>
            <a:off x="749808" y="2889504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just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2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 breakdown dipantau dari Reported hingga Closed.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6903720" y="502920"/>
            <a:ext cx="2788920" cy="5989320"/>
          </a:xfrm>
          <a:prstGeom prst="roundRect">
            <a:avLst>
              <a:gd name="adj" fmla="val 7213"/>
            </a:avLst>
          </a:prstGeom>
          <a:solidFill>
            <a:srgbClr val="12293D"/>
          </a:solidFill>
          <a:ln/>
          <a:effectLst>
            <a:outerShdw sx="100000" sy="100000" kx="0" ky="0" algn="bl" rotWithShape="0" blurRad="127000" dist="50800" dir="5400000">
              <a:srgbClr val="0A4A69">
                <a:alpha val="3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949440" y="548640"/>
            <a:ext cx="2697480" cy="5897880"/>
          </a:xfrm>
          <a:prstGeom prst="roundRect">
            <a:avLst>
              <a:gd name="adj" fmla="val 6102"/>
            </a:avLst>
          </a:prstGeom>
          <a:solidFill>
            <a:srgbClr val="F6F9FB"/>
          </a:solidFill>
          <a:ln/>
        </p:spPr>
      </p:sp>
      <p:sp>
        <p:nvSpPr>
          <p:cNvPr id="13" name="Text 11"/>
          <p:cNvSpPr/>
          <p:nvPr/>
        </p:nvSpPr>
        <p:spPr>
          <a:xfrm>
            <a:off x="7068312" y="594360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2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9:41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9272016" y="630936"/>
            <a:ext cx="274320" cy="118872"/>
          </a:xfrm>
          <a:prstGeom prst="roundRect">
            <a:avLst>
              <a:gd name="adj" fmla="val 23077"/>
            </a:avLst>
          </a:prstGeom>
          <a:noFill/>
          <a:ln w="9525">
            <a:solidFill>
              <a:srgbClr val="12293D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022592" y="832104"/>
            <a:ext cx="2551176" cy="420624"/>
          </a:xfrm>
          <a:prstGeom prst="rect">
            <a:avLst/>
          </a:prstGeom>
          <a:solidFill>
            <a:srgbClr val="0A4A69"/>
          </a:solidFill>
          <a:ln/>
        </p:spPr>
      </p:sp>
      <p:sp>
        <p:nvSpPr>
          <p:cNvPr id="16" name="Text 14"/>
          <p:cNvSpPr/>
          <p:nvPr/>
        </p:nvSpPr>
        <p:spPr>
          <a:xfrm>
            <a:off x="7168896" y="832104"/>
            <a:ext cx="191109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Breakdown</a:t>
            </a:r>
            <a:endParaRPr lang="en-US" sz="1250" dirty="0"/>
          </a:p>
        </p:txBody>
      </p:sp>
      <p:pic>
        <p:nvPicPr>
          <p:cNvPr id="17" name="Image 0" descr="/home/claude/palmcare-analysis/icons/bell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62872" y="950976"/>
            <a:ext cx="182880" cy="182880"/>
          </a:xfrm>
          <a:prstGeom prst="rect">
            <a:avLst/>
          </a:prstGeom>
        </p:spPr>
      </p:pic>
      <p:sp>
        <p:nvSpPr>
          <p:cNvPr id="18" name="Shape 15"/>
          <p:cNvSpPr/>
          <p:nvPr/>
        </p:nvSpPr>
        <p:spPr>
          <a:xfrm>
            <a:off x="7059168" y="1344168"/>
            <a:ext cx="777240" cy="274320"/>
          </a:xfrm>
          <a:prstGeom prst="roundRect">
            <a:avLst>
              <a:gd name="adj" fmla="val 20000"/>
            </a:avLst>
          </a:prstGeom>
          <a:solidFill>
            <a:srgbClr val="0A4A69"/>
          </a:solidFill>
          <a:ln/>
        </p:spPr>
      </p:sp>
      <p:sp>
        <p:nvSpPr>
          <p:cNvPr id="19" name="Text 16"/>
          <p:cNvSpPr/>
          <p:nvPr/>
        </p:nvSpPr>
        <p:spPr>
          <a:xfrm>
            <a:off x="7022592" y="1344168"/>
            <a:ext cx="850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Baru</a:t>
            </a:r>
            <a:endParaRPr lang="en-US" sz="850" dirty="0"/>
          </a:p>
        </p:txBody>
      </p:sp>
      <p:sp>
        <p:nvSpPr>
          <p:cNvPr id="20" name="Text 17"/>
          <p:cNvSpPr/>
          <p:nvPr/>
        </p:nvSpPr>
        <p:spPr>
          <a:xfrm>
            <a:off x="7872984" y="1344168"/>
            <a:ext cx="850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Ditangani</a:t>
            </a:r>
            <a:endParaRPr lang="en-US" sz="850" dirty="0"/>
          </a:p>
        </p:txBody>
      </p:sp>
      <p:sp>
        <p:nvSpPr>
          <p:cNvPr id="21" name="Text 18"/>
          <p:cNvSpPr/>
          <p:nvPr/>
        </p:nvSpPr>
        <p:spPr>
          <a:xfrm>
            <a:off x="8723376" y="1344168"/>
            <a:ext cx="850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Selesai</a:t>
            </a:r>
            <a:endParaRPr lang="en-US" sz="850" dirty="0"/>
          </a:p>
        </p:txBody>
      </p:sp>
      <p:sp>
        <p:nvSpPr>
          <p:cNvPr id="22" name="Shape 19"/>
          <p:cNvSpPr/>
          <p:nvPr/>
        </p:nvSpPr>
        <p:spPr>
          <a:xfrm>
            <a:off x="7022592" y="1709928"/>
            <a:ext cx="2551176" cy="530352"/>
          </a:xfrm>
          <a:prstGeom prst="roundRect">
            <a:avLst>
              <a:gd name="adj" fmla="val 12069"/>
            </a:avLst>
          </a:prstGeom>
          <a:solidFill>
            <a:srgbClr val="FFFFFF"/>
          </a:solidFill>
          <a:ln w="9525">
            <a:solidFill>
              <a:srgbClr val="E1EBF2"/>
            </a:solidFill>
            <a:prstDash val="solid"/>
          </a:ln>
          <a:effectLst>
            <a:outerShdw sx="100000" sy="100000" kx="0" ky="0" algn="bl" rotWithShape="0" blurRad="38100" dist="12700" dir="5400000">
              <a:srgbClr val="1F3864">
                <a:alpha val="6000"/>
              </a:srgbClr>
            </a:outerShdw>
          </a:effectLst>
        </p:spPr>
      </p:sp>
      <p:sp>
        <p:nvSpPr>
          <p:cNvPr id="23" name="Shape 20"/>
          <p:cNvSpPr/>
          <p:nvPr/>
        </p:nvSpPr>
        <p:spPr>
          <a:xfrm>
            <a:off x="7132320" y="1933956"/>
            <a:ext cx="82296" cy="82296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24" name="Text 21"/>
          <p:cNvSpPr/>
          <p:nvPr/>
        </p:nvSpPr>
        <p:spPr>
          <a:xfrm>
            <a:off x="7315200" y="1773936"/>
            <a:ext cx="1508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2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Screw Press #02</a:t>
            </a:r>
            <a:endParaRPr lang="en-US" sz="950" dirty="0"/>
          </a:p>
        </p:txBody>
      </p:sp>
      <p:sp>
        <p:nvSpPr>
          <p:cNvPr id="25" name="Text 22"/>
          <p:cNvSpPr/>
          <p:nvPr/>
        </p:nvSpPr>
        <p:spPr>
          <a:xfrm>
            <a:off x="7315200" y="1984248"/>
            <a:ext cx="2148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 · Machine stopped</a:t>
            </a:r>
            <a:endParaRPr lang="en-US" sz="800" dirty="0"/>
          </a:p>
        </p:txBody>
      </p:sp>
      <p:sp>
        <p:nvSpPr>
          <p:cNvPr id="26" name="Text 23"/>
          <p:cNvSpPr/>
          <p:nvPr/>
        </p:nvSpPr>
        <p:spPr>
          <a:xfrm>
            <a:off x="8860536" y="1709928"/>
            <a:ext cx="62179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1C7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</a:t>
            </a:r>
            <a:endParaRPr lang="en-US" sz="750" dirty="0"/>
          </a:p>
        </p:txBody>
      </p:sp>
      <p:sp>
        <p:nvSpPr>
          <p:cNvPr id="27" name="Shape 24"/>
          <p:cNvSpPr/>
          <p:nvPr/>
        </p:nvSpPr>
        <p:spPr>
          <a:xfrm>
            <a:off x="7022592" y="2331720"/>
            <a:ext cx="2551176" cy="530352"/>
          </a:xfrm>
          <a:prstGeom prst="roundRect">
            <a:avLst>
              <a:gd name="adj" fmla="val 12069"/>
            </a:avLst>
          </a:prstGeom>
          <a:solidFill>
            <a:srgbClr val="FFFFFF"/>
          </a:solidFill>
          <a:ln w="9525">
            <a:solidFill>
              <a:srgbClr val="E1EBF2"/>
            </a:solidFill>
            <a:prstDash val="solid"/>
          </a:ln>
          <a:effectLst>
            <a:outerShdw sx="100000" sy="100000" kx="0" ky="0" algn="bl" rotWithShape="0" blurRad="38100" dist="12700" dir="5400000">
              <a:srgbClr val="1F3864">
                <a:alpha val="6000"/>
              </a:srgbClr>
            </a:outerShdw>
          </a:effectLst>
        </p:spPr>
      </p:sp>
      <p:sp>
        <p:nvSpPr>
          <p:cNvPr id="28" name="Shape 25"/>
          <p:cNvSpPr/>
          <p:nvPr/>
        </p:nvSpPr>
        <p:spPr>
          <a:xfrm>
            <a:off x="7132320" y="2555748"/>
            <a:ext cx="82296" cy="82296"/>
          </a:xfrm>
          <a:prstGeom prst="ellipse">
            <a:avLst/>
          </a:prstGeom>
          <a:solidFill>
            <a:srgbClr val="D4900B"/>
          </a:solidFill>
          <a:ln/>
        </p:spPr>
      </p:sp>
      <p:sp>
        <p:nvSpPr>
          <p:cNvPr id="29" name="Text 26"/>
          <p:cNvSpPr/>
          <p:nvPr/>
        </p:nvSpPr>
        <p:spPr>
          <a:xfrm>
            <a:off x="7315200" y="2395728"/>
            <a:ext cx="1508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2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Pump #03</a:t>
            </a:r>
            <a:endParaRPr lang="en-US" sz="950" dirty="0"/>
          </a:p>
        </p:txBody>
      </p:sp>
      <p:sp>
        <p:nvSpPr>
          <p:cNvPr id="30" name="Text 27"/>
          <p:cNvSpPr/>
          <p:nvPr/>
        </p:nvSpPr>
        <p:spPr>
          <a:xfrm>
            <a:off x="7315200" y="2606040"/>
            <a:ext cx="2148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Major · Unusual noise</a:t>
            </a:r>
            <a:endParaRPr lang="en-US" sz="800" dirty="0"/>
          </a:p>
        </p:txBody>
      </p:sp>
      <p:sp>
        <p:nvSpPr>
          <p:cNvPr id="31" name="Text 28"/>
          <p:cNvSpPr/>
          <p:nvPr/>
        </p:nvSpPr>
        <p:spPr>
          <a:xfrm>
            <a:off x="8860536" y="2331720"/>
            <a:ext cx="62179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1C7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</a:t>
            </a:r>
            <a:endParaRPr lang="en-US" sz="750" dirty="0"/>
          </a:p>
        </p:txBody>
      </p:sp>
      <p:sp>
        <p:nvSpPr>
          <p:cNvPr id="32" name="Shape 29"/>
          <p:cNvSpPr/>
          <p:nvPr/>
        </p:nvSpPr>
        <p:spPr>
          <a:xfrm>
            <a:off x="6949440" y="5888736"/>
            <a:ext cx="2697480" cy="51206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3" name="Shape 30"/>
          <p:cNvSpPr/>
          <p:nvPr/>
        </p:nvSpPr>
        <p:spPr>
          <a:xfrm>
            <a:off x="6949440" y="5888736"/>
            <a:ext cx="2697480" cy="0"/>
          </a:xfrm>
          <a:prstGeom prst="line">
            <a:avLst/>
          </a:prstGeom>
          <a:noFill/>
          <a:ln w="12700">
            <a:solidFill>
              <a:srgbClr val="E1EBF2"/>
            </a:solidFill>
            <a:prstDash val="solid"/>
          </a:ln>
        </p:spPr>
      </p:sp>
      <p:pic>
        <p:nvPicPr>
          <p:cNvPr id="34" name="Image 1" descr="/home/claude/palmcare-analysis/icons/dashboard_gray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6892" y="5980176"/>
            <a:ext cx="164592" cy="164592"/>
          </a:xfrm>
          <a:prstGeom prst="rect">
            <a:avLst/>
          </a:prstGeom>
        </p:spPr>
      </p:pic>
      <p:sp>
        <p:nvSpPr>
          <p:cNvPr id="35" name="Text 31"/>
          <p:cNvSpPr/>
          <p:nvPr/>
        </p:nvSpPr>
        <p:spPr>
          <a:xfrm>
            <a:off x="6949440" y="6236208"/>
            <a:ext cx="5394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5B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</a:t>
            </a:r>
            <a:endParaRPr lang="en-US" sz="650" dirty="0"/>
          </a:p>
        </p:txBody>
      </p:sp>
      <p:sp>
        <p:nvSpPr>
          <p:cNvPr id="36" name="Shape 32"/>
          <p:cNvSpPr/>
          <p:nvPr/>
        </p:nvSpPr>
        <p:spPr>
          <a:xfrm>
            <a:off x="7612380" y="5943600"/>
            <a:ext cx="292608" cy="292608"/>
          </a:xfrm>
          <a:prstGeom prst="roundRect">
            <a:avLst>
              <a:gd name="adj" fmla="val 25000"/>
            </a:avLst>
          </a:prstGeom>
          <a:solidFill>
            <a:srgbClr val="DCEAF3"/>
          </a:solidFill>
          <a:ln/>
        </p:spPr>
      </p:sp>
      <p:pic>
        <p:nvPicPr>
          <p:cNvPr id="37" name="Image 2" descr="/home/claude/palmcare-analysis/icons/workorder_nav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76388" y="5980176"/>
            <a:ext cx="164592" cy="164592"/>
          </a:xfrm>
          <a:prstGeom prst="rect">
            <a:avLst/>
          </a:prstGeom>
        </p:spPr>
      </p:pic>
      <p:sp>
        <p:nvSpPr>
          <p:cNvPr id="38" name="Text 33"/>
          <p:cNvSpPr/>
          <p:nvPr/>
        </p:nvSpPr>
        <p:spPr>
          <a:xfrm>
            <a:off x="7488936" y="6236208"/>
            <a:ext cx="5394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0A4A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Maint.</a:t>
            </a:r>
            <a:endParaRPr lang="en-US" sz="650" dirty="0"/>
          </a:p>
        </p:txBody>
      </p:sp>
      <p:pic>
        <p:nvPicPr>
          <p:cNvPr id="39" name="Image 3" descr="/home/claude/palmcare-analysis/icons/tools_gray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15884" y="5980176"/>
            <a:ext cx="164592" cy="164592"/>
          </a:xfrm>
          <a:prstGeom prst="rect">
            <a:avLst/>
          </a:prstGeom>
        </p:spPr>
      </p:pic>
      <p:sp>
        <p:nvSpPr>
          <p:cNvPr id="40" name="Text 34"/>
          <p:cNvSpPr/>
          <p:nvPr/>
        </p:nvSpPr>
        <p:spPr>
          <a:xfrm>
            <a:off x="8028432" y="6236208"/>
            <a:ext cx="5394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5B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Equip.</a:t>
            </a:r>
            <a:endParaRPr lang="en-US" sz="650" dirty="0"/>
          </a:p>
        </p:txBody>
      </p:sp>
      <p:pic>
        <p:nvPicPr>
          <p:cNvPr id="41" name="Image 4" descr="/home/claude/palmcare-analysis/icons/bell_gray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55380" y="5980176"/>
            <a:ext cx="164592" cy="164592"/>
          </a:xfrm>
          <a:prstGeom prst="rect">
            <a:avLst/>
          </a:prstGeom>
        </p:spPr>
      </p:pic>
      <p:sp>
        <p:nvSpPr>
          <p:cNvPr id="42" name="Text 35"/>
          <p:cNvSpPr/>
          <p:nvPr/>
        </p:nvSpPr>
        <p:spPr>
          <a:xfrm>
            <a:off x="8567928" y="6236208"/>
            <a:ext cx="5394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5B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Notif.</a:t>
            </a:r>
            <a:endParaRPr lang="en-US" sz="650" dirty="0"/>
          </a:p>
        </p:txBody>
      </p:sp>
      <p:pic>
        <p:nvPicPr>
          <p:cNvPr id="43" name="Image 5" descr="/home/claude/palmcare-analysis/icons/profile_gray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294876" y="5980176"/>
            <a:ext cx="164592" cy="164592"/>
          </a:xfrm>
          <a:prstGeom prst="rect">
            <a:avLst/>
          </a:prstGeom>
        </p:spPr>
      </p:pic>
      <p:sp>
        <p:nvSpPr>
          <p:cNvPr id="44" name="Text 36"/>
          <p:cNvSpPr/>
          <p:nvPr/>
        </p:nvSpPr>
        <p:spPr>
          <a:xfrm>
            <a:off x="9107424" y="6236208"/>
            <a:ext cx="5394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5B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</a:t>
            </a:r>
            <a:endParaRPr lang="en-US" sz="650" dirty="0"/>
          </a:p>
        </p:txBody>
      </p:sp>
      <p:sp>
        <p:nvSpPr>
          <p:cNvPr id="45" name="Text 37"/>
          <p:cNvSpPr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PalmCare — Mockup UI</a:t>
            </a:r>
            <a:endParaRPr lang="en-US" sz="900" dirty="0"/>
          </a:p>
        </p:txBody>
      </p:sp>
      <p:sp>
        <p:nvSpPr>
          <p:cNvPr id="46" name="Text 38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1C7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SUPERVISOR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229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Equipment (Kondisi Seluruh Station)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1C7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ANOTASI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48640" y="1764792"/>
            <a:ext cx="82296" cy="82296"/>
          </a:xfrm>
          <a:prstGeom prst="ellipse">
            <a:avLst/>
          </a:prstGeom>
          <a:solidFill>
            <a:srgbClr val="0A4A69"/>
          </a:solidFill>
          <a:ln/>
        </p:spPr>
      </p:sp>
      <p:sp>
        <p:nvSpPr>
          <p:cNvPr id="6" name="Text 4"/>
          <p:cNvSpPr/>
          <p:nvPr/>
        </p:nvSpPr>
        <p:spPr>
          <a:xfrm>
            <a:off x="749808" y="1682496"/>
            <a:ext cx="4572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just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2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Daftar seluruh equipment lintas station dengan indikator kondisi (Operational/Warning/Critical).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548640" y="2368296"/>
            <a:ext cx="82296" cy="82296"/>
          </a:xfrm>
          <a:prstGeom prst="ellipse">
            <a:avLst/>
          </a:prstGeom>
          <a:solidFill>
            <a:srgbClr val="0A4A69"/>
          </a:solidFill>
          <a:ln/>
        </p:spPr>
      </p:sp>
      <p:sp>
        <p:nvSpPr>
          <p:cNvPr id="8" name="Text 6"/>
          <p:cNvSpPr/>
          <p:nvPr/>
        </p:nvSpPr>
        <p:spPr>
          <a:xfrm>
            <a:off x="749808" y="2286000"/>
            <a:ext cx="4572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just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2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Dapat difilter berdasarkan station untuk memudahkan navigasi pada mill dengan banyak unit.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548640" y="2971800"/>
            <a:ext cx="82296" cy="82296"/>
          </a:xfrm>
          <a:prstGeom prst="ellipse">
            <a:avLst/>
          </a:prstGeom>
          <a:solidFill>
            <a:srgbClr val="0A4A69"/>
          </a:solidFill>
          <a:ln/>
        </p:spPr>
      </p:sp>
      <p:sp>
        <p:nvSpPr>
          <p:cNvPr id="10" name="Text 8"/>
          <p:cNvSpPr/>
          <p:nvPr/>
        </p:nvSpPr>
        <p:spPr>
          <a:xfrm>
            <a:off x="749808" y="2889504"/>
            <a:ext cx="4572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just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2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Tap salah satu equipment untuk melihat detail lengkap &amp; histori.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6903720" y="502920"/>
            <a:ext cx="2788920" cy="5989320"/>
          </a:xfrm>
          <a:prstGeom prst="roundRect">
            <a:avLst>
              <a:gd name="adj" fmla="val 7213"/>
            </a:avLst>
          </a:prstGeom>
          <a:solidFill>
            <a:srgbClr val="12293D"/>
          </a:solidFill>
          <a:ln/>
          <a:effectLst>
            <a:outerShdw sx="100000" sy="100000" kx="0" ky="0" algn="bl" rotWithShape="0" blurRad="127000" dist="50800" dir="5400000">
              <a:srgbClr val="0A4A69">
                <a:alpha val="3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949440" y="548640"/>
            <a:ext cx="2697480" cy="5897880"/>
          </a:xfrm>
          <a:prstGeom prst="roundRect">
            <a:avLst>
              <a:gd name="adj" fmla="val 6102"/>
            </a:avLst>
          </a:prstGeom>
          <a:solidFill>
            <a:srgbClr val="F6F9FB"/>
          </a:solidFill>
          <a:ln/>
        </p:spPr>
      </p:sp>
      <p:sp>
        <p:nvSpPr>
          <p:cNvPr id="13" name="Text 11"/>
          <p:cNvSpPr/>
          <p:nvPr/>
        </p:nvSpPr>
        <p:spPr>
          <a:xfrm>
            <a:off x="7068312" y="594360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2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9:41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9272016" y="630936"/>
            <a:ext cx="274320" cy="118872"/>
          </a:xfrm>
          <a:prstGeom prst="roundRect">
            <a:avLst>
              <a:gd name="adj" fmla="val 23077"/>
            </a:avLst>
          </a:prstGeom>
          <a:noFill/>
          <a:ln w="9525">
            <a:solidFill>
              <a:srgbClr val="12293D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022592" y="832104"/>
            <a:ext cx="2551176" cy="420624"/>
          </a:xfrm>
          <a:prstGeom prst="rect">
            <a:avLst/>
          </a:prstGeom>
          <a:solidFill>
            <a:srgbClr val="0A4A69"/>
          </a:solidFill>
          <a:ln/>
        </p:spPr>
      </p:sp>
      <p:sp>
        <p:nvSpPr>
          <p:cNvPr id="16" name="Text 14"/>
          <p:cNvSpPr/>
          <p:nvPr/>
        </p:nvSpPr>
        <p:spPr>
          <a:xfrm>
            <a:off x="7168896" y="832104"/>
            <a:ext cx="191109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Equipment</a:t>
            </a:r>
            <a:endParaRPr lang="en-US" sz="1250" dirty="0"/>
          </a:p>
        </p:txBody>
      </p:sp>
      <p:pic>
        <p:nvPicPr>
          <p:cNvPr id="17" name="Image 0" descr="/home/claude/palmcare-analysis/icons/bell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62872" y="950976"/>
            <a:ext cx="182880" cy="182880"/>
          </a:xfrm>
          <a:prstGeom prst="rect">
            <a:avLst/>
          </a:prstGeom>
        </p:spPr>
      </p:pic>
      <p:sp>
        <p:nvSpPr>
          <p:cNvPr id="18" name="Shape 15"/>
          <p:cNvSpPr/>
          <p:nvPr/>
        </p:nvSpPr>
        <p:spPr>
          <a:xfrm>
            <a:off x="7022592" y="1344168"/>
            <a:ext cx="2551176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1EBF2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7114032" y="1435608"/>
            <a:ext cx="100584" cy="100584"/>
          </a:xfrm>
          <a:prstGeom prst="ellipse">
            <a:avLst/>
          </a:prstGeom>
          <a:noFill/>
          <a:ln w="12700">
            <a:solidFill>
              <a:srgbClr val="5B7184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7278624" y="1344168"/>
            <a:ext cx="2240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Cari equipment</a:t>
            </a:r>
            <a:endParaRPr lang="en-US" sz="850" dirty="0"/>
          </a:p>
        </p:txBody>
      </p:sp>
      <p:sp>
        <p:nvSpPr>
          <p:cNvPr id="21" name="Shape 18"/>
          <p:cNvSpPr/>
          <p:nvPr/>
        </p:nvSpPr>
        <p:spPr>
          <a:xfrm>
            <a:off x="7059168" y="1728216"/>
            <a:ext cx="564642" cy="274320"/>
          </a:xfrm>
          <a:prstGeom prst="roundRect">
            <a:avLst>
              <a:gd name="adj" fmla="val 20000"/>
            </a:avLst>
          </a:prstGeom>
          <a:solidFill>
            <a:srgbClr val="0A4A69"/>
          </a:solidFill>
          <a:ln/>
        </p:spPr>
      </p:sp>
      <p:sp>
        <p:nvSpPr>
          <p:cNvPr id="22" name="Text 19"/>
          <p:cNvSpPr/>
          <p:nvPr/>
        </p:nvSpPr>
        <p:spPr>
          <a:xfrm>
            <a:off x="7022592" y="1728216"/>
            <a:ext cx="63779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Semua</a:t>
            </a:r>
            <a:endParaRPr lang="en-US" sz="850" dirty="0"/>
          </a:p>
        </p:txBody>
      </p:sp>
      <p:sp>
        <p:nvSpPr>
          <p:cNvPr id="23" name="Text 20"/>
          <p:cNvSpPr/>
          <p:nvPr/>
        </p:nvSpPr>
        <p:spPr>
          <a:xfrm>
            <a:off x="7660386" y="1728216"/>
            <a:ext cx="63779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Pressing</a:t>
            </a:r>
            <a:endParaRPr lang="en-US" sz="850" dirty="0"/>
          </a:p>
        </p:txBody>
      </p:sp>
      <p:sp>
        <p:nvSpPr>
          <p:cNvPr id="24" name="Text 21"/>
          <p:cNvSpPr/>
          <p:nvPr/>
        </p:nvSpPr>
        <p:spPr>
          <a:xfrm>
            <a:off x="8298180" y="1728216"/>
            <a:ext cx="63779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Utilities</a:t>
            </a:r>
            <a:endParaRPr lang="en-US" sz="850" dirty="0"/>
          </a:p>
        </p:txBody>
      </p:sp>
      <p:sp>
        <p:nvSpPr>
          <p:cNvPr id="25" name="Text 22"/>
          <p:cNvSpPr/>
          <p:nvPr/>
        </p:nvSpPr>
        <p:spPr>
          <a:xfrm>
            <a:off x="8935974" y="1728216"/>
            <a:ext cx="63779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Kernel</a:t>
            </a:r>
            <a:endParaRPr lang="en-US" sz="850" dirty="0"/>
          </a:p>
        </p:txBody>
      </p:sp>
      <p:sp>
        <p:nvSpPr>
          <p:cNvPr id="26" name="Shape 23"/>
          <p:cNvSpPr/>
          <p:nvPr/>
        </p:nvSpPr>
        <p:spPr>
          <a:xfrm>
            <a:off x="7022592" y="2093976"/>
            <a:ext cx="2551176" cy="530352"/>
          </a:xfrm>
          <a:prstGeom prst="roundRect">
            <a:avLst>
              <a:gd name="adj" fmla="val 12069"/>
            </a:avLst>
          </a:prstGeom>
          <a:solidFill>
            <a:srgbClr val="FFFFFF"/>
          </a:solidFill>
          <a:ln w="9525">
            <a:solidFill>
              <a:srgbClr val="E1EBF2"/>
            </a:solidFill>
            <a:prstDash val="solid"/>
          </a:ln>
          <a:effectLst>
            <a:outerShdw sx="100000" sy="100000" kx="0" ky="0" algn="bl" rotWithShape="0" blurRad="38100" dist="12700" dir="5400000">
              <a:srgbClr val="1F3864">
                <a:alpha val="6000"/>
              </a:srgbClr>
            </a:outerShdw>
          </a:effectLst>
        </p:spPr>
      </p:sp>
      <p:sp>
        <p:nvSpPr>
          <p:cNvPr id="27" name="Shape 24"/>
          <p:cNvSpPr/>
          <p:nvPr/>
        </p:nvSpPr>
        <p:spPr>
          <a:xfrm>
            <a:off x="7132320" y="2318004"/>
            <a:ext cx="82296" cy="82296"/>
          </a:xfrm>
          <a:prstGeom prst="ellipse">
            <a:avLst/>
          </a:prstGeom>
          <a:solidFill>
            <a:srgbClr val="D4900B"/>
          </a:solidFill>
          <a:ln/>
        </p:spPr>
      </p:sp>
      <p:sp>
        <p:nvSpPr>
          <p:cNvPr id="28" name="Text 25"/>
          <p:cNvSpPr/>
          <p:nvPr/>
        </p:nvSpPr>
        <p:spPr>
          <a:xfrm>
            <a:off x="7315200" y="2157984"/>
            <a:ext cx="1508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2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Screw Press #02</a:t>
            </a:r>
            <a:endParaRPr lang="en-US" sz="950" dirty="0"/>
          </a:p>
        </p:txBody>
      </p:sp>
      <p:sp>
        <p:nvSpPr>
          <p:cNvPr id="29" name="Text 26"/>
          <p:cNvSpPr/>
          <p:nvPr/>
        </p:nvSpPr>
        <p:spPr>
          <a:xfrm>
            <a:off x="7315200" y="2368296"/>
            <a:ext cx="2148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Pressing · Warning</a:t>
            </a:r>
            <a:endParaRPr lang="en-US" sz="800" dirty="0"/>
          </a:p>
        </p:txBody>
      </p:sp>
      <p:sp>
        <p:nvSpPr>
          <p:cNvPr id="30" name="Text 27"/>
          <p:cNvSpPr/>
          <p:nvPr/>
        </p:nvSpPr>
        <p:spPr>
          <a:xfrm>
            <a:off x="8860536" y="2093976"/>
            <a:ext cx="62179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1C7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Lihat</a:t>
            </a:r>
            <a:endParaRPr lang="en-US" sz="750" dirty="0"/>
          </a:p>
        </p:txBody>
      </p:sp>
      <p:sp>
        <p:nvSpPr>
          <p:cNvPr id="31" name="Shape 28"/>
          <p:cNvSpPr/>
          <p:nvPr/>
        </p:nvSpPr>
        <p:spPr>
          <a:xfrm>
            <a:off x="7022592" y="2715768"/>
            <a:ext cx="2551176" cy="530352"/>
          </a:xfrm>
          <a:prstGeom prst="roundRect">
            <a:avLst>
              <a:gd name="adj" fmla="val 12069"/>
            </a:avLst>
          </a:prstGeom>
          <a:solidFill>
            <a:srgbClr val="FFFFFF"/>
          </a:solidFill>
          <a:ln w="9525">
            <a:solidFill>
              <a:srgbClr val="E1EBF2"/>
            </a:solidFill>
            <a:prstDash val="solid"/>
          </a:ln>
          <a:effectLst>
            <a:outerShdw sx="100000" sy="100000" kx="0" ky="0" algn="bl" rotWithShape="0" blurRad="38100" dist="12700" dir="5400000">
              <a:srgbClr val="1F3864">
                <a:alpha val="6000"/>
              </a:srgbClr>
            </a:outerShdw>
          </a:effectLst>
        </p:spPr>
      </p:sp>
      <p:sp>
        <p:nvSpPr>
          <p:cNvPr id="32" name="Shape 29"/>
          <p:cNvSpPr/>
          <p:nvPr/>
        </p:nvSpPr>
        <p:spPr>
          <a:xfrm>
            <a:off x="7132320" y="2939796"/>
            <a:ext cx="82296" cy="82296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33" name="Text 30"/>
          <p:cNvSpPr/>
          <p:nvPr/>
        </p:nvSpPr>
        <p:spPr>
          <a:xfrm>
            <a:off x="7315200" y="2779776"/>
            <a:ext cx="1508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2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Boiler #01</a:t>
            </a:r>
            <a:endParaRPr lang="en-US" sz="950" dirty="0"/>
          </a:p>
        </p:txBody>
      </p:sp>
      <p:sp>
        <p:nvSpPr>
          <p:cNvPr id="34" name="Text 31"/>
          <p:cNvSpPr/>
          <p:nvPr/>
        </p:nvSpPr>
        <p:spPr>
          <a:xfrm>
            <a:off x="7315200" y="2990088"/>
            <a:ext cx="2148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Utilities · Critical</a:t>
            </a:r>
            <a:endParaRPr lang="en-US" sz="800" dirty="0"/>
          </a:p>
        </p:txBody>
      </p:sp>
      <p:sp>
        <p:nvSpPr>
          <p:cNvPr id="35" name="Text 32"/>
          <p:cNvSpPr/>
          <p:nvPr/>
        </p:nvSpPr>
        <p:spPr>
          <a:xfrm>
            <a:off x="8860536" y="2715768"/>
            <a:ext cx="62179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1C7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Lihat</a:t>
            </a:r>
            <a:endParaRPr lang="en-US" sz="750" dirty="0"/>
          </a:p>
        </p:txBody>
      </p:sp>
      <p:sp>
        <p:nvSpPr>
          <p:cNvPr id="36" name="Shape 33"/>
          <p:cNvSpPr/>
          <p:nvPr/>
        </p:nvSpPr>
        <p:spPr>
          <a:xfrm>
            <a:off x="7022592" y="3337560"/>
            <a:ext cx="2551176" cy="530352"/>
          </a:xfrm>
          <a:prstGeom prst="roundRect">
            <a:avLst>
              <a:gd name="adj" fmla="val 12069"/>
            </a:avLst>
          </a:prstGeom>
          <a:solidFill>
            <a:srgbClr val="FFFFFF"/>
          </a:solidFill>
          <a:ln w="9525">
            <a:solidFill>
              <a:srgbClr val="E1EBF2"/>
            </a:solidFill>
            <a:prstDash val="solid"/>
          </a:ln>
          <a:effectLst>
            <a:outerShdw sx="100000" sy="100000" kx="0" ky="0" algn="bl" rotWithShape="0" blurRad="38100" dist="12700" dir="5400000">
              <a:srgbClr val="1F3864">
                <a:alpha val="6000"/>
              </a:srgbClr>
            </a:outerShdw>
          </a:effectLst>
        </p:spPr>
      </p:sp>
      <p:sp>
        <p:nvSpPr>
          <p:cNvPr id="37" name="Shape 34"/>
          <p:cNvSpPr/>
          <p:nvPr/>
        </p:nvSpPr>
        <p:spPr>
          <a:xfrm>
            <a:off x="7132320" y="3561588"/>
            <a:ext cx="82296" cy="82296"/>
          </a:xfrm>
          <a:prstGeom prst="ellipse">
            <a:avLst/>
          </a:prstGeom>
          <a:solidFill>
            <a:srgbClr val="1E8A5F"/>
          </a:solidFill>
          <a:ln/>
        </p:spPr>
      </p:sp>
      <p:sp>
        <p:nvSpPr>
          <p:cNvPr id="38" name="Text 35"/>
          <p:cNvSpPr/>
          <p:nvPr/>
        </p:nvSpPr>
        <p:spPr>
          <a:xfrm>
            <a:off x="7315200" y="3401568"/>
            <a:ext cx="1508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2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Digester #01</a:t>
            </a:r>
            <a:endParaRPr lang="en-US" sz="950" dirty="0"/>
          </a:p>
        </p:txBody>
      </p:sp>
      <p:sp>
        <p:nvSpPr>
          <p:cNvPr id="39" name="Text 36"/>
          <p:cNvSpPr/>
          <p:nvPr/>
        </p:nvSpPr>
        <p:spPr>
          <a:xfrm>
            <a:off x="7315200" y="3611880"/>
            <a:ext cx="2148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Pressing · Operational</a:t>
            </a:r>
            <a:endParaRPr lang="en-US" sz="800" dirty="0"/>
          </a:p>
        </p:txBody>
      </p:sp>
      <p:sp>
        <p:nvSpPr>
          <p:cNvPr id="40" name="Text 37"/>
          <p:cNvSpPr/>
          <p:nvPr/>
        </p:nvSpPr>
        <p:spPr>
          <a:xfrm>
            <a:off x="8860536" y="3337560"/>
            <a:ext cx="62179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1C7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Lihat</a:t>
            </a:r>
            <a:endParaRPr lang="en-US" sz="750" dirty="0"/>
          </a:p>
        </p:txBody>
      </p:sp>
      <p:sp>
        <p:nvSpPr>
          <p:cNvPr id="41" name="Shape 38"/>
          <p:cNvSpPr/>
          <p:nvPr/>
        </p:nvSpPr>
        <p:spPr>
          <a:xfrm>
            <a:off x="6949440" y="5888736"/>
            <a:ext cx="2697480" cy="51206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2" name="Shape 39"/>
          <p:cNvSpPr/>
          <p:nvPr/>
        </p:nvSpPr>
        <p:spPr>
          <a:xfrm>
            <a:off x="6949440" y="5888736"/>
            <a:ext cx="2697480" cy="0"/>
          </a:xfrm>
          <a:prstGeom prst="line">
            <a:avLst/>
          </a:prstGeom>
          <a:noFill/>
          <a:ln w="12700">
            <a:solidFill>
              <a:srgbClr val="E1EBF2"/>
            </a:solidFill>
            <a:prstDash val="solid"/>
          </a:ln>
        </p:spPr>
      </p:sp>
      <p:pic>
        <p:nvPicPr>
          <p:cNvPr id="43" name="Image 1" descr="/home/claude/palmcare-analysis/icons/dashboard_gray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6892" y="5980176"/>
            <a:ext cx="164592" cy="164592"/>
          </a:xfrm>
          <a:prstGeom prst="rect">
            <a:avLst/>
          </a:prstGeom>
        </p:spPr>
      </p:pic>
      <p:sp>
        <p:nvSpPr>
          <p:cNvPr id="44" name="Text 40"/>
          <p:cNvSpPr/>
          <p:nvPr/>
        </p:nvSpPr>
        <p:spPr>
          <a:xfrm>
            <a:off x="6949440" y="6236208"/>
            <a:ext cx="5394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5B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</a:t>
            </a:r>
            <a:endParaRPr lang="en-US" sz="650" dirty="0"/>
          </a:p>
        </p:txBody>
      </p:sp>
      <p:pic>
        <p:nvPicPr>
          <p:cNvPr id="45" name="Image 2" descr="/home/claude/palmcare-analysis/icons/workorder_gra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76388" y="5980176"/>
            <a:ext cx="164592" cy="164592"/>
          </a:xfrm>
          <a:prstGeom prst="rect">
            <a:avLst/>
          </a:prstGeom>
        </p:spPr>
      </p:pic>
      <p:sp>
        <p:nvSpPr>
          <p:cNvPr id="46" name="Text 41"/>
          <p:cNvSpPr/>
          <p:nvPr/>
        </p:nvSpPr>
        <p:spPr>
          <a:xfrm>
            <a:off x="7488936" y="6236208"/>
            <a:ext cx="5394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5B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Maint.</a:t>
            </a:r>
            <a:endParaRPr lang="en-US" sz="650" dirty="0"/>
          </a:p>
        </p:txBody>
      </p:sp>
      <p:sp>
        <p:nvSpPr>
          <p:cNvPr id="47" name="Shape 42"/>
          <p:cNvSpPr/>
          <p:nvPr/>
        </p:nvSpPr>
        <p:spPr>
          <a:xfrm>
            <a:off x="8151876" y="5943600"/>
            <a:ext cx="292608" cy="292608"/>
          </a:xfrm>
          <a:prstGeom prst="roundRect">
            <a:avLst>
              <a:gd name="adj" fmla="val 25000"/>
            </a:avLst>
          </a:prstGeom>
          <a:solidFill>
            <a:srgbClr val="DCEAF3"/>
          </a:solidFill>
          <a:ln/>
        </p:spPr>
      </p:sp>
      <p:pic>
        <p:nvPicPr>
          <p:cNvPr id="48" name="Image 3" descr="/home/claude/palmcare-analysis/icons/tools_navy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15884" y="5980176"/>
            <a:ext cx="164592" cy="164592"/>
          </a:xfrm>
          <a:prstGeom prst="rect">
            <a:avLst/>
          </a:prstGeom>
        </p:spPr>
      </p:pic>
      <p:sp>
        <p:nvSpPr>
          <p:cNvPr id="49" name="Text 43"/>
          <p:cNvSpPr/>
          <p:nvPr/>
        </p:nvSpPr>
        <p:spPr>
          <a:xfrm>
            <a:off x="8028432" y="6236208"/>
            <a:ext cx="5394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0A4A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Equip.</a:t>
            </a:r>
            <a:endParaRPr lang="en-US" sz="650" dirty="0"/>
          </a:p>
        </p:txBody>
      </p:sp>
      <p:pic>
        <p:nvPicPr>
          <p:cNvPr id="50" name="Image 4" descr="/home/claude/palmcare-analysis/icons/bell_gray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55380" y="5980176"/>
            <a:ext cx="164592" cy="164592"/>
          </a:xfrm>
          <a:prstGeom prst="rect">
            <a:avLst/>
          </a:prstGeom>
        </p:spPr>
      </p:pic>
      <p:sp>
        <p:nvSpPr>
          <p:cNvPr id="51" name="Text 44"/>
          <p:cNvSpPr/>
          <p:nvPr/>
        </p:nvSpPr>
        <p:spPr>
          <a:xfrm>
            <a:off x="8567928" y="6236208"/>
            <a:ext cx="5394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5B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Notif.</a:t>
            </a:r>
            <a:endParaRPr lang="en-US" sz="650" dirty="0"/>
          </a:p>
        </p:txBody>
      </p:sp>
      <p:pic>
        <p:nvPicPr>
          <p:cNvPr id="52" name="Image 5" descr="/home/claude/palmcare-analysis/icons/profile_gray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294876" y="5980176"/>
            <a:ext cx="164592" cy="164592"/>
          </a:xfrm>
          <a:prstGeom prst="rect">
            <a:avLst/>
          </a:prstGeom>
        </p:spPr>
      </p:pic>
      <p:sp>
        <p:nvSpPr>
          <p:cNvPr id="53" name="Text 45"/>
          <p:cNvSpPr/>
          <p:nvPr/>
        </p:nvSpPr>
        <p:spPr>
          <a:xfrm>
            <a:off x="9107424" y="6236208"/>
            <a:ext cx="5394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5B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</a:t>
            </a:r>
            <a:endParaRPr lang="en-US" sz="650" dirty="0"/>
          </a:p>
        </p:txBody>
      </p:sp>
      <p:sp>
        <p:nvSpPr>
          <p:cNvPr id="54" name="Text 46"/>
          <p:cNvSpPr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PalmCare — Mockup UI</a:t>
            </a:r>
            <a:endParaRPr lang="en-US" sz="900" dirty="0"/>
          </a:p>
        </p:txBody>
      </p:sp>
      <p:sp>
        <p:nvSpPr>
          <p:cNvPr id="55" name="Text 47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1C7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SUPERVISOR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229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Riwayat Maintenance (Semua Equipment)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1C7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ANOTASI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48640" y="1764792"/>
            <a:ext cx="82296" cy="82296"/>
          </a:xfrm>
          <a:prstGeom prst="ellipse">
            <a:avLst/>
          </a:prstGeom>
          <a:solidFill>
            <a:srgbClr val="0A4A69"/>
          </a:solidFill>
          <a:ln/>
        </p:spPr>
      </p:sp>
      <p:sp>
        <p:nvSpPr>
          <p:cNvPr id="6" name="Text 4"/>
          <p:cNvSpPr/>
          <p:nvPr/>
        </p:nvSpPr>
        <p:spPr>
          <a:xfrm>
            <a:off x="749808" y="1682496"/>
            <a:ext cx="4572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just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2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 maintenance seluruh equipment, dapat difilter berdasarkan tanggal, teknisi, tipe, atau status.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548640" y="2368296"/>
            <a:ext cx="82296" cy="82296"/>
          </a:xfrm>
          <a:prstGeom prst="ellipse">
            <a:avLst/>
          </a:prstGeom>
          <a:solidFill>
            <a:srgbClr val="0A4A69"/>
          </a:solidFill>
          <a:ln/>
        </p:spPr>
      </p:sp>
      <p:sp>
        <p:nvSpPr>
          <p:cNvPr id="8" name="Text 6"/>
          <p:cNvSpPr/>
          <p:nvPr/>
        </p:nvSpPr>
        <p:spPr>
          <a:xfrm>
            <a:off x="749808" y="2286000"/>
            <a:ext cx="4572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just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2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Digunakan Supervisor untuk menelusuri riwayat suatu equipment sebelum mengambil keputusan.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903720" y="502920"/>
            <a:ext cx="2788920" cy="5989320"/>
          </a:xfrm>
          <a:prstGeom prst="roundRect">
            <a:avLst>
              <a:gd name="adj" fmla="val 7213"/>
            </a:avLst>
          </a:prstGeom>
          <a:solidFill>
            <a:srgbClr val="12293D"/>
          </a:solidFill>
          <a:ln/>
          <a:effectLst>
            <a:outerShdw sx="100000" sy="100000" kx="0" ky="0" algn="bl" rotWithShape="0" blurRad="127000" dist="50800" dir="5400000">
              <a:srgbClr val="0A4A69">
                <a:alpha val="3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949440" y="548640"/>
            <a:ext cx="2697480" cy="5897880"/>
          </a:xfrm>
          <a:prstGeom prst="roundRect">
            <a:avLst>
              <a:gd name="adj" fmla="val 6102"/>
            </a:avLst>
          </a:prstGeom>
          <a:solidFill>
            <a:srgbClr val="F6F9FB"/>
          </a:solidFill>
          <a:ln/>
        </p:spPr>
      </p:sp>
      <p:sp>
        <p:nvSpPr>
          <p:cNvPr id="11" name="Text 9"/>
          <p:cNvSpPr/>
          <p:nvPr/>
        </p:nvSpPr>
        <p:spPr>
          <a:xfrm>
            <a:off x="7068312" y="594360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2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9:41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9272016" y="630936"/>
            <a:ext cx="274320" cy="118872"/>
          </a:xfrm>
          <a:prstGeom prst="roundRect">
            <a:avLst>
              <a:gd name="adj" fmla="val 23077"/>
            </a:avLst>
          </a:prstGeom>
          <a:noFill/>
          <a:ln w="9525">
            <a:solidFill>
              <a:srgbClr val="12293D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022592" y="832104"/>
            <a:ext cx="2551176" cy="420624"/>
          </a:xfrm>
          <a:prstGeom prst="rect">
            <a:avLst/>
          </a:prstGeom>
          <a:solidFill>
            <a:srgbClr val="0A4A69"/>
          </a:solidFill>
          <a:ln/>
        </p:spPr>
      </p:sp>
      <p:pic>
        <p:nvPicPr>
          <p:cNvPr id="14" name="Image 0" descr="/home/claude/palmcare-analysis/icons/history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32320" y="950976"/>
            <a:ext cx="182880" cy="182880"/>
          </a:xfrm>
          <a:prstGeom prst="rect">
            <a:avLst/>
          </a:prstGeom>
        </p:spPr>
      </p:pic>
      <p:sp>
        <p:nvSpPr>
          <p:cNvPr id="15" name="Text 12"/>
          <p:cNvSpPr/>
          <p:nvPr/>
        </p:nvSpPr>
        <p:spPr>
          <a:xfrm>
            <a:off x="7351776" y="832104"/>
            <a:ext cx="191109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Riwayat Maintenance</a:t>
            </a:r>
            <a:endParaRPr lang="en-US" sz="1250" dirty="0"/>
          </a:p>
        </p:txBody>
      </p:sp>
      <p:sp>
        <p:nvSpPr>
          <p:cNvPr id="16" name="Shape 13"/>
          <p:cNvSpPr/>
          <p:nvPr/>
        </p:nvSpPr>
        <p:spPr>
          <a:xfrm>
            <a:off x="7022592" y="1344168"/>
            <a:ext cx="2551176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1EBF2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7114032" y="1435608"/>
            <a:ext cx="100584" cy="100584"/>
          </a:xfrm>
          <a:prstGeom prst="ellipse">
            <a:avLst/>
          </a:prstGeom>
          <a:noFill/>
          <a:ln w="12700">
            <a:solidFill>
              <a:srgbClr val="5B7184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7278624" y="1344168"/>
            <a:ext cx="2240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Filter: tanggal, teknisi, status</a:t>
            </a:r>
            <a:endParaRPr lang="en-US" sz="850" dirty="0"/>
          </a:p>
        </p:txBody>
      </p:sp>
      <p:sp>
        <p:nvSpPr>
          <p:cNvPr id="19" name="Shape 16"/>
          <p:cNvSpPr/>
          <p:nvPr/>
        </p:nvSpPr>
        <p:spPr>
          <a:xfrm>
            <a:off x="7022592" y="1728216"/>
            <a:ext cx="2551176" cy="530352"/>
          </a:xfrm>
          <a:prstGeom prst="roundRect">
            <a:avLst>
              <a:gd name="adj" fmla="val 12069"/>
            </a:avLst>
          </a:prstGeom>
          <a:solidFill>
            <a:srgbClr val="FFFFFF"/>
          </a:solidFill>
          <a:ln w="9525">
            <a:solidFill>
              <a:srgbClr val="E1EBF2"/>
            </a:solidFill>
            <a:prstDash val="solid"/>
          </a:ln>
          <a:effectLst>
            <a:outerShdw sx="100000" sy="100000" kx="0" ky="0" algn="bl" rotWithShape="0" blurRad="38100" dist="12700" dir="5400000">
              <a:srgbClr val="1F3864">
                <a:alpha val="6000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7132320" y="1952244"/>
            <a:ext cx="82296" cy="82296"/>
          </a:xfrm>
          <a:prstGeom prst="ellipse">
            <a:avLst/>
          </a:prstGeom>
          <a:solidFill>
            <a:srgbClr val="1E8A5F"/>
          </a:solidFill>
          <a:ln/>
        </p:spPr>
      </p:sp>
      <p:sp>
        <p:nvSpPr>
          <p:cNvPr id="21" name="Text 18"/>
          <p:cNvSpPr/>
          <p:nvPr/>
        </p:nvSpPr>
        <p:spPr>
          <a:xfrm>
            <a:off x="7315200" y="1792224"/>
            <a:ext cx="1508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2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Sep 2026 · Screw Press #02</a:t>
            </a:r>
            <a:endParaRPr lang="en-US" sz="950" dirty="0"/>
          </a:p>
        </p:txBody>
      </p:sp>
      <p:sp>
        <p:nvSpPr>
          <p:cNvPr id="22" name="Text 19"/>
          <p:cNvSpPr/>
          <p:nvPr/>
        </p:nvSpPr>
        <p:spPr>
          <a:xfrm>
            <a:off x="7315200" y="2002536"/>
            <a:ext cx="2148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Preventive · Andi</a:t>
            </a:r>
            <a:endParaRPr lang="en-US" sz="800" dirty="0"/>
          </a:p>
        </p:txBody>
      </p:sp>
      <p:sp>
        <p:nvSpPr>
          <p:cNvPr id="23" name="Text 20"/>
          <p:cNvSpPr/>
          <p:nvPr/>
        </p:nvSpPr>
        <p:spPr>
          <a:xfrm>
            <a:off x="8860536" y="1728216"/>
            <a:ext cx="62179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1C7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Approved</a:t>
            </a:r>
            <a:endParaRPr lang="en-US" sz="750" dirty="0"/>
          </a:p>
        </p:txBody>
      </p:sp>
      <p:sp>
        <p:nvSpPr>
          <p:cNvPr id="24" name="Shape 21"/>
          <p:cNvSpPr/>
          <p:nvPr/>
        </p:nvSpPr>
        <p:spPr>
          <a:xfrm>
            <a:off x="7022592" y="2350008"/>
            <a:ext cx="2551176" cy="530352"/>
          </a:xfrm>
          <a:prstGeom prst="roundRect">
            <a:avLst>
              <a:gd name="adj" fmla="val 12069"/>
            </a:avLst>
          </a:prstGeom>
          <a:solidFill>
            <a:srgbClr val="FFFFFF"/>
          </a:solidFill>
          <a:ln w="9525">
            <a:solidFill>
              <a:srgbClr val="E1EBF2"/>
            </a:solidFill>
            <a:prstDash val="solid"/>
          </a:ln>
          <a:effectLst>
            <a:outerShdw sx="100000" sy="100000" kx="0" ky="0" algn="bl" rotWithShape="0" blurRad="38100" dist="12700" dir="5400000">
              <a:srgbClr val="1F3864">
                <a:alpha val="6000"/>
              </a:srgbClr>
            </a:outerShdw>
          </a:effectLst>
        </p:spPr>
      </p:sp>
      <p:sp>
        <p:nvSpPr>
          <p:cNvPr id="25" name="Shape 22"/>
          <p:cNvSpPr/>
          <p:nvPr/>
        </p:nvSpPr>
        <p:spPr>
          <a:xfrm>
            <a:off x="7132320" y="2574036"/>
            <a:ext cx="82296" cy="82296"/>
          </a:xfrm>
          <a:prstGeom prst="ellipse">
            <a:avLst/>
          </a:prstGeom>
          <a:solidFill>
            <a:srgbClr val="1E8A5F"/>
          </a:solidFill>
          <a:ln/>
        </p:spPr>
      </p:sp>
      <p:sp>
        <p:nvSpPr>
          <p:cNvPr id="26" name="Text 23"/>
          <p:cNvSpPr/>
          <p:nvPr/>
        </p:nvSpPr>
        <p:spPr>
          <a:xfrm>
            <a:off x="7315200" y="2414016"/>
            <a:ext cx="1508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2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 Aug 2026 · Boiler #01</a:t>
            </a:r>
            <a:endParaRPr lang="en-US" sz="950" dirty="0"/>
          </a:p>
        </p:txBody>
      </p:sp>
      <p:sp>
        <p:nvSpPr>
          <p:cNvPr id="27" name="Text 24"/>
          <p:cNvSpPr/>
          <p:nvPr/>
        </p:nvSpPr>
        <p:spPr>
          <a:xfrm>
            <a:off x="7315200" y="2624328"/>
            <a:ext cx="2148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Inspection · Budi</a:t>
            </a:r>
            <a:endParaRPr lang="en-US" sz="800" dirty="0"/>
          </a:p>
        </p:txBody>
      </p:sp>
      <p:sp>
        <p:nvSpPr>
          <p:cNvPr id="28" name="Text 25"/>
          <p:cNvSpPr/>
          <p:nvPr/>
        </p:nvSpPr>
        <p:spPr>
          <a:xfrm>
            <a:off x="8860536" y="2350008"/>
            <a:ext cx="62179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1C7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Approved</a:t>
            </a:r>
            <a:endParaRPr lang="en-US" sz="750" dirty="0"/>
          </a:p>
        </p:txBody>
      </p:sp>
      <p:sp>
        <p:nvSpPr>
          <p:cNvPr id="29" name="Shape 26"/>
          <p:cNvSpPr/>
          <p:nvPr/>
        </p:nvSpPr>
        <p:spPr>
          <a:xfrm>
            <a:off x="7022592" y="2971800"/>
            <a:ext cx="2551176" cy="530352"/>
          </a:xfrm>
          <a:prstGeom prst="roundRect">
            <a:avLst>
              <a:gd name="adj" fmla="val 12069"/>
            </a:avLst>
          </a:prstGeom>
          <a:solidFill>
            <a:srgbClr val="FFFFFF"/>
          </a:solidFill>
          <a:ln w="9525">
            <a:solidFill>
              <a:srgbClr val="E1EBF2"/>
            </a:solidFill>
            <a:prstDash val="solid"/>
          </a:ln>
          <a:effectLst>
            <a:outerShdw sx="100000" sy="100000" kx="0" ky="0" algn="bl" rotWithShape="0" blurRad="38100" dist="12700" dir="5400000">
              <a:srgbClr val="1F3864">
                <a:alpha val="6000"/>
              </a:srgbClr>
            </a:outerShdw>
          </a:effectLst>
        </p:spPr>
      </p:sp>
      <p:sp>
        <p:nvSpPr>
          <p:cNvPr id="30" name="Shape 27"/>
          <p:cNvSpPr/>
          <p:nvPr/>
        </p:nvSpPr>
        <p:spPr>
          <a:xfrm>
            <a:off x="7132320" y="3195828"/>
            <a:ext cx="82296" cy="82296"/>
          </a:xfrm>
          <a:prstGeom prst="ellipse">
            <a:avLst/>
          </a:prstGeom>
          <a:solidFill>
            <a:srgbClr val="1C7FB0"/>
          </a:solidFill>
          <a:ln/>
        </p:spPr>
      </p:sp>
      <p:sp>
        <p:nvSpPr>
          <p:cNvPr id="31" name="Text 28"/>
          <p:cNvSpPr/>
          <p:nvPr/>
        </p:nvSpPr>
        <p:spPr>
          <a:xfrm>
            <a:off x="7315200" y="3035808"/>
            <a:ext cx="1508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2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Aug 2026 · Pump #03</a:t>
            </a:r>
            <a:endParaRPr lang="en-US" sz="950" dirty="0"/>
          </a:p>
        </p:txBody>
      </p:sp>
      <p:sp>
        <p:nvSpPr>
          <p:cNvPr id="32" name="Text 29"/>
          <p:cNvSpPr/>
          <p:nvPr/>
        </p:nvSpPr>
        <p:spPr>
          <a:xfrm>
            <a:off x="7315200" y="3246120"/>
            <a:ext cx="2148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Breakdown · Andi</a:t>
            </a:r>
            <a:endParaRPr lang="en-US" sz="800" dirty="0"/>
          </a:p>
        </p:txBody>
      </p:sp>
      <p:sp>
        <p:nvSpPr>
          <p:cNvPr id="33" name="Text 30"/>
          <p:cNvSpPr/>
          <p:nvPr/>
        </p:nvSpPr>
        <p:spPr>
          <a:xfrm>
            <a:off x="8860536" y="2971800"/>
            <a:ext cx="62179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1C7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Closed</a:t>
            </a:r>
            <a:endParaRPr lang="en-US" sz="750" dirty="0"/>
          </a:p>
        </p:txBody>
      </p:sp>
      <p:sp>
        <p:nvSpPr>
          <p:cNvPr id="34" name="Shape 31"/>
          <p:cNvSpPr/>
          <p:nvPr/>
        </p:nvSpPr>
        <p:spPr>
          <a:xfrm>
            <a:off x="6949440" y="5888736"/>
            <a:ext cx="2697480" cy="51206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5" name="Shape 32"/>
          <p:cNvSpPr/>
          <p:nvPr/>
        </p:nvSpPr>
        <p:spPr>
          <a:xfrm>
            <a:off x="6949440" y="5888736"/>
            <a:ext cx="2697480" cy="0"/>
          </a:xfrm>
          <a:prstGeom prst="line">
            <a:avLst/>
          </a:prstGeom>
          <a:noFill/>
          <a:ln w="12700">
            <a:solidFill>
              <a:srgbClr val="E1EBF2"/>
            </a:solidFill>
            <a:prstDash val="solid"/>
          </a:ln>
        </p:spPr>
      </p:sp>
      <p:pic>
        <p:nvPicPr>
          <p:cNvPr id="36" name="Image 1" descr="/home/claude/palmcare-analysis/icons/dashboard_gray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6892" y="5980176"/>
            <a:ext cx="164592" cy="164592"/>
          </a:xfrm>
          <a:prstGeom prst="rect">
            <a:avLst/>
          </a:prstGeom>
        </p:spPr>
      </p:pic>
      <p:sp>
        <p:nvSpPr>
          <p:cNvPr id="37" name="Text 33"/>
          <p:cNvSpPr/>
          <p:nvPr/>
        </p:nvSpPr>
        <p:spPr>
          <a:xfrm>
            <a:off x="6949440" y="6236208"/>
            <a:ext cx="5394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5B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</a:t>
            </a:r>
            <a:endParaRPr lang="en-US" sz="650" dirty="0"/>
          </a:p>
        </p:txBody>
      </p:sp>
      <p:sp>
        <p:nvSpPr>
          <p:cNvPr id="38" name="Shape 34"/>
          <p:cNvSpPr/>
          <p:nvPr/>
        </p:nvSpPr>
        <p:spPr>
          <a:xfrm>
            <a:off x="7612380" y="5943600"/>
            <a:ext cx="292608" cy="292608"/>
          </a:xfrm>
          <a:prstGeom prst="roundRect">
            <a:avLst>
              <a:gd name="adj" fmla="val 25000"/>
            </a:avLst>
          </a:prstGeom>
          <a:solidFill>
            <a:srgbClr val="DCEAF3"/>
          </a:solidFill>
          <a:ln/>
        </p:spPr>
      </p:sp>
      <p:pic>
        <p:nvPicPr>
          <p:cNvPr id="39" name="Image 2" descr="/home/claude/palmcare-analysis/icons/workorder_nav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76388" y="5980176"/>
            <a:ext cx="164592" cy="164592"/>
          </a:xfrm>
          <a:prstGeom prst="rect">
            <a:avLst/>
          </a:prstGeom>
        </p:spPr>
      </p:pic>
      <p:sp>
        <p:nvSpPr>
          <p:cNvPr id="40" name="Text 35"/>
          <p:cNvSpPr/>
          <p:nvPr/>
        </p:nvSpPr>
        <p:spPr>
          <a:xfrm>
            <a:off x="7488936" y="6236208"/>
            <a:ext cx="5394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0A4A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Maint.</a:t>
            </a:r>
            <a:endParaRPr lang="en-US" sz="650" dirty="0"/>
          </a:p>
        </p:txBody>
      </p:sp>
      <p:pic>
        <p:nvPicPr>
          <p:cNvPr id="41" name="Image 3" descr="/home/claude/palmcare-analysis/icons/tools_gray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15884" y="5980176"/>
            <a:ext cx="164592" cy="164592"/>
          </a:xfrm>
          <a:prstGeom prst="rect">
            <a:avLst/>
          </a:prstGeom>
        </p:spPr>
      </p:pic>
      <p:sp>
        <p:nvSpPr>
          <p:cNvPr id="42" name="Text 36"/>
          <p:cNvSpPr/>
          <p:nvPr/>
        </p:nvSpPr>
        <p:spPr>
          <a:xfrm>
            <a:off x="8028432" y="6236208"/>
            <a:ext cx="5394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5B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Equip.</a:t>
            </a:r>
            <a:endParaRPr lang="en-US" sz="650" dirty="0"/>
          </a:p>
        </p:txBody>
      </p:sp>
      <p:pic>
        <p:nvPicPr>
          <p:cNvPr id="43" name="Image 4" descr="/home/claude/palmcare-analysis/icons/bell_gray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55380" y="5980176"/>
            <a:ext cx="164592" cy="164592"/>
          </a:xfrm>
          <a:prstGeom prst="rect">
            <a:avLst/>
          </a:prstGeom>
        </p:spPr>
      </p:pic>
      <p:sp>
        <p:nvSpPr>
          <p:cNvPr id="44" name="Text 37"/>
          <p:cNvSpPr/>
          <p:nvPr/>
        </p:nvSpPr>
        <p:spPr>
          <a:xfrm>
            <a:off x="8567928" y="6236208"/>
            <a:ext cx="5394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5B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Notif.</a:t>
            </a:r>
            <a:endParaRPr lang="en-US" sz="650" dirty="0"/>
          </a:p>
        </p:txBody>
      </p:sp>
      <p:pic>
        <p:nvPicPr>
          <p:cNvPr id="45" name="Image 5" descr="/home/claude/palmcare-analysis/icons/profile_gray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294876" y="5980176"/>
            <a:ext cx="164592" cy="164592"/>
          </a:xfrm>
          <a:prstGeom prst="rect">
            <a:avLst/>
          </a:prstGeom>
        </p:spPr>
      </p:pic>
      <p:sp>
        <p:nvSpPr>
          <p:cNvPr id="46" name="Text 38"/>
          <p:cNvSpPr/>
          <p:nvPr/>
        </p:nvSpPr>
        <p:spPr>
          <a:xfrm>
            <a:off x="9107424" y="6236208"/>
            <a:ext cx="5394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5B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</a:t>
            </a:r>
            <a:endParaRPr lang="en-US" sz="650" dirty="0"/>
          </a:p>
        </p:txBody>
      </p:sp>
      <p:sp>
        <p:nvSpPr>
          <p:cNvPr id="47" name="Text 39"/>
          <p:cNvSpPr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PalmCare — Mockup UI</a:t>
            </a:r>
            <a:endParaRPr lang="en-US" sz="900" dirty="0"/>
          </a:p>
        </p:txBody>
      </p:sp>
      <p:sp>
        <p:nvSpPr>
          <p:cNvPr id="48" name="Text 40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1C7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SUPERVISOR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229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Laporan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1C7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ANOTASI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48640" y="1764792"/>
            <a:ext cx="82296" cy="82296"/>
          </a:xfrm>
          <a:prstGeom prst="ellipse">
            <a:avLst/>
          </a:prstGeom>
          <a:solidFill>
            <a:srgbClr val="0A4A69"/>
          </a:solidFill>
          <a:ln/>
        </p:spPr>
      </p:sp>
      <p:sp>
        <p:nvSpPr>
          <p:cNvPr id="6" name="Text 4"/>
          <p:cNvSpPr/>
          <p:nvPr/>
        </p:nvSpPr>
        <p:spPr>
          <a:xfrm>
            <a:off x="749808" y="1682496"/>
            <a:ext cx="4572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just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2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Ringkasan maintenance bulanan: total, completed, overdue, dan cancelled.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548640" y="2368296"/>
            <a:ext cx="82296" cy="82296"/>
          </a:xfrm>
          <a:prstGeom prst="ellipse">
            <a:avLst/>
          </a:prstGeom>
          <a:solidFill>
            <a:srgbClr val="0A4A69"/>
          </a:solidFill>
          <a:ln/>
        </p:spPr>
      </p:sp>
      <p:sp>
        <p:nvSpPr>
          <p:cNvPr id="8" name="Text 6"/>
          <p:cNvSpPr/>
          <p:nvPr/>
        </p:nvSpPr>
        <p:spPr>
          <a:xfrm>
            <a:off x="749808" y="2286000"/>
            <a:ext cx="4572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just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2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Angka PM Compliance dan ringkasan breakdown berdasarkan tingkat keparahan.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548640" y="2971800"/>
            <a:ext cx="82296" cy="82296"/>
          </a:xfrm>
          <a:prstGeom prst="ellipse">
            <a:avLst/>
          </a:prstGeom>
          <a:solidFill>
            <a:srgbClr val="0A4A69"/>
          </a:solidFill>
          <a:ln/>
        </p:spPr>
      </p:sp>
      <p:sp>
        <p:nvSpPr>
          <p:cNvPr id="10" name="Text 8"/>
          <p:cNvSpPr/>
          <p:nvPr/>
        </p:nvSpPr>
        <p:spPr>
          <a:xfrm>
            <a:off x="749808" y="2889504"/>
            <a:ext cx="4572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just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2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Dapat diekspor untuk kebutuhan rapat atau evaluasi tim (Phase 2).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6903720" y="502920"/>
            <a:ext cx="2788920" cy="5989320"/>
          </a:xfrm>
          <a:prstGeom prst="roundRect">
            <a:avLst>
              <a:gd name="adj" fmla="val 7213"/>
            </a:avLst>
          </a:prstGeom>
          <a:solidFill>
            <a:srgbClr val="12293D"/>
          </a:solidFill>
          <a:ln/>
          <a:effectLst>
            <a:outerShdw sx="100000" sy="100000" kx="0" ky="0" algn="bl" rotWithShape="0" blurRad="127000" dist="50800" dir="5400000">
              <a:srgbClr val="0A4A69">
                <a:alpha val="3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949440" y="548640"/>
            <a:ext cx="2697480" cy="5897880"/>
          </a:xfrm>
          <a:prstGeom prst="roundRect">
            <a:avLst>
              <a:gd name="adj" fmla="val 6102"/>
            </a:avLst>
          </a:prstGeom>
          <a:solidFill>
            <a:srgbClr val="F6F9FB"/>
          </a:solidFill>
          <a:ln/>
        </p:spPr>
      </p:sp>
      <p:sp>
        <p:nvSpPr>
          <p:cNvPr id="13" name="Text 11"/>
          <p:cNvSpPr/>
          <p:nvPr/>
        </p:nvSpPr>
        <p:spPr>
          <a:xfrm>
            <a:off x="7068312" y="594360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2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9:41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9272016" y="630936"/>
            <a:ext cx="274320" cy="118872"/>
          </a:xfrm>
          <a:prstGeom prst="roundRect">
            <a:avLst>
              <a:gd name="adj" fmla="val 23077"/>
            </a:avLst>
          </a:prstGeom>
          <a:noFill/>
          <a:ln w="9525">
            <a:solidFill>
              <a:srgbClr val="12293D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022592" y="832104"/>
            <a:ext cx="2551176" cy="420624"/>
          </a:xfrm>
          <a:prstGeom prst="rect">
            <a:avLst/>
          </a:prstGeom>
          <a:solidFill>
            <a:srgbClr val="0A4A69"/>
          </a:solidFill>
          <a:ln/>
        </p:spPr>
      </p:sp>
      <p:sp>
        <p:nvSpPr>
          <p:cNvPr id="16" name="Text 14"/>
          <p:cNvSpPr/>
          <p:nvPr/>
        </p:nvSpPr>
        <p:spPr>
          <a:xfrm>
            <a:off x="7168896" y="832104"/>
            <a:ext cx="191109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Laporan</a:t>
            </a:r>
            <a:endParaRPr lang="en-US" sz="1250" dirty="0"/>
          </a:p>
        </p:txBody>
      </p:sp>
      <p:pic>
        <p:nvPicPr>
          <p:cNvPr id="17" name="Image 0" descr="/home/claude/palmcare-analysis/icons/bell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62872" y="950976"/>
            <a:ext cx="182880" cy="182880"/>
          </a:xfrm>
          <a:prstGeom prst="rect">
            <a:avLst/>
          </a:prstGeom>
        </p:spPr>
      </p:pic>
      <p:sp>
        <p:nvSpPr>
          <p:cNvPr id="18" name="Text 15"/>
          <p:cNvSpPr/>
          <p:nvPr/>
        </p:nvSpPr>
        <p:spPr>
          <a:xfrm>
            <a:off x="7022592" y="1344168"/>
            <a:ext cx="255117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1C7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SEPTEMBER 2026</a:t>
            </a:r>
            <a:endParaRPr lang="en-US" sz="800" dirty="0"/>
          </a:p>
        </p:txBody>
      </p:sp>
      <p:sp>
        <p:nvSpPr>
          <p:cNvPr id="19" name="Shape 16"/>
          <p:cNvSpPr/>
          <p:nvPr/>
        </p:nvSpPr>
        <p:spPr>
          <a:xfrm>
            <a:off x="7022592" y="1563624"/>
            <a:ext cx="807720" cy="5486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1EBF2"/>
            </a:solidFill>
            <a:prstDash val="solid"/>
          </a:ln>
          <a:effectLst>
            <a:outerShdw sx="100000" sy="100000" kx="0" ky="0" algn="bl" rotWithShape="0" blurRad="50800" dist="12700" dir="5400000">
              <a:srgbClr val="1F3864">
                <a:alpha val="8000"/>
              </a:srgbClr>
            </a:outerShdw>
          </a:effectLst>
        </p:spPr>
      </p:sp>
      <p:sp>
        <p:nvSpPr>
          <p:cNvPr id="20" name="Text 17"/>
          <p:cNvSpPr/>
          <p:nvPr/>
        </p:nvSpPr>
        <p:spPr>
          <a:xfrm>
            <a:off x="7022592" y="1627632"/>
            <a:ext cx="807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A4A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120</a:t>
            </a:r>
            <a:endParaRPr lang="en-US" sz="1400" dirty="0"/>
          </a:p>
        </p:txBody>
      </p:sp>
      <p:sp>
        <p:nvSpPr>
          <p:cNvPr id="21" name="Text 18"/>
          <p:cNvSpPr/>
          <p:nvPr/>
        </p:nvSpPr>
        <p:spPr>
          <a:xfrm>
            <a:off x="7022592" y="1892808"/>
            <a:ext cx="807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5B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</a:t>
            </a:r>
            <a:endParaRPr lang="en-US" sz="650" dirty="0"/>
          </a:p>
        </p:txBody>
      </p:sp>
      <p:sp>
        <p:nvSpPr>
          <p:cNvPr id="22" name="Shape 19"/>
          <p:cNvSpPr/>
          <p:nvPr/>
        </p:nvSpPr>
        <p:spPr>
          <a:xfrm>
            <a:off x="7894320" y="1563624"/>
            <a:ext cx="807720" cy="5486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1EBF2"/>
            </a:solidFill>
            <a:prstDash val="solid"/>
          </a:ln>
          <a:effectLst>
            <a:outerShdw sx="100000" sy="100000" kx="0" ky="0" algn="bl" rotWithShape="0" blurRad="50800" dist="12700" dir="5400000">
              <a:srgbClr val="1F3864">
                <a:alpha val="8000"/>
              </a:srgbClr>
            </a:outerShdw>
          </a:effectLst>
        </p:spPr>
      </p:sp>
      <p:sp>
        <p:nvSpPr>
          <p:cNvPr id="23" name="Text 20"/>
          <p:cNvSpPr/>
          <p:nvPr/>
        </p:nvSpPr>
        <p:spPr>
          <a:xfrm>
            <a:off x="7894320" y="1627632"/>
            <a:ext cx="807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8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108</a:t>
            </a:r>
            <a:endParaRPr lang="en-US" sz="1400" dirty="0"/>
          </a:p>
        </p:txBody>
      </p:sp>
      <p:sp>
        <p:nvSpPr>
          <p:cNvPr id="24" name="Text 21"/>
          <p:cNvSpPr/>
          <p:nvPr/>
        </p:nvSpPr>
        <p:spPr>
          <a:xfrm>
            <a:off x="7894320" y="1892808"/>
            <a:ext cx="807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5B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Selesai</a:t>
            </a:r>
            <a:endParaRPr lang="en-US" sz="650" dirty="0"/>
          </a:p>
        </p:txBody>
      </p:sp>
      <p:sp>
        <p:nvSpPr>
          <p:cNvPr id="25" name="Shape 22"/>
          <p:cNvSpPr/>
          <p:nvPr/>
        </p:nvSpPr>
        <p:spPr>
          <a:xfrm>
            <a:off x="8766048" y="1563624"/>
            <a:ext cx="807720" cy="5486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1EBF2"/>
            </a:solidFill>
            <a:prstDash val="solid"/>
          </a:ln>
          <a:effectLst>
            <a:outerShdw sx="100000" sy="100000" kx="0" ky="0" algn="bl" rotWithShape="0" blurRad="50800" dist="12700" dir="5400000">
              <a:srgbClr val="1F3864">
                <a:alpha val="8000"/>
              </a:srgbClr>
            </a:outerShdw>
          </a:effectLst>
        </p:spPr>
      </p:sp>
      <p:sp>
        <p:nvSpPr>
          <p:cNvPr id="26" name="Text 23"/>
          <p:cNvSpPr/>
          <p:nvPr/>
        </p:nvSpPr>
        <p:spPr>
          <a:xfrm>
            <a:off x="8766048" y="1627632"/>
            <a:ext cx="807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400" dirty="0"/>
          </a:p>
        </p:txBody>
      </p:sp>
      <p:sp>
        <p:nvSpPr>
          <p:cNvPr id="27" name="Text 24"/>
          <p:cNvSpPr/>
          <p:nvPr/>
        </p:nvSpPr>
        <p:spPr>
          <a:xfrm>
            <a:off x="8766048" y="1892808"/>
            <a:ext cx="807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5B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Overdue</a:t>
            </a:r>
            <a:endParaRPr lang="en-US" sz="650" dirty="0"/>
          </a:p>
        </p:txBody>
      </p:sp>
      <p:sp>
        <p:nvSpPr>
          <p:cNvPr id="28" name="Text 25"/>
          <p:cNvSpPr/>
          <p:nvPr/>
        </p:nvSpPr>
        <p:spPr>
          <a:xfrm>
            <a:off x="7022592" y="2240280"/>
            <a:ext cx="255117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1C7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BREAKDOWN</a:t>
            </a:r>
            <a:endParaRPr lang="en-US" sz="800" dirty="0"/>
          </a:p>
        </p:txBody>
      </p:sp>
      <p:sp>
        <p:nvSpPr>
          <p:cNvPr id="29" name="Shape 26"/>
          <p:cNvSpPr/>
          <p:nvPr/>
        </p:nvSpPr>
        <p:spPr>
          <a:xfrm>
            <a:off x="7022592" y="2459736"/>
            <a:ext cx="2551176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1EBF2"/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7022592" y="2459736"/>
            <a:ext cx="2551176" cy="228600"/>
          </a:xfrm>
          <a:prstGeom prst="rect">
            <a:avLst/>
          </a:prstGeom>
          <a:solidFill>
            <a:srgbClr val="DCEAF3"/>
          </a:solidFill>
          <a:ln/>
        </p:spPr>
      </p:sp>
      <p:sp>
        <p:nvSpPr>
          <p:cNvPr id="31" name="Text 28"/>
          <p:cNvSpPr/>
          <p:nvPr/>
        </p:nvSpPr>
        <p:spPr>
          <a:xfrm>
            <a:off x="7077456" y="2459736"/>
            <a:ext cx="120243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0A4A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Kategori</a:t>
            </a:r>
            <a:endParaRPr lang="en-US" sz="700" dirty="0"/>
          </a:p>
        </p:txBody>
      </p:sp>
      <p:sp>
        <p:nvSpPr>
          <p:cNvPr id="32" name="Text 29"/>
          <p:cNvSpPr/>
          <p:nvPr/>
        </p:nvSpPr>
        <p:spPr>
          <a:xfrm>
            <a:off x="8353044" y="2459736"/>
            <a:ext cx="120243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0A4A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Jumlah</a:t>
            </a:r>
            <a:endParaRPr lang="en-US" sz="700" dirty="0"/>
          </a:p>
        </p:txBody>
      </p:sp>
      <p:sp>
        <p:nvSpPr>
          <p:cNvPr id="33" name="Text 30"/>
          <p:cNvSpPr/>
          <p:nvPr/>
        </p:nvSpPr>
        <p:spPr>
          <a:xfrm>
            <a:off x="7077456" y="2688336"/>
            <a:ext cx="120243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2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</a:t>
            </a:r>
            <a:endParaRPr lang="en-US" sz="700" dirty="0"/>
          </a:p>
        </p:txBody>
      </p:sp>
      <p:sp>
        <p:nvSpPr>
          <p:cNvPr id="34" name="Text 31"/>
          <p:cNvSpPr/>
          <p:nvPr/>
        </p:nvSpPr>
        <p:spPr>
          <a:xfrm>
            <a:off x="8353044" y="2688336"/>
            <a:ext cx="120243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2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700" dirty="0"/>
          </a:p>
        </p:txBody>
      </p:sp>
      <p:sp>
        <p:nvSpPr>
          <p:cNvPr id="35" name="Text 32"/>
          <p:cNvSpPr/>
          <p:nvPr/>
        </p:nvSpPr>
        <p:spPr>
          <a:xfrm>
            <a:off x="7077456" y="2916936"/>
            <a:ext cx="120243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2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Major</a:t>
            </a:r>
            <a:endParaRPr lang="en-US" sz="700" dirty="0"/>
          </a:p>
        </p:txBody>
      </p:sp>
      <p:sp>
        <p:nvSpPr>
          <p:cNvPr id="36" name="Text 33"/>
          <p:cNvSpPr/>
          <p:nvPr/>
        </p:nvSpPr>
        <p:spPr>
          <a:xfrm>
            <a:off x="8353044" y="2916936"/>
            <a:ext cx="120243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2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700" dirty="0"/>
          </a:p>
        </p:txBody>
      </p:sp>
      <p:sp>
        <p:nvSpPr>
          <p:cNvPr id="37" name="Text 34"/>
          <p:cNvSpPr/>
          <p:nvPr/>
        </p:nvSpPr>
        <p:spPr>
          <a:xfrm>
            <a:off x="7077456" y="3145536"/>
            <a:ext cx="120243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2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Minor</a:t>
            </a:r>
            <a:endParaRPr lang="en-US" sz="700" dirty="0"/>
          </a:p>
        </p:txBody>
      </p:sp>
      <p:sp>
        <p:nvSpPr>
          <p:cNvPr id="38" name="Text 35"/>
          <p:cNvSpPr/>
          <p:nvPr/>
        </p:nvSpPr>
        <p:spPr>
          <a:xfrm>
            <a:off x="8353044" y="3145536"/>
            <a:ext cx="120243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2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700" dirty="0"/>
          </a:p>
        </p:txBody>
      </p:sp>
      <p:sp>
        <p:nvSpPr>
          <p:cNvPr id="39" name="Shape 36"/>
          <p:cNvSpPr/>
          <p:nvPr/>
        </p:nvSpPr>
        <p:spPr>
          <a:xfrm>
            <a:off x="7022592" y="3465576"/>
            <a:ext cx="2551176" cy="347472"/>
          </a:xfrm>
          <a:prstGeom prst="roundRect">
            <a:avLst>
              <a:gd name="adj" fmla="val 21053"/>
            </a:avLst>
          </a:prstGeom>
          <a:solidFill>
            <a:srgbClr val="FFFFFF"/>
          </a:solidFill>
          <a:ln w="15875">
            <a:solidFill>
              <a:srgbClr val="0A4A69"/>
            </a:solidFill>
            <a:prstDash val="solid"/>
          </a:ln>
        </p:spPr>
      </p:sp>
      <p:sp>
        <p:nvSpPr>
          <p:cNvPr id="40" name="Text 37"/>
          <p:cNvSpPr/>
          <p:nvPr/>
        </p:nvSpPr>
        <p:spPr>
          <a:xfrm>
            <a:off x="7022592" y="3465576"/>
            <a:ext cx="255117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A4A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 Laporan</a:t>
            </a:r>
            <a:endParaRPr lang="en-US" sz="950" dirty="0"/>
          </a:p>
        </p:txBody>
      </p:sp>
      <p:sp>
        <p:nvSpPr>
          <p:cNvPr id="41" name="Shape 38"/>
          <p:cNvSpPr/>
          <p:nvPr/>
        </p:nvSpPr>
        <p:spPr>
          <a:xfrm>
            <a:off x="6949440" y="5888736"/>
            <a:ext cx="2697480" cy="51206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2" name="Shape 39"/>
          <p:cNvSpPr/>
          <p:nvPr/>
        </p:nvSpPr>
        <p:spPr>
          <a:xfrm>
            <a:off x="6949440" y="5888736"/>
            <a:ext cx="2697480" cy="0"/>
          </a:xfrm>
          <a:prstGeom prst="line">
            <a:avLst/>
          </a:prstGeom>
          <a:noFill/>
          <a:ln w="12700">
            <a:solidFill>
              <a:srgbClr val="E1EBF2"/>
            </a:solidFill>
            <a:prstDash val="solid"/>
          </a:ln>
        </p:spPr>
      </p:sp>
      <p:pic>
        <p:nvPicPr>
          <p:cNvPr id="43" name="Image 1" descr="/home/claude/palmcare-analysis/icons/dashboard_gray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6892" y="5980176"/>
            <a:ext cx="164592" cy="164592"/>
          </a:xfrm>
          <a:prstGeom prst="rect">
            <a:avLst/>
          </a:prstGeom>
        </p:spPr>
      </p:pic>
      <p:sp>
        <p:nvSpPr>
          <p:cNvPr id="44" name="Text 40"/>
          <p:cNvSpPr/>
          <p:nvPr/>
        </p:nvSpPr>
        <p:spPr>
          <a:xfrm>
            <a:off x="6949440" y="6236208"/>
            <a:ext cx="5394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5B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</a:t>
            </a:r>
            <a:endParaRPr lang="en-US" sz="650" dirty="0"/>
          </a:p>
        </p:txBody>
      </p:sp>
      <p:sp>
        <p:nvSpPr>
          <p:cNvPr id="45" name="Shape 41"/>
          <p:cNvSpPr/>
          <p:nvPr/>
        </p:nvSpPr>
        <p:spPr>
          <a:xfrm>
            <a:off x="7612380" y="5943600"/>
            <a:ext cx="292608" cy="292608"/>
          </a:xfrm>
          <a:prstGeom prst="roundRect">
            <a:avLst>
              <a:gd name="adj" fmla="val 25000"/>
            </a:avLst>
          </a:prstGeom>
          <a:solidFill>
            <a:srgbClr val="DCEAF3"/>
          </a:solidFill>
          <a:ln/>
        </p:spPr>
      </p:sp>
      <p:pic>
        <p:nvPicPr>
          <p:cNvPr id="46" name="Image 2" descr="/home/claude/palmcare-analysis/icons/workorder_nav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76388" y="5980176"/>
            <a:ext cx="164592" cy="164592"/>
          </a:xfrm>
          <a:prstGeom prst="rect">
            <a:avLst/>
          </a:prstGeom>
        </p:spPr>
      </p:pic>
      <p:sp>
        <p:nvSpPr>
          <p:cNvPr id="47" name="Text 42"/>
          <p:cNvSpPr/>
          <p:nvPr/>
        </p:nvSpPr>
        <p:spPr>
          <a:xfrm>
            <a:off x="7488936" y="6236208"/>
            <a:ext cx="5394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0A4A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Maint.</a:t>
            </a:r>
            <a:endParaRPr lang="en-US" sz="650" dirty="0"/>
          </a:p>
        </p:txBody>
      </p:sp>
      <p:pic>
        <p:nvPicPr>
          <p:cNvPr id="48" name="Image 3" descr="/home/claude/palmcare-analysis/icons/tools_gray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15884" y="5980176"/>
            <a:ext cx="164592" cy="164592"/>
          </a:xfrm>
          <a:prstGeom prst="rect">
            <a:avLst/>
          </a:prstGeom>
        </p:spPr>
      </p:pic>
      <p:sp>
        <p:nvSpPr>
          <p:cNvPr id="49" name="Text 43"/>
          <p:cNvSpPr/>
          <p:nvPr/>
        </p:nvSpPr>
        <p:spPr>
          <a:xfrm>
            <a:off x="8028432" y="6236208"/>
            <a:ext cx="5394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5B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Equip.</a:t>
            </a:r>
            <a:endParaRPr lang="en-US" sz="650" dirty="0"/>
          </a:p>
        </p:txBody>
      </p:sp>
      <p:pic>
        <p:nvPicPr>
          <p:cNvPr id="50" name="Image 4" descr="/home/claude/palmcare-analysis/icons/bell_gray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55380" y="5980176"/>
            <a:ext cx="164592" cy="164592"/>
          </a:xfrm>
          <a:prstGeom prst="rect">
            <a:avLst/>
          </a:prstGeom>
        </p:spPr>
      </p:pic>
      <p:sp>
        <p:nvSpPr>
          <p:cNvPr id="51" name="Text 44"/>
          <p:cNvSpPr/>
          <p:nvPr/>
        </p:nvSpPr>
        <p:spPr>
          <a:xfrm>
            <a:off x="8567928" y="6236208"/>
            <a:ext cx="5394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5B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Notif.</a:t>
            </a:r>
            <a:endParaRPr lang="en-US" sz="650" dirty="0"/>
          </a:p>
        </p:txBody>
      </p:sp>
      <p:pic>
        <p:nvPicPr>
          <p:cNvPr id="52" name="Image 5" descr="/home/claude/palmcare-analysis/icons/profile_gray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294876" y="5980176"/>
            <a:ext cx="164592" cy="164592"/>
          </a:xfrm>
          <a:prstGeom prst="rect">
            <a:avLst/>
          </a:prstGeom>
        </p:spPr>
      </p:pic>
      <p:sp>
        <p:nvSpPr>
          <p:cNvPr id="53" name="Text 45"/>
          <p:cNvSpPr/>
          <p:nvPr/>
        </p:nvSpPr>
        <p:spPr>
          <a:xfrm>
            <a:off x="9107424" y="6236208"/>
            <a:ext cx="5394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5B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</a:t>
            </a:r>
            <a:endParaRPr lang="en-US" sz="650" dirty="0"/>
          </a:p>
        </p:txBody>
      </p:sp>
      <p:sp>
        <p:nvSpPr>
          <p:cNvPr id="54" name="Text 46"/>
          <p:cNvSpPr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PalmCare — Mockup UI</a:t>
            </a:r>
            <a:endParaRPr lang="en-US" sz="900" dirty="0"/>
          </a:p>
        </p:txBody>
      </p:sp>
      <p:sp>
        <p:nvSpPr>
          <p:cNvPr id="55" name="Text 47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1C7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SUPERVISOR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229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Notifikasi &amp; Profil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188720" y="1371600"/>
            <a:ext cx="2606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2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Notifikasi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1188720" y="1645920"/>
            <a:ext cx="2606040" cy="4754880"/>
          </a:xfrm>
          <a:prstGeom prst="roundRect">
            <a:avLst>
              <a:gd name="adj" fmla="val 7719"/>
            </a:avLst>
          </a:prstGeom>
          <a:solidFill>
            <a:srgbClr val="12293D"/>
          </a:solidFill>
          <a:ln/>
          <a:effectLst>
            <a:outerShdw sx="100000" sy="100000" kx="0" ky="0" algn="bl" rotWithShape="0" blurRad="127000" dist="50800" dir="5400000">
              <a:srgbClr val="0A4A69">
                <a:alpha val="3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234440" y="1691640"/>
            <a:ext cx="2514600" cy="4663440"/>
          </a:xfrm>
          <a:prstGeom prst="roundRect">
            <a:avLst>
              <a:gd name="adj" fmla="val 6545"/>
            </a:avLst>
          </a:prstGeom>
          <a:solidFill>
            <a:srgbClr val="F6F9FB"/>
          </a:solidFill>
          <a:ln/>
        </p:spPr>
      </p:sp>
      <p:sp>
        <p:nvSpPr>
          <p:cNvPr id="7" name="Text 5"/>
          <p:cNvSpPr/>
          <p:nvPr/>
        </p:nvSpPr>
        <p:spPr>
          <a:xfrm>
            <a:off x="1353312" y="1737360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2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9:41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3374136" y="1773936"/>
            <a:ext cx="274320" cy="118872"/>
          </a:xfrm>
          <a:prstGeom prst="roundRect">
            <a:avLst>
              <a:gd name="adj" fmla="val 23077"/>
            </a:avLst>
          </a:prstGeom>
          <a:noFill/>
          <a:ln w="9525">
            <a:solidFill>
              <a:srgbClr val="12293D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307592" y="1975104"/>
            <a:ext cx="2368296" cy="420624"/>
          </a:xfrm>
          <a:prstGeom prst="rect">
            <a:avLst/>
          </a:prstGeom>
          <a:solidFill>
            <a:srgbClr val="0A4A69"/>
          </a:solidFill>
          <a:ln/>
        </p:spPr>
      </p:sp>
      <p:sp>
        <p:nvSpPr>
          <p:cNvPr id="10" name="Text 8"/>
          <p:cNvSpPr/>
          <p:nvPr/>
        </p:nvSpPr>
        <p:spPr>
          <a:xfrm>
            <a:off x="1453896" y="1975104"/>
            <a:ext cx="17282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Notifikasi</a:t>
            </a:r>
            <a:endParaRPr lang="en-US" sz="1250" dirty="0"/>
          </a:p>
        </p:txBody>
      </p:sp>
      <p:pic>
        <p:nvPicPr>
          <p:cNvPr id="11" name="Image 0" descr="/home/claude/palmcare-analysis/icons/bell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364992" y="2093976"/>
            <a:ext cx="182880" cy="182880"/>
          </a:xfrm>
          <a:prstGeom prst="rect">
            <a:avLst/>
          </a:prstGeom>
        </p:spPr>
      </p:pic>
      <p:sp>
        <p:nvSpPr>
          <p:cNvPr id="12" name="Shape 9"/>
          <p:cNvSpPr/>
          <p:nvPr/>
        </p:nvSpPr>
        <p:spPr>
          <a:xfrm>
            <a:off x="1307592" y="2487168"/>
            <a:ext cx="2368296" cy="530352"/>
          </a:xfrm>
          <a:prstGeom prst="roundRect">
            <a:avLst>
              <a:gd name="adj" fmla="val 12069"/>
            </a:avLst>
          </a:prstGeom>
          <a:solidFill>
            <a:srgbClr val="FFFFFF"/>
          </a:solidFill>
          <a:ln w="9525">
            <a:solidFill>
              <a:srgbClr val="E1EBF2"/>
            </a:solidFill>
            <a:prstDash val="solid"/>
          </a:ln>
          <a:effectLst>
            <a:outerShdw sx="100000" sy="100000" kx="0" ky="0" algn="bl" rotWithShape="0" blurRad="38100" dist="12700" dir="5400000">
              <a:srgbClr val="1F3864">
                <a:alpha val="6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1435608" y="2551176"/>
            <a:ext cx="21305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2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Submission baru</a:t>
            </a:r>
            <a:endParaRPr lang="en-US" sz="950" dirty="0"/>
          </a:p>
        </p:txBody>
      </p:sp>
      <p:sp>
        <p:nvSpPr>
          <p:cNvPr id="14" name="Text 11"/>
          <p:cNvSpPr/>
          <p:nvPr/>
        </p:nvSpPr>
        <p:spPr>
          <a:xfrm>
            <a:off x="1435608" y="2761488"/>
            <a:ext cx="21305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Andi · Screw Press #02</a:t>
            </a:r>
            <a:endParaRPr lang="en-US" sz="800" dirty="0"/>
          </a:p>
        </p:txBody>
      </p:sp>
      <p:sp>
        <p:nvSpPr>
          <p:cNvPr id="15" name="Shape 12"/>
          <p:cNvSpPr/>
          <p:nvPr/>
        </p:nvSpPr>
        <p:spPr>
          <a:xfrm>
            <a:off x="1307592" y="3108960"/>
            <a:ext cx="2368296" cy="530352"/>
          </a:xfrm>
          <a:prstGeom prst="roundRect">
            <a:avLst>
              <a:gd name="adj" fmla="val 12069"/>
            </a:avLst>
          </a:prstGeom>
          <a:solidFill>
            <a:srgbClr val="FFFFFF"/>
          </a:solidFill>
          <a:ln w="9525">
            <a:solidFill>
              <a:srgbClr val="E1EBF2"/>
            </a:solidFill>
            <a:prstDash val="solid"/>
          </a:ln>
          <a:effectLst>
            <a:outerShdw sx="100000" sy="100000" kx="0" ky="0" algn="bl" rotWithShape="0" blurRad="38100" dist="12700" dir="5400000">
              <a:srgbClr val="1F3864">
                <a:alpha val="6000"/>
              </a:srgbClr>
            </a:outerShdw>
          </a:effectLst>
        </p:spPr>
      </p:sp>
      <p:sp>
        <p:nvSpPr>
          <p:cNvPr id="16" name="Text 13"/>
          <p:cNvSpPr/>
          <p:nvPr/>
        </p:nvSpPr>
        <p:spPr>
          <a:xfrm>
            <a:off x="1435608" y="3172968"/>
            <a:ext cx="21305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2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Breakdown dilaporkan</a:t>
            </a:r>
            <a:endParaRPr lang="en-US" sz="950" dirty="0"/>
          </a:p>
        </p:txBody>
      </p:sp>
      <p:sp>
        <p:nvSpPr>
          <p:cNvPr id="17" name="Text 14"/>
          <p:cNvSpPr/>
          <p:nvPr/>
        </p:nvSpPr>
        <p:spPr>
          <a:xfrm>
            <a:off x="1435608" y="3383280"/>
            <a:ext cx="21305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Pump #03 · Critical</a:t>
            </a:r>
            <a:endParaRPr lang="en-US" sz="800" dirty="0"/>
          </a:p>
        </p:txBody>
      </p:sp>
      <p:sp>
        <p:nvSpPr>
          <p:cNvPr id="18" name="Shape 15"/>
          <p:cNvSpPr/>
          <p:nvPr/>
        </p:nvSpPr>
        <p:spPr>
          <a:xfrm>
            <a:off x="1307592" y="3730752"/>
            <a:ext cx="2368296" cy="530352"/>
          </a:xfrm>
          <a:prstGeom prst="roundRect">
            <a:avLst>
              <a:gd name="adj" fmla="val 12069"/>
            </a:avLst>
          </a:prstGeom>
          <a:solidFill>
            <a:srgbClr val="FFFFFF"/>
          </a:solidFill>
          <a:ln w="9525">
            <a:solidFill>
              <a:srgbClr val="E1EBF2"/>
            </a:solidFill>
            <a:prstDash val="solid"/>
          </a:ln>
          <a:effectLst>
            <a:outerShdw sx="100000" sy="100000" kx="0" ky="0" algn="bl" rotWithShape="0" blurRad="38100" dist="12700" dir="5400000">
              <a:srgbClr val="1F3864">
                <a:alpha val="6000"/>
              </a:srgbClr>
            </a:outerShdw>
          </a:effectLst>
        </p:spPr>
      </p:sp>
      <p:sp>
        <p:nvSpPr>
          <p:cNvPr id="19" name="Text 16"/>
          <p:cNvSpPr/>
          <p:nvPr/>
        </p:nvSpPr>
        <p:spPr>
          <a:xfrm>
            <a:off x="1435608" y="3794760"/>
            <a:ext cx="21305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2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Reminder jadwal</a:t>
            </a:r>
            <a:endParaRPr lang="en-US" sz="950" dirty="0"/>
          </a:p>
        </p:txBody>
      </p:sp>
      <p:sp>
        <p:nvSpPr>
          <p:cNvPr id="20" name="Text 17"/>
          <p:cNvSpPr/>
          <p:nvPr/>
        </p:nvSpPr>
        <p:spPr>
          <a:xfrm>
            <a:off x="1435608" y="4005072"/>
            <a:ext cx="21305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equipment due besok</a:t>
            </a:r>
            <a:endParaRPr lang="en-US" sz="800" dirty="0"/>
          </a:p>
        </p:txBody>
      </p:sp>
      <p:sp>
        <p:nvSpPr>
          <p:cNvPr id="21" name="Shape 18"/>
          <p:cNvSpPr/>
          <p:nvPr/>
        </p:nvSpPr>
        <p:spPr>
          <a:xfrm>
            <a:off x="1234440" y="5797296"/>
            <a:ext cx="2514600" cy="51206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2" name="Shape 19"/>
          <p:cNvSpPr/>
          <p:nvPr/>
        </p:nvSpPr>
        <p:spPr>
          <a:xfrm>
            <a:off x="1234440" y="5797296"/>
            <a:ext cx="2514600" cy="0"/>
          </a:xfrm>
          <a:prstGeom prst="line">
            <a:avLst/>
          </a:prstGeom>
          <a:noFill/>
          <a:ln w="12700">
            <a:solidFill>
              <a:srgbClr val="E1EBF2"/>
            </a:solidFill>
            <a:prstDash val="solid"/>
          </a:ln>
        </p:spPr>
      </p:sp>
      <p:pic>
        <p:nvPicPr>
          <p:cNvPr id="23" name="Image 1" descr="/home/claude/palmcare-analysis/icons/dashboard_gray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03604" y="5888736"/>
            <a:ext cx="164592" cy="164592"/>
          </a:xfrm>
          <a:prstGeom prst="rect">
            <a:avLst/>
          </a:prstGeom>
        </p:spPr>
      </p:pic>
      <p:sp>
        <p:nvSpPr>
          <p:cNvPr id="24" name="Text 20"/>
          <p:cNvSpPr/>
          <p:nvPr/>
        </p:nvSpPr>
        <p:spPr>
          <a:xfrm>
            <a:off x="1234440" y="6144768"/>
            <a:ext cx="502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5B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</a:t>
            </a:r>
            <a:endParaRPr lang="en-US" sz="650" dirty="0"/>
          </a:p>
        </p:txBody>
      </p:sp>
      <p:pic>
        <p:nvPicPr>
          <p:cNvPr id="25" name="Image 2" descr="/home/claude/palmcare-analysis/icons/workorder_gra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06524" y="5888736"/>
            <a:ext cx="164592" cy="164592"/>
          </a:xfrm>
          <a:prstGeom prst="rect">
            <a:avLst/>
          </a:prstGeom>
        </p:spPr>
      </p:pic>
      <p:sp>
        <p:nvSpPr>
          <p:cNvPr id="26" name="Text 21"/>
          <p:cNvSpPr/>
          <p:nvPr/>
        </p:nvSpPr>
        <p:spPr>
          <a:xfrm>
            <a:off x="1737360" y="6144768"/>
            <a:ext cx="502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5B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Maint.</a:t>
            </a:r>
            <a:endParaRPr lang="en-US" sz="650" dirty="0"/>
          </a:p>
        </p:txBody>
      </p:sp>
      <p:pic>
        <p:nvPicPr>
          <p:cNvPr id="27" name="Image 3" descr="/home/claude/palmcare-analysis/icons/tools_gray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09444" y="5888736"/>
            <a:ext cx="164592" cy="164592"/>
          </a:xfrm>
          <a:prstGeom prst="rect">
            <a:avLst/>
          </a:prstGeom>
        </p:spPr>
      </p:pic>
      <p:sp>
        <p:nvSpPr>
          <p:cNvPr id="28" name="Text 22"/>
          <p:cNvSpPr/>
          <p:nvPr/>
        </p:nvSpPr>
        <p:spPr>
          <a:xfrm>
            <a:off x="2240280" y="6144768"/>
            <a:ext cx="502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5B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Equip.</a:t>
            </a:r>
            <a:endParaRPr lang="en-US" sz="650" dirty="0"/>
          </a:p>
        </p:txBody>
      </p:sp>
      <p:sp>
        <p:nvSpPr>
          <p:cNvPr id="29" name="Shape 23"/>
          <p:cNvSpPr/>
          <p:nvPr/>
        </p:nvSpPr>
        <p:spPr>
          <a:xfrm>
            <a:off x="2848356" y="5852160"/>
            <a:ext cx="292608" cy="292608"/>
          </a:xfrm>
          <a:prstGeom prst="roundRect">
            <a:avLst>
              <a:gd name="adj" fmla="val 25000"/>
            </a:avLst>
          </a:prstGeom>
          <a:solidFill>
            <a:srgbClr val="DCEAF3"/>
          </a:solidFill>
          <a:ln/>
        </p:spPr>
      </p:sp>
      <p:pic>
        <p:nvPicPr>
          <p:cNvPr id="30" name="Image 4" descr="/home/claude/palmcare-analysis/icons/bell_navy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912364" y="5888736"/>
            <a:ext cx="164592" cy="164592"/>
          </a:xfrm>
          <a:prstGeom prst="rect">
            <a:avLst/>
          </a:prstGeom>
        </p:spPr>
      </p:pic>
      <p:sp>
        <p:nvSpPr>
          <p:cNvPr id="31" name="Text 24"/>
          <p:cNvSpPr/>
          <p:nvPr/>
        </p:nvSpPr>
        <p:spPr>
          <a:xfrm>
            <a:off x="2743200" y="6144768"/>
            <a:ext cx="502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0A4A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Notif.</a:t>
            </a:r>
            <a:endParaRPr lang="en-US" sz="650" dirty="0"/>
          </a:p>
        </p:txBody>
      </p:sp>
      <p:pic>
        <p:nvPicPr>
          <p:cNvPr id="32" name="Image 5" descr="/home/claude/palmcare-analysis/icons/profile_gray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415284" y="5888736"/>
            <a:ext cx="164592" cy="164592"/>
          </a:xfrm>
          <a:prstGeom prst="rect">
            <a:avLst/>
          </a:prstGeom>
        </p:spPr>
      </p:pic>
      <p:sp>
        <p:nvSpPr>
          <p:cNvPr id="33" name="Text 25"/>
          <p:cNvSpPr/>
          <p:nvPr/>
        </p:nvSpPr>
        <p:spPr>
          <a:xfrm>
            <a:off x="3246120" y="6144768"/>
            <a:ext cx="502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5B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</a:t>
            </a:r>
            <a:endParaRPr lang="en-US" sz="650" dirty="0"/>
          </a:p>
        </p:txBody>
      </p:sp>
      <p:sp>
        <p:nvSpPr>
          <p:cNvPr id="34" name="Text 26"/>
          <p:cNvSpPr/>
          <p:nvPr/>
        </p:nvSpPr>
        <p:spPr>
          <a:xfrm>
            <a:off x="6309360" y="1371600"/>
            <a:ext cx="2606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2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</a:t>
            </a:r>
            <a:endParaRPr lang="en-US" sz="1100" dirty="0"/>
          </a:p>
        </p:txBody>
      </p:sp>
      <p:sp>
        <p:nvSpPr>
          <p:cNvPr id="35" name="Shape 27"/>
          <p:cNvSpPr/>
          <p:nvPr/>
        </p:nvSpPr>
        <p:spPr>
          <a:xfrm>
            <a:off x="6309360" y="1645920"/>
            <a:ext cx="2606040" cy="4754880"/>
          </a:xfrm>
          <a:prstGeom prst="roundRect">
            <a:avLst>
              <a:gd name="adj" fmla="val 7719"/>
            </a:avLst>
          </a:prstGeom>
          <a:solidFill>
            <a:srgbClr val="12293D"/>
          </a:solidFill>
          <a:ln/>
          <a:effectLst>
            <a:outerShdw sx="100000" sy="100000" kx="0" ky="0" algn="bl" rotWithShape="0" blurRad="127000" dist="50800" dir="5400000">
              <a:srgbClr val="0A4A69">
                <a:alpha val="35000"/>
              </a:srgbClr>
            </a:outerShdw>
          </a:effectLst>
        </p:spPr>
      </p:sp>
      <p:sp>
        <p:nvSpPr>
          <p:cNvPr id="36" name="Shape 28"/>
          <p:cNvSpPr/>
          <p:nvPr/>
        </p:nvSpPr>
        <p:spPr>
          <a:xfrm>
            <a:off x="6355080" y="1691640"/>
            <a:ext cx="2514600" cy="4663440"/>
          </a:xfrm>
          <a:prstGeom prst="roundRect">
            <a:avLst>
              <a:gd name="adj" fmla="val 6545"/>
            </a:avLst>
          </a:prstGeom>
          <a:solidFill>
            <a:srgbClr val="F6F9FB"/>
          </a:solidFill>
          <a:ln/>
        </p:spPr>
      </p:sp>
      <p:sp>
        <p:nvSpPr>
          <p:cNvPr id="37" name="Text 29"/>
          <p:cNvSpPr/>
          <p:nvPr/>
        </p:nvSpPr>
        <p:spPr>
          <a:xfrm>
            <a:off x="6473952" y="1737360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2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9:41</a:t>
            </a:r>
            <a:endParaRPr lang="en-US" sz="800" dirty="0"/>
          </a:p>
        </p:txBody>
      </p:sp>
      <p:sp>
        <p:nvSpPr>
          <p:cNvPr id="38" name="Shape 30"/>
          <p:cNvSpPr/>
          <p:nvPr/>
        </p:nvSpPr>
        <p:spPr>
          <a:xfrm>
            <a:off x="8494776" y="1773936"/>
            <a:ext cx="274320" cy="118872"/>
          </a:xfrm>
          <a:prstGeom prst="roundRect">
            <a:avLst>
              <a:gd name="adj" fmla="val 23077"/>
            </a:avLst>
          </a:prstGeom>
          <a:noFill/>
          <a:ln w="9525">
            <a:solidFill>
              <a:srgbClr val="12293D"/>
            </a:solidFill>
            <a:prstDash val="solid"/>
          </a:ln>
        </p:spPr>
      </p:sp>
      <p:sp>
        <p:nvSpPr>
          <p:cNvPr id="39" name="Shape 31"/>
          <p:cNvSpPr/>
          <p:nvPr/>
        </p:nvSpPr>
        <p:spPr>
          <a:xfrm>
            <a:off x="6428232" y="1975104"/>
            <a:ext cx="2368296" cy="420624"/>
          </a:xfrm>
          <a:prstGeom prst="rect">
            <a:avLst/>
          </a:prstGeom>
          <a:solidFill>
            <a:srgbClr val="0A4A69"/>
          </a:solidFill>
          <a:ln/>
        </p:spPr>
      </p:sp>
      <p:sp>
        <p:nvSpPr>
          <p:cNvPr id="40" name="Text 32"/>
          <p:cNvSpPr/>
          <p:nvPr/>
        </p:nvSpPr>
        <p:spPr>
          <a:xfrm>
            <a:off x="6574536" y="1975104"/>
            <a:ext cx="17282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</a:t>
            </a:r>
            <a:endParaRPr lang="en-US" sz="1250" dirty="0"/>
          </a:p>
        </p:txBody>
      </p:sp>
      <p:pic>
        <p:nvPicPr>
          <p:cNvPr id="41" name="Image 6" descr="/home/claude/palmcare-analysis/icons/bell_white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485632" y="2093976"/>
            <a:ext cx="182880" cy="182880"/>
          </a:xfrm>
          <a:prstGeom prst="rect">
            <a:avLst/>
          </a:prstGeom>
        </p:spPr>
      </p:pic>
      <p:sp>
        <p:nvSpPr>
          <p:cNvPr id="42" name="Shape 33"/>
          <p:cNvSpPr/>
          <p:nvPr/>
        </p:nvSpPr>
        <p:spPr>
          <a:xfrm>
            <a:off x="6428232" y="2487168"/>
            <a:ext cx="2368296" cy="640080"/>
          </a:xfrm>
          <a:prstGeom prst="roundRect">
            <a:avLst>
              <a:gd name="adj" fmla="val 10000"/>
            </a:avLst>
          </a:prstGeom>
          <a:solidFill>
            <a:srgbClr val="DCEAF3"/>
          </a:solidFill>
          <a:ln w="9525">
            <a:solidFill>
              <a:srgbClr val="1C7FB0"/>
            </a:solidFill>
            <a:prstDash val="dash"/>
          </a:ln>
        </p:spPr>
      </p:sp>
      <p:pic>
        <p:nvPicPr>
          <p:cNvPr id="43" name="Image 7" descr="/home/claude/palmcare-analysis/icons/folder_navy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466076" y="2551176"/>
            <a:ext cx="292608" cy="292608"/>
          </a:xfrm>
          <a:prstGeom prst="rect">
            <a:avLst/>
          </a:prstGeom>
        </p:spPr>
      </p:pic>
      <p:sp>
        <p:nvSpPr>
          <p:cNvPr id="44" name="Text 34"/>
          <p:cNvSpPr/>
          <p:nvPr/>
        </p:nvSpPr>
        <p:spPr>
          <a:xfrm>
            <a:off x="6428232" y="2862072"/>
            <a:ext cx="23682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C7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Foto Profil</a:t>
            </a:r>
            <a:endParaRPr lang="en-US" sz="750" dirty="0"/>
          </a:p>
        </p:txBody>
      </p:sp>
      <p:sp>
        <p:nvSpPr>
          <p:cNvPr id="45" name="Shape 35"/>
          <p:cNvSpPr/>
          <p:nvPr/>
        </p:nvSpPr>
        <p:spPr>
          <a:xfrm>
            <a:off x="6428232" y="3218688"/>
            <a:ext cx="2368296" cy="64008"/>
          </a:xfrm>
          <a:prstGeom prst="roundRect">
            <a:avLst>
              <a:gd name="adj" fmla="val 28571"/>
            </a:avLst>
          </a:prstGeom>
          <a:solidFill>
            <a:srgbClr val="DCEAF3"/>
          </a:solidFill>
          <a:ln/>
        </p:spPr>
      </p:sp>
      <p:sp>
        <p:nvSpPr>
          <p:cNvPr id="46" name="Shape 36"/>
          <p:cNvSpPr/>
          <p:nvPr/>
        </p:nvSpPr>
        <p:spPr>
          <a:xfrm>
            <a:off x="6428232" y="3364992"/>
            <a:ext cx="1420978" cy="64008"/>
          </a:xfrm>
          <a:prstGeom prst="roundRect">
            <a:avLst>
              <a:gd name="adj" fmla="val 28571"/>
            </a:avLst>
          </a:prstGeom>
          <a:solidFill>
            <a:srgbClr val="DCEAF3"/>
          </a:solidFill>
          <a:ln/>
        </p:spPr>
      </p:sp>
      <p:sp>
        <p:nvSpPr>
          <p:cNvPr id="47" name="Text 37"/>
          <p:cNvSpPr/>
          <p:nvPr/>
        </p:nvSpPr>
        <p:spPr>
          <a:xfrm>
            <a:off x="6428232" y="3602736"/>
            <a:ext cx="23682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1C7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AKUN</a:t>
            </a:r>
            <a:endParaRPr lang="en-US" sz="800" dirty="0"/>
          </a:p>
        </p:txBody>
      </p:sp>
      <p:sp>
        <p:nvSpPr>
          <p:cNvPr id="48" name="Shape 38"/>
          <p:cNvSpPr/>
          <p:nvPr/>
        </p:nvSpPr>
        <p:spPr>
          <a:xfrm>
            <a:off x="6428232" y="3822192"/>
            <a:ext cx="2368296" cy="530352"/>
          </a:xfrm>
          <a:prstGeom prst="roundRect">
            <a:avLst>
              <a:gd name="adj" fmla="val 12069"/>
            </a:avLst>
          </a:prstGeom>
          <a:solidFill>
            <a:srgbClr val="FFFFFF"/>
          </a:solidFill>
          <a:ln w="9525">
            <a:solidFill>
              <a:srgbClr val="E1EBF2"/>
            </a:solidFill>
            <a:prstDash val="solid"/>
          </a:ln>
          <a:effectLst>
            <a:outerShdw sx="100000" sy="100000" kx="0" ky="0" algn="bl" rotWithShape="0" blurRad="38100" dist="12700" dir="5400000">
              <a:srgbClr val="1F3864">
                <a:alpha val="6000"/>
              </a:srgbClr>
            </a:outerShdw>
          </a:effectLst>
        </p:spPr>
      </p:sp>
      <p:sp>
        <p:nvSpPr>
          <p:cNvPr id="49" name="Text 39"/>
          <p:cNvSpPr/>
          <p:nvPr/>
        </p:nvSpPr>
        <p:spPr>
          <a:xfrm>
            <a:off x="6556248" y="3886200"/>
            <a:ext cx="14904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2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Ubah Password</a:t>
            </a:r>
            <a:endParaRPr lang="en-US" sz="950" dirty="0"/>
          </a:p>
        </p:txBody>
      </p:sp>
      <p:sp>
        <p:nvSpPr>
          <p:cNvPr id="50" name="Text 40"/>
          <p:cNvSpPr/>
          <p:nvPr/>
        </p:nvSpPr>
        <p:spPr>
          <a:xfrm>
            <a:off x="8083296" y="3822192"/>
            <a:ext cx="62179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1C7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</a:t>
            </a:r>
            <a:endParaRPr lang="en-US" sz="750" dirty="0"/>
          </a:p>
        </p:txBody>
      </p:sp>
      <p:sp>
        <p:nvSpPr>
          <p:cNvPr id="51" name="Shape 41"/>
          <p:cNvSpPr/>
          <p:nvPr/>
        </p:nvSpPr>
        <p:spPr>
          <a:xfrm>
            <a:off x="6428232" y="4443984"/>
            <a:ext cx="2368296" cy="530352"/>
          </a:xfrm>
          <a:prstGeom prst="roundRect">
            <a:avLst>
              <a:gd name="adj" fmla="val 12069"/>
            </a:avLst>
          </a:prstGeom>
          <a:solidFill>
            <a:srgbClr val="FFFFFF"/>
          </a:solidFill>
          <a:ln w="9525">
            <a:solidFill>
              <a:srgbClr val="E1EBF2"/>
            </a:solidFill>
            <a:prstDash val="solid"/>
          </a:ln>
          <a:effectLst>
            <a:outerShdw sx="100000" sy="100000" kx="0" ky="0" algn="bl" rotWithShape="0" blurRad="38100" dist="12700" dir="5400000">
              <a:srgbClr val="1F3864">
                <a:alpha val="6000"/>
              </a:srgbClr>
            </a:outerShdw>
          </a:effectLst>
        </p:spPr>
      </p:sp>
      <p:sp>
        <p:nvSpPr>
          <p:cNvPr id="52" name="Text 42"/>
          <p:cNvSpPr/>
          <p:nvPr/>
        </p:nvSpPr>
        <p:spPr>
          <a:xfrm>
            <a:off x="6556248" y="4507992"/>
            <a:ext cx="14904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2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Keluar</a:t>
            </a:r>
            <a:endParaRPr lang="en-US" sz="950" dirty="0"/>
          </a:p>
        </p:txBody>
      </p:sp>
      <p:sp>
        <p:nvSpPr>
          <p:cNvPr id="53" name="Text 43"/>
          <p:cNvSpPr/>
          <p:nvPr/>
        </p:nvSpPr>
        <p:spPr>
          <a:xfrm>
            <a:off x="8083296" y="4443984"/>
            <a:ext cx="62179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1C7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</a:t>
            </a:r>
            <a:endParaRPr lang="en-US" sz="750" dirty="0"/>
          </a:p>
        </p:txBody>
      </p:sp>
      <p:sp>
        <p:nvSpPr>
          <p:cNvPr id="54" name="Shape 44"/>
          <p:cNvSpPr/>
          <p:nvPr/>
        </p:nvSpPr>
        <p:spPr>
          <a:xfrm>
            <a:off x="6355080" y="5797296"/>
            <a:ext cx="2514600" cy="51206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5" name="Shape 45"/>
          <p:cNvSpPr/>
          <p:nvPr/>
        </p:nvSpPr>
        <p:spPr>
          <a:xfrm>
            <a:off x="6355080" y="5797296"/>
            <a:ext cx="2514600" cy="0"/>
          </a:xfrm>
          <a:prstGeom prst="line">
            <a:avLst/>
          </a:prstGeom>
          <a:noFill/>
          <a:ln w="12700">
            <a:solidFill>
              <a:srgbClr val="E1EBF2"/>
            </a:solidFill>
            <a:prstDash val="solid"/>
          </a:ln>
        </p:spPr>
      </p:sp>
      <p:pic>
        <p:nvPicPr>
          <p:cNvPr id="56" name="Image 8" descr="/home/claude/palmcare-analysis/icons/dashboard_gray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524244" y="5888736"/>
            <a:ext cx="164592" cy="164592"/>
          </a:xfrm>
          <a:prstGeom prst="rect">
            <a:avLst/>
          </a:prstGeom>
        </p:spPr>
      </p:pic>
      <p:sp>
        <p:nvSpPr>
          <p:cNvPr id="57" name="Text 46"/>
          <p:cNvSpPr/>
          <p:nvPr/>
        </p:nvSpPr>
        <p:spPr>
          <a:xfrm>
            <a:off x="6355080" y="6144768"/>
            <a:ext cx="502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5B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</a:t>
            </a:r>
            <a:endParaRPr lang="en-US" sz="650" dirty="0"/>
          </a:p>
        </p:txBody>
      </p:sp>
      <p:pic>
        <p:nvPicPr>
          <p:cNvPr id="58" name="Image 9" descr="/home/claude/palmcare-analysis/icons/workorder_gray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027164" y="5888736"/>
            <a:ext cx="164592" cy="164592"/>
          </a:xfrm>
          <a:prstGeom prst="rect">
            <a:avLst/>
          </a:prstGeom>
        </p:spPr>
      </p:pic>
      <p:sp>
        <p:nvSpPr>
          <p:cNvPr id="59" name="Text 47"/>
          <p:cNvSpPr/>
          <p:nvPr/>
        </p:nvSpPr>
        <p:spPr>
          <a:xfrm>
            <a:off x="6858000" y="6144768"/>
            <a:ext cx="502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5B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Maint.</a:t>
            </a:r>
            <a:endParaRPr lang="en-US" sz="650" dirty="0"/>
          </a:p>
        </p:txBody>
      </p:sp>
      <p:pic>
        <p:nvPicPr>
          <p:cNvPr id="60" name="Image 10" descr="/home/claude/palmcare-analysis/icons/tools_gray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530084" y="5888736"/>
            <a:ext cx="164592" cy="164592"/>
          </a:xfrm>
          <a:prstGeom prst="rect">
            <a:avLst/>
          </a:prstGeom>
        </p:spPr>
      </p:pic>
      <p:sp>
        <p:nvSpPr>
          <p:cNvPr id="61" name="Text 48"/>
          <p:cNvSpPr/>
          <p:nvPr/>
        </p:nvSpPr>
        <p:spPr>
          <a:xfrm>
            <a:off x="7360920" y="6144768"/>
            <a:ext cx="502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5B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Equip.</a:t>
            </a:r>
            <a:endParaRPr lang="en-US" sz="650" dirty="0"/>
          </a:p>
        </p:txBody>
      </p:sp>
      <p:pic>
        <p:nvPicPr>
          <p:cNvPr id="62" name="Image 11" descr="/home/claude/palmcare-analysis/icons/bell_gray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033004" y="5888736"/>
            <a:ext cx="164592" cy="164592"/>
          </a:xfrm>
          <a:prstGeom prst="rect">
            <a:avLst/>
          </a:prstGeom>
        </p:spPr>
      </p:pic>
      <p:sp>
        <p:nvSpPr>
          <p:cNvPr id="63" name="Text 49"/>
          <p:cNvSpPr/>
          <p:nvPr/>
        </p:nvSpPr>
        <p:spPr>
          <a:xfrm>
            <a:off x="7863840" y="6144768"/>
            <a:ext cx="502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5B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Notif.</a:t>
            </a:r>
            <a:endParaRPr lang="en-US" sz="650" dirty="0"/>
          </a:p>
        </p:txBody>
      </p:sp>
      <p:sp>
        <p:nvSpPr>
          <p:cNvPr id="64" name="Shape 50"/>
          <p:cNvSpPr/>
          <p:nvPr/>
        </p:nvSpPr>
        <p:spPr>
          <a:xfrm>
            <a:off x="8471916" y="5852160"/>
            <a:ext cx="292608" cy="292608"/>
          </a:xfrm>
          <a:prstGeom prst="roundRect">
            <a:avLst>
              <a:gd name="adj" fmla="val 25000"/>
            </a:avLst>
          </a:prstGeom>
          <a:solidFill>
            <a:srgbClr val="DCEAF3"/>
          </a:solidFill>
          <a:ln/>
        </p:spPr>
      </p:sp>
      <p:pic>
        <p:nvPicPr>
          <p:cNvPr id="65" name="Image 12" descr="/home/claude/palmcare-analysis/icons/profile_navy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535924" y="5888736"/>
            <a:ext cx="164592" cy="164592"/>
          </a:xfrm>
          <a:prstGeom prst="rect">
            <a:avLst/>
          </a:prstGeom>
        </p:spPr>
      </p:pic>
      <p:sp>
        <p:nvSpPr>
          <p:cNvPr id="66" name="Text 51"/>
          <p:cNvSpPr/>
          <p:nvPr/>
        </p:nvSpPr>
        <p:spPr>
          <a:xfrm>
            <a:off x="8366760" y="6144768"/>
            <a:ext cx="502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0A4A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</a:t>
            </a:r>
            <a:endParaRPr lang="en-US" sz="650" dirty="0"/>
          </a:p>
        </p:txBody>
      </p:sp>
      <p:sp>
        <p:nvSpPr>
          <p:cNvPr id="67" name="Text 52"/>
          <p:cNvSpPr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PalmCare — Mockup UI</a:t>
            </a:r>
            <a:endParaRPr lang="en-US" sz="900" dirty="0"/>
          </a:p>
        </p:txBody>
      </p:sp>
      <p:sp>
        <p:nvSpPr>
          <p:cNvPr id="68" name="Text 53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9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0A4A6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03920" y="-2286000"/>
            <a:ext cx="7315200" cy="7315200"/>
          </a:xfrm>
          <a:prstGeom prst="ellipse">
            <a:avLst/>
          </a:prstGeom>
          <a:solidFill>
            <a:srgbClr val="0E5C82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9692640" y="3840480"/>
            <a:ext cx="6400800" cy="6400800"/>
          </a:xfrm>
          <a:prstGeom prst="ellipse">
            <a:avLst/>
          </a:prstGeom>
          <a:solidFill>
            <a:srgbClr val="1C7FB0">
              <a:alpha val="4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731520" y="1920240"/>
            <a:ext cx="640080" cy="640080"/>
          </a:xfrm>
          <a:prstGeom prst="ellipse">
            <a:avLst/>
          </a:prstGeom>
          <a:solidFill>
            <a:srgbClr val="0E5C82"/>
          </a:solidFill>
          <a:ln/>
        </p:spPr>
      </p:sp>
      <p:pic>
        <p:nvPicPr>
          <p:cNvPr id="5" name="Image 0" descr="/home/claude/palmcare-analysis/icons/management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6112" y="2084832"/>
            <a:ext cx="310896" cy="31089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31520" y="274320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MANAGEMENT</a:t>
            </a:r>
            <a:endParaRPr lang="en-US" sz="4000" dirty="0"/>
          </a:p>
        </p:txBody>
      </p:sp>
      <p:sp>
        <p:nvSpPr>
          <p:cNvPr id="7" name="Shape 4"/>
          <p:cNvSpPr/>
          <p:nvPr/>
        </p:nvSpPr>
        <p:spPr>
          <a:xfrm>
            <a:off x="749808" y="3584448"/>
            <a:ext cx="1188720" cy="0"/>
          </a:xfrm>
          <a:prstGeom prst="line">
            <a:avLst/>
          </a:prstGeom>
          <a:noFill/>
          <a:ln w="38100">
            <a:solidFill>
              <a:srgbClr val="1C7FB0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31520" y="3767328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DCEA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Memantau kondisi operasional secara ringkas (read-only)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731520" y="42519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FB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layar mockup</a:t>
            </a:r>
            <a:endParaRPr lang="en-US" sz="12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1C7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MANAGEMENT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229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Dashboard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1C7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ANOTASI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48640" y="1764792"/>
            <a:ext cx="82296" cy="82296"/>
          </a:xfrm>
          <a:prstGeom prst="ellipse">
            <a:avLst/>
          </a:prstGeom>
          <a:solidFill>
            <a:srgbClr val="0A4A69"/>
          </a:solidFill>
          <a:ln/>
        </p:spPr>
      </p:sp>
      <p:sp>
        <p:nvSpPr>
          <p:cNvPr id="6" name="Text 4"/>
          <p:cNvSpPr/>
          <p:nvPr/>
        </p:nvSpPr>
        <p:spPr>
          <a:xfrm>
            <a:off x="749808" y="1682496"/>
            <a:ext cx="4572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just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2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Ringkasan KPI utama dalam satu layar — tanpa detail operasional harian.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548640" y="2368296"/>
            <a:ext cx="82296" cy="82296"/>
          </a:xfrm>
          <a:prstGeom prst="ellipse">
            <a:avLst/>
          </a:prstGeom>
          <a:solidFill>
            <a:srgbClr val="0A4A69"/>
          </a:solidFill>
          <a:ln/>
        </p:spPr>
      </p:sp>
      <p:sp>
        <p:nvSpPr>
          <p:cNvPr id="8" name="Text 6"/>
          <p:cNvSpPr/>
          <p:nvPr/>
        </p:nvSpPr>
        <p:spPr>
          <a:xfrm>
            <a:off x="749808" y="2286000"/>
            <a:ext cx="4572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just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2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PM Compliance dan Equipment Health ditampilkan sebagai angka besar agar mudah dipahami sekilas.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548640" y="2971800"/>
            <a:ext cx="82296" cy="82296"/>
          </a:xfrm>
          <a:prstGeom prst="ellipse">
            <a:avLst/>
          </a:prstGeom>
          <a:solidFill>
            <a:srgbClr val="0A4A69"/>
          </a:solidFill>
          <a:ln/>
        </p:spPr>
      </p:sp>
      <p:sp>
        <p:nvSpPr>
          <p:cNvPr id="10" name="Text 8"/>
          <p:cNvSpPr/>
          <p:nvPr/>
        </p:nvSpPr>
        <p:spPr>
          <a:xfrm>
            <a:off x="749808" y="2889504"/>
            <a:ext cx="4572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just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2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Ringkasan breakdown per tingkat keparahan sebagai gambaran risiko operasional.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548640" y="3575304"/>
            <a:ext cx="82296" cy="82296"/>
          </a:xfrm>
          <a:prstGeom prst="ellipse">
            <a:avLst/>
          </a:prstGeom>
          <a:solidFill>
            <a:srgbClr val="0A4A69"/>
          </a:solidFill>
          <a:ln/>
        </p:spPr>
      </p:sp>
      <p:sp>
        <p:nvSpPr>
          <p:cNvPr id="12" name="Text 10"/>
          <p:cNvSpPr/>
          <p:nvPr/>
        </p:nvSpPr>
        <p:spPr>
          <a:xfrm>
            <a:off x="749808" y="3493008"/>
            <a:ext cx="4572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just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2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Seluruh elemen bersifat read-only — tidak ada aksi assign/approve pada tampilan ini.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903720" y="502920"/>
            <a:ext cx="2788920" cy="5989320"/>
          </a:xfrm>
          <a:prstGeom prst="roundRect">
            <a:avLst>
              <a:gd name="adj" fmla="val 7213"/>
            </a:avLst>
          </a:prstGeom>
          <a:solidFill>
            <a:srgbClr val="12293D"/>
          </a:solidFill>
          <a:ln/>
          <a:effectLst>
            <a:outerShdw sx="100000" sy="100000" kx="0" ky="0" algn="bl" rotWithShape="0" blurRad="127000" dist="50800" dir="5400000">
              <a:srgbClr val="0A4A69">
                <a:alpha val="3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949440" y="548640"/>
            <a:ext cx="2697480" cy="5897880"/>
          </a:xfrm>
          <a:prstGeom prst="roundRect">
            <a:avLst>
              <a:gd name="adj" fmla="val 6102"/>
            </a:avLst>
          </a:prstGeom>
          <a:solidFill>
            <a:srgbClr val="F6F9FB"/>
          </a:solidFill>
          <a:ln/>
        </p:spPr>
      </p:sp>
      <p:sp>
        <p:nvSpPr>
          <p:cNvPr id="15" name="Text 13"/>
          <p:cNvSpPr/>
          <p:nvPr/>
        </p:nvSpPr>
        <p:spPr>
          <a:xfrm>
            <a:off x="7068312" y="594360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2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9:41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9272016" y="630936"/>
            <a:ext cx="274320" cy="118872"/>
          </a:xfrm>
          <a:prstGeom prst="roundRect">
            <a:avLst>
              <a:gd name="adj" fmla="val 23077"/>
            </a:avLst>
          </a:prstGeom>
          <a:noFill/>
          <a:ln w="9525">
            <a:solidFill>
              <a:srgbClr val="12293D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022592" y="832104"/>
            <a:ext cx="2551176" cy="420624"/>
          </a:xfrm>
          <a:prstGeom prst="rect">
            <a:avLst/>
          </a:prstGeom>
          <a:solidFill>
            <a:srgbClr val="0A4A69"/>
          </a:solidFill>
          <a:ln/>
        </p:spPr>
      </p:sp>
      <p:sp>
        <p:nvSpPr>
          <p:cNvPr id="18" name="Text 16"/>
          <p:cNvSpPr/>
          <p:nvPr/>
        </p:nvSpPr>
        <p:spPr>
          <a:xfrm>
            <a:off x="7168896" y="832104"/>
            <a:ext cx="191109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PalmCare</a:t>
            </a:r>
            <a:endParaRPr lang="en-US" sz="1250" dirty="0"/>
          </a:p>
        </p:txBody>
      </p:sp>
      <p:pic>
        <p:nvPicPr>
          <p:cNvPr id="19" name="Image 0" descr="/home/claude/palmcare-analysis/icons/bell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62872" y="950976"/>
            <a:ext cx="182880" cy="182880"/>
          </a:xfrm>
          <a:prstGeom prst="rect">
            <a:avLst/>
          </a:prstGeom>
        </p:spPr>
      </p:pic>
      <p:sp>
        <p:nvSpPr>
          <p:cNvPr id="20" name="Shape 17"/>
          <p:cNvSpPr/>
          <p:nvPr/>
        </p:nvSpPr>
        <p:spPr>
          <a:xfrm>
            <a:off x="7022592" y="1344168"/>
            <a:ext cx="1243584" cy="5486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1EBF2"/>
            </a:solidFill>
            <a:prstDash val="solid"/>
          </a:ln>
          <a:effectLst>
            <a:outerShdw sx="100000" sy="100000" kx="0" ky="0" algn="bl" rotWithShape="0" blurRad="50800" dist="12700" dir="5400000">
              <a:srgbClr val="1F3864">
                <a:alpha val="8000"/>
              </a:srgbClr>
            </a:outerShdw>
          </a:effectLst>
        </p:spPr>
      </p:sp>
      <p:sp>
        <p:nvSpPr>
          <p:cNvPr id="21" name="Text 18"/>
          <p:cNvSpPr/>
          <p:nvPr/>
        </p:nvSpPr>
        <p:spPr>
          <a:xfrm>
            <a:off x="7022592" y="1408176"/>
            <a:ext cx="12435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8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92.8%</a:t>
            </a:r>
            <a:endParaRPr lang="en-US" sz="1400" dirty="0"/>
          </a:p>
        </p:txBody>
      </p:sp>
      <p:sp>
        <p:nvSpPr>
          <p:cNvPr id="22" name="Text 19"/>
          <p:cNvSpPr/>
          <p:nvPr/>
        </p:nvSpPr>
        <p:spPr>
          <a:xfrm>
            <a:off x="7022592" y="1673352"/>
            <a:ext cx="12435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5B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PM Compliance</a:t>
            </a:r>
            <a:endParaRPr lang="en-US" sz="650" dirty="0"/>
          </a:p>
        </p:txBody>
      </p:sp>
      <p:sp>
        <p:nvSpPr>
          <p:cNvPr id="23" name="Shape 20"/>
          <p:cNvSpPr/>
          <p:nvPr/>
        </p:nvSpPr>
        <p:spPr>
          <a:xfrm>
            <a:off x="8330184" y="1344168"/>
            <a:ext cx="1243584" cy="5486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1EBF2"/>
            </a:solidFill>
            <a:prstDash val="solid"/>
          </a:ln>
          <a:effectLst>
            <a:outerShdw sx="100000" sy="100000" kx="0" ky="0" algn="bl" rotWithShape="0" blurRad="50800" dist="12700" dir="5400000">
              <a:srgbClr val="1F3864">
                <a:alpha val="8000"/>
              </a:srgbClr>
            </a:outerShdw>
          </a:effectLst>
        </p:spPr>
      </p:sp>
      <p:sp>
        <p:nvSpPr>
          <p:cNvPr id="24" name="Text 21"/>
          <p:cNvSpPr/>
          <p:nvPr/>
        </p:nvSpPr>
        <p:spPr>
          <a:xfrm>
            <a:off x="8330184" y="1408176"/>
            <a:ext cx="12435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8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96.4%</a:t>
            </a:r>
            <a:endParaRPr lang="en-US" sz="1400" dirty="0"/>
          </a:p>
        </p:txBody>
      </p:sp>
      <p:sp>
        <p:nvSpPr>
          <p:cNvPr id="25" name="Text 22"/>
          <p:cNvSpPr/>
          <p:nvPr/>
        </p:nvSpPr>
        <p:spPr>
          <a:xfrm>
            <a:off x="8330184" y="1673352"/>
            <a:ext cx="12435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5B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Equip. Health</a:t>
            </a:r>
            <a:endParaRPr lang="en-US" sz="650" dirty="0"/>
          </a:p>
        </p:txBody>
      </p:sp>
      <p:sp>
        <p:nvSpPr>
          <p:cNvPr id="26" name="Text 23"/>
          <p:cNvSpPr/>
          <p:nvPr/>
        </p:nvSpPr>
        <p:spPr>
          <a:xfrm>
            <a:off x="7022592" y="2020824"/>
            <a:ext cx="255117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1C7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BREAKDOWN BULAN INI</a:t>
            </a:r>
            <a:endParaRPr lang="en-US" sz="800" dirty="0"/>
          </a:p>
        </p:txBody>
      </p:sp>
      <p:sp>
        <p:nvSpPr>
          <p:cNvPr id="27" name="Shape 24"/>
          <p:cNvSpPr/>
          <p:nvPr/>
        </p:nvSpPr>
        <p:spPr>
          <a:xfrm>
            <a:off x="7022592" y="2240280"/>
            <a:ext cx="807720" cy="5486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1EBF2"/>
            </a:solidFill>
            <a:prstDash val="solid"/>
          </a:ln>
          <a:effectLst>
            <a:outerShdw sx="100000" sy="100000" kx="0" ky="0" algn="bl" rotWithShape="0" blurRad="50800" dist="12700" dir="5400000">
              <a:srgbClr val="1F3864">
                <a:alpha val="8000"/>
              </a:srgbClr>
            </a:outerShdw>
          </a:effectLst>
        </p:spPr>
      </p:sp>
      <p:sp>
        <p:nvSpPr>
          <p:cNvPr id="28" name="Text 25"/>
          <p:cNvSpPr/>
          <p:nvPr/>
        </p:nvSpPr>
        <p:spPr>
          <a:xfrm>
            <a:off x="7022592" y="2304288"/>
            <a:ext cx="807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29" name="Text 26"/>
          <p:cNvSpPr/>
          <p:nvPr/>
        </p:nvSpPr>
        <p:spPr>
          <a:xfrm>
            <a:off x="7022592" y="2569464"/>
            <a:ext cx="807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5B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</a:t>
            </a:r>
            <a:endParaRPr lang="en-US" sz="650" dirty="0"/>
          </a:p>
        </p:txBody>
      </p:sp>
      <p:sp>
        <p:nvSpPr>
          <p:cNvPr id="30" name="Shape 27"/>
          <p:cNvSpPr/>
          <p:nvPr/>
        </p:nvSpPr>
        <p:spPr>
          <a:xfrm>
            <a:off x="7894320" y="2240280"/>
            <a:ext cx="807720" cy="5486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1EBF2"/>
            </a:solidFill>
            <a:prstDash val="solid"/>
          </a:ln>
          <a:effectLst>
            <a:outerShdw sx="100000" sy="100000" kx="0" ky="0" algn="bl" rotWithShape="0" blurRad="50800" dist="12700" dir="5400000">
              <a:srgbClr val="1F3864">
                <a:alpha val="8000"/>
              </a:srgbClr>
            </a:outerShdw>
          </a:effectLst>
        </p:spPr>
      </p:sp>
      <p:sp>
        <p:nvSpPr>
          <p:cNvPr id="31" name="Text 28"/>
          <p:cNvSpPr/>
          <p:nvPr/>
        </p:nvSpPr>
        <p:spPr>
          <a:xfrm>
            <a:off x="7894320" y="2304288"/>
            <a:ext cx="807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D490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32" name="Text 29"/>
          <p:cNvSpPr/>
          <p:nvPr/>
        </p:nvSpPr>
        <p:spPr>
          <a:xfrm>
            <a:off x="7894320" y="2569464"/>
            <a:ext cx="807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5B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Major</a:t>
            </a:r>
            <a:endParaRPr lang="en-US" sz="650" dirty="0"/>
          </a:p>
        </p:txBody>
      </p:sp>
      <p:sp>
        <p:nvSpPr>
          <p:cNvPr id="33" name="Shape 30"/>
          <p:cNvSpPr/>
          <p:nvPr/>
        </p:nvSpPr>
        <p:spPr>
          <a:xfrm>
            <a:off x="8766048" y="2240280"/>
            <a:ext cx="807720" cy="5486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1EBF2"/>
            </a:solidFill>
            <a:prstDash val="solid"/>
          </a:ln>
          <a:effectLst>
            <a:outerShdw sx="100000" sy="100000" kx="0" ky="0" algn="bl" rotWithShape="0" blurRad="50800" dist="12700" dir="5400000">
              <a:srgbClr val="1F3864">
                <a:alpha val="8000"/>
              </a:srgbClr>
            </a:outerShdw>
          </a:effectLst>
        </p:spPr>
      </p:sp>
      <p:sp>
        <p:nvSpPr>
          <p:cNvPr id="34" name="Text 31"/>
          <p:cNvSpPr/>
          <p:nvPr/>
        </p:nvSpPr>
        <p:spPr>
          <a:xfrm>
            <a:off x="8766048" y="2304288"/>
            <a:ext cx="807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C7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400" dirty="0"/>
          </a:p>
        </p:txBody>
      </p:sp>
      <p:sp>
        <p:nvSpPr>
          <p:cNvPr id="35" name="Text 32"/>
          <p:cNvSpPr/>
          <p:nvPr/>
        </p:nvSpPr>
        <p:spPr>
          <a:xfrm>
            <a:off x="8766048" y="2569464"/>
            <a:ext cx="807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5B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Minor</a:t>
            </a:r>
            <a:endParaRPr lang="en-US" sz="650" dirty="0"/>
          </a:p>
        </p:txBody>
      </p:sp>
      <p:sp>
        <p:nvSpPr>
          <p:cNvPr id="36" name="Text 33"/>
          <p:cNvSpPr/>
          <p:nvPr/>
        </p:nvSpPr>
        <p:spPr>
          <a:xfrm>
            <a:off x="7022592" y="2916936"/>
            <a:ext cx="255117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1C7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RINGKASAN MAINTENANCE</a:t>
            </a:r>
            <a:endParaRPr lang="en-US" sz="800" dirty="0"/>
          </a:p>
        </p:txBody>
      </p:sp>
      <p:sp>
        <p:nvSpPr>
          <p:cNvPr id="37" name="Shape 34"/>
          <p:cNvSpPr/>
          <p:nvPr/>
        </p:nvSpPr>
        <p:spPr>
          <a:xfrm>
            <a:off x="7022592" y="3136392"/>
            <a:ext cx="2551176" cy="685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1EBF2"/>
            </a:solidFill>
            <a:prstDash val="solid"/>
          </a:ln>
        </p:spPr>
      </p:sp>
      <p:sp>
        <p:nvSpPr>
          <p:cNvPr id="38" name="Shape 35"/>
          <p:cNvSpPr/>
          <p:nvPr/>
        </p:nvSpPr>
        <p:spPr>
          <a:xfrm>
            <a:off x="7022592" y="3136392"/>
            <a:ext cx="2551176" cy="228600"/>
          </a:xfrm>
          <a:prstGeom prst="rect">
            <a:avLst/>
          </a:prstGeom>
          <a:solidFill>
            <a:srgbClr val="DCEAF3"/>
          </a:solidFill>
          <a:ln/>
        </p:spPr>
      </p:sp>
      <p:sp>
        <p:nvSpPr>
          <p:cNvPr id="39" name="Text 36"/>
          <p:cNvSpPr/>
          <p:nvPr/>
        </p:nvSpPr>
        <p:spPr>
          <a:xfrm>
            <a:off x="7077456" y="3136392"/>
            <a:ext cx="120243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0A4A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</a:t>
            </a:r>
            <a:endParaRPr lang="en-US" sz="700" dirty="0"/>
          </a:p>
        </p:txBody>
      </p:sp>
      <p:sp>
        <p:nvSpPr>
          <p:cNvPr id="40" name="Text 37"/>
          <p:cNvSpPr/>
          <p:nvPr/>
        </p:nvSpPr>
        <p:spPr>
          <a:xfrm>
            <a:off x="8353044" y="3136392"/>
            <a:ext cx="120243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0A4A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120</a:t>
            </a:r>
            <a:endParaRPr lang="en-US" sz="700" dirty="0"/>
          </a:p>
        </p:txBody>
      </p:sp>
      <p:sp>
        <p:nvSpPr>
          <p:cNvPr id="41" name="Text 38"/>
          <p:cNvSpPr/>
          <p:nvPr/>
        </p:nvSpPr>
        <p:spPr>
          <a:xfrm>
            <a:off x="7077456" y="3364992"/>
            <a:ext cx="120243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2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Selesai</a:t>
            </a:r>
            <a:endParaRPr lang="en-US" sz="700" dirty="0"/>
          </a:p>
        </p:txBody>
      </p:sp>
      <p:sp>
        <p:nvSpPr>
          <p:cNvPr id="42" name="Text 39"/>
          <p:cNvSpPr/>
          <p:nvPr/>
        </p:nvSpPr>
        <p:spPr>
          <a:xfrm>
            <a:off x="8353044" y="3364992"/>
            <a:ext cx="120243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2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108</a:t>
            </a:r>
            <a:endParaRPr lang="en-US" sz="700" dirty="0"/>
          </a:p>
        </p:txBody>
      </p:sp>
      <p:sp>
        <p:nvSpPr>
          <p:cNvPr id="43" name="Text 40"/>
          <p:cNvSpPr/>
          <p:nvPr/>
        </p:nvSpPr>
        <p:spPr>
          <a:xfrm>
            <a:off x="7077456" y="3593592"/>
            <a:ext cx="120243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2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Overdue</a:t>
            </a:r>
            <a:endParaRPr lang="en-US" sz="700" dirty="0"/>
          </a:p>
        </p:txBody>
      </p:sp>
      <p:sp>
        <p:nvSpPr>
          <p:cNvPr id="44" name="Text 41"/>
          <p:cNvSpPr/>
          <p:nvPr/>
        </p:nvSpPr>
        <p:spPr>
          <a:xfrm>
            <a:off x="8353044" y="3593592"/>
            <a:ext cx="120243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2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700" dirty="0"/>
          </a:p>
        </p:txBody>
      </p:sp>
      <p:sp>
        <p:nvSpPr>
          <p:cNvPr id="45" name="Shape 42"/>
          <p:cNvSpPr/>
          <p:nvPr/>
        </p:nvSpPr>
        <p:spPr>
          <a:xfrm>
            <a:off x="6949440" y="5888736"/>
            <a:ext cx="2697480" cy="51206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6" name="Shape 43"/>
          <p:cNvSpPr/>
          <p:nvPr/>
        </p:nvSpPr>
        <p:spPr>
          <a:xfrm>
            <a:off x="6949440" y="5888736"/>
            <a:ext cx="2697480" cy="0"/>
          </a:xfrm>
          <a:prstGeom prst="line">
            <a:avLst/>
          </a:prstGeom>
          <a:noFill/>
          <a:ln w="12700">
            <a:solidFill>
              <a:srgbClr val="E1EBF2"/>
            </a:solidFill>
            <a:prstDash val="solid"/>
          </a:ln>
        </p:spPr>
      </p:sp>
      <p:sp>
        <p:nvSpPr>
          <p:cNvPr id="47" name="Shape 44"/>
          <p:cNvSpPr/>
          <p:nvPr/>
        </p:nvSpPr>
        <p:spPr>
          <a:xfrm>
            <a:off x="7140321" y="5943600"/>
            <a:ext cx="292608" cy="292608"/>
          </a:xfrm>
          <a:prstGeom prst="roundRect">
            <a:avLst>
              <a:gd name="adj" fmla="val 25000"/>
            </a:avLst>
          </a:prstGeom>
          <a:solidFill>
            <a:srgbClr val="DCEAF3"/>
          </a:solidFill>
          <a:ln/>
        </p:spPr>
      </p:sp>
      <p:pic>
        <p:nvPicPr>
          <p:cNvPr id="48" name="Image 1" descr="/home/claude/palmcare-analysis/icons/dashboard_navy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04329" y="5980176"/>
            <a:ext cx="164592" cy="164592"/>
          </a:xfrm>
          <a:prstGeom prst="rect">
            <a:avLst/>
          </a:prstGeom>
        </p:spPr>
      </p:pic>
      <p:sp>
        <p:nvSpPr>
          <p:cNvPr id="49" name="Text 45"/>
          <p:cNvSpPr/>
          <p:nvPr/>
        </p:nvSpPr>
        <p:spPr>
          <a:xfrm>
            <a:off x="6949440" y="6236208"/>
            <a:ext cx="67437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0A4A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</a:t>
            </a:r>
            <a:endParaRPr lang="en-US" sz="650" dirty="0"/>
          </a:p>
        </p:txBody>
      </p:sp>
      <p:pic>
        <p:nvPicPr>
          <p:cNvPr id="50" name="Image 2" descr="/home/claude/palmcare-analysis/icons/tools_gra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78699" y="5980176"/>
            <a:ext cx="164592" cy="164592"/>
          </a:xfrm>
          <a:prstGeom prst="rect">
            <a:avLst/>
          </a:prstGeom>
        </p:spPr>
      </p:pic>
      <p:sp>
        <p:nvSpPr>
          <p:cNvPr id="51" name="Text 46"/>
          <p:cNvSpPr/>
          <p:nvPr/>
        </p:nvSpPr>
        <p:spPr>
          <a:xfrm>
            <a:off x="7623810" y="6236208"/>
            <a:ext cx="67437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5B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Equip.</a:t>
            </a:r>
            <a:endParaRPr lang="en-US" sz="650" dirty="0"/>
          </a:p>
        </p:txBody>
      </p:sp>
      <p:pic>
        <p:nvPicPr>
          <p:cNvPr id="52" name="Image 3" descr="/home/claude/palmcare-analysis/icons/bell_gray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53069" y="5980176"/>
            <a:ext cx="164592" cy="164592"/>
          </a:xfrm>
          <a:prstGeom prst="rect">
            <a:avLst/>
          </a:prstGeom>
        </p:spPr>
      </p:pic>
      <p:sp>
        <p:nvSpPr>
          <p:cNvPr id="53" name="Text 47"/>
          <p:cNvSpPr/>
          <p:nvPr/>
        </p:nvSpPr>
        <p:spPr>
          <a:xfrm>
            <a:off x="8298180" y="6236208"/>
            <a:ext cx="67437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5B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Notif.</a:t>
            </a:r>
            <a:endParaRPr lang="en-US" sz="650" dirty="0"/>
          </a:p>
        </p:txBody>
      </p:sp>
      <p:pic>
        <p:nvPicPr>
          <p:cNvPr id="54" name="Image 4" descr="/home/claude/palmcare-analysis/icons/profile_gray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227439" y="5980176"/>
            <a:ext cx="164592" cy="164592"/>
          </a:xfrm>
          <a:prstGeom prst="rect">
            <a:avLst/>
          </a:prstGeom>
        </p:spPr>
      </p:pic>
      <p:sp>
        <p:nvSpPr>
          <p:cNvPr id="55" name="Text 48"/>
          <p:cNvSpPr/>
          <p:nvPr/>
        </p:nvSpPr>
        <p:spPr>
          <a:xfrm>
            <a:off x="8972550" y="6236208"/>
            <a:ext cx="67437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5B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</a:t>
            </a:r>
            <a:endParaRPr lang="en-US" sz="650" dirty="0"/>
          </a:p>
        </p:txBody>
      </p:sp>
      <p:sp>
        <p:nvSpPr>
          <p:cNvPr id="56" name="Text 49"/>
          <p:cNvSpPr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PalmCare — Mockup UI</a:t>
            </a:r>
            <a:endParaRPr lang="en-US" sz="900" dirty="0"/>
          </a:p>
        </p:txBody>
      </p:sp>
      <p:sp>
        <p:nvSpPr>
          <p:cNvPr id="57" name="Text 50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9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1C7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MANAGEMENT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229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Equipment (Kondisi Umum)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1C7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ANOTASI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48640" y="1764792"/>
            <a:ext cx="82296" cy="82296"/>
          </a:xfrm>
          <a:prstGeom prst="ellipse">
            <a:avLst/>
          </a:prstGeom>
          <a:solidFill>
            <a:srgbClr val="0A4A69"/>
          </a:solidFill>
          <a:ln/>
        </p:spPr>
      </p:sp>
      <p:sp>
        <p:nvSpPr>
          <p:cNvPr id="6" name="Text 4"/>
          <p:cNvSpPr/>
          <p:nvPr/>
        </p:nvSpPr>
        <p:spPr>
          <a:xfrm>
            <a:off x="749808" y="1682496"/>
            <a:ext cx="4572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just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2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Daftar equipment dengan indikator kondisi, tanpa opsi edit atau assign.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548640" y="2368296"/>
            <a:ext cx="82296" cy="82296"/>
          </a:xfrm>
          <a:prstGeom prst="ellipse">
            <a:avLst/>
          </a:prstGeom>
          <a:solidFill>
            <a:srgbClr val="0A4A69"/>
          </a:solidFill>
          <a:ln/>
        </p:spPr>
      </p:sp>
      <p:sp>
        <p:nvSpPr>
          <p:cNvPr id="8" name="Text 6"/>
          <p:cNvSpPr/>
          <p:nvPr/>
        </p:nvSpPr>
        <p:spPr>
          <a:xfrm>
            <a:off x="749808" y="2286000"/>
            <a:ext cx="4572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just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2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Digunakan untuk melihat gambaran umum kesehatan aset di seluruh mill.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903720" y="502920"/>
            <a:ext cx="2788920" cy="5989320"/>
          </a:xfrm>
          <a:prstGeom prst="roundRect">
            <a:avLst>
              <a:gd name="adj" fmla="val 7213"/>
            </a:avLst>
          </a:prstGeom>
          <a:solidFill>
            <a:srgbClr val="12293D"/>
          </a:solidFill>
          <a:ln/>
          <a:effectLst>
            <a:outerShdw sx="100000" sy="100000" kx="0" ky="0" algn="bl" rotWithShape="0" blurRad="127000" dist="50800" dir="5400000">
              <a:srgbClr val="0A4A69">
                <a:alpha val="3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949440" y="548640"/>
            <a:ext cx="2697480" cy="5897880"/>
          </a:xfrm>
          <a:prstGeom prst="roundRect">
            <a:avLst>
              <a:gd name="adj" fmla="val 6102"/>
            </a:avLst>
          </a:prstGeom>
          <a:solidFill>
            <a:srgbClr val="F6F9FB"/>
          </a:solidFill>
          <a:ln/>
        </p:spPr>
      </p:sp>
      <p:sp>
        <p:nvSpPr>
          <p:cNvPr id="11" name="Text 9"/>
          <p:cNvSpPr/>
          <p:nvPr/>
        </p:nvSpPr>
        <p:spPr>
          <a:xfrm>
            <a:off x="7068312" y="594360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2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9:41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9272016" y="630936"/>
            <a:ext cx="274320" cy="118872"/>
          </a:xfrm>
          <a:prstGeom prst="roundRect">
            <a:avLst>
              <a:gd name="adj" fmla="val 23077"/>
            </a:avLst>
          </a:prstGeom>
          <a:noFill/>
          <a:ln w="9525">
            <a:solidFill>
              <a:srgbClr val="12293D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022592" y="832104"/>
            <a:ext cx="2551176" cy="420624"/>
          </a:xfrm>
          <a:prstGeom prst="rect">
            <a:avLst/>
          </a:prstGeom>
          <a:solidFill>
            <a:srgbClr val="0A4A69"/>
          </a:solidFill>
          <a:ln/>
        </p:spPr>
      </p:sp>
      <p:sp>
        <p:nvSpPr>
          <p:cNvPr id="14" name="Text 12"/>
          <p:cNvSpPr/>
          <p:nvPr/>
        </p:nvSpPr>
        <p:spPr>
          <a:xfrm>
            <a:off x="7168896" y="832104"/>
            <a:ext cx="191109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Equipment</a:t>
            </a:r>
            <a:endParaRPr lang="en-US" sz="1250" dirty="0"/>
          </a:p>
        </p:txBody>
      </p:sp>
      <p:pic>
        <p:nvPicPr>
          <p:cNvPr id="15" name="Image 0" descr="/home/claude/palmcare-analysis/icons/bell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62872" y="950976"/>
            <a:ext cx="182880" cy="182880"/>
          </a:xfrm>
          <a:prstGeom prst="rect">
            <a:avLst/>
          </a:prstGeom>
        </p:spPr>
      </p:pic>
      <p:sp>
        <p:nvSpPr>
          <p:cNvPr id="16" name="Shape 13"/>
          <p:cNvSpPr/>
          <p:nvPr/>
        </p:nvSpPr>
        <p:spPr>
          <a:xfrm>
            <a:off x="7022592" y="1344168"/>
            <a:ext cx="2551176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1EBF2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7114032" y="1435608"/>
            <a:ext cx="100584" cy="100584"/>
          </a:xfrm>
          <a:prstGeom prst="ellipse">
            <a:avLst/>
          </a:prstGeom>
          <a:noFill/>
          <a:ln w="12700">
            <a:solidFill>
              <a:srgbClr val="5B7184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7278624" y="1344168"/>
            <a:ext cx="2240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Cari equipment</a:t>
            </a:r>
            <a:endParaRPr lang="en-US" sz="850" dirty="0"/>
          </a:p>
        </p:txBody>
      </p:sp>
      <p:sp>
        <p:nvSpPr>
          <p:cNvPr id="19" name="Shape 16"/>
          <p:cNvSpPr/>
          <p:nvPr/>
        </p:nvSpPr>
        <p:spPr>
          <a:xfrm>
            <a:off x="7022592" y="1728216"/>
            <a:ext cx="2551176" cy="530352"/>
          </a:xfrm>
          <a:prstGeom prst="roundRect">
            <a:avLst>
              <a:gd name="adj" fmla="val 12069"/>
            </a:avLst>
          </a:prstGeom>
          <a:solidFill>
            <a:srgbClr val="FFFFFF"/>
          </a:solidFill>
          <a:ln w="9525">
            <a:solidFill>
              <a:srgbClr val="E1EBF2"/>
            </a:solidFill>
            <a:prstDash val="solid"/>
          </a:ln>
          <a:effectLst>
            <a:outerShdw sx="100000" sy="100000" kx="0" ky="0" algn="bl" rotWithShape="0" blurRad="38100" dist="12700" dir="5400000">
              <a:srgbClr val="1F3864">
                <a:alpha val="6000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7132320" y="1952244"/>
            <a:ext cx="82296" cy="82296"/>
          </a:xfrm>
          <a:prstGeom prst="ellipse">
            <a:avLst/>
          </a:prstGeom>
          <a:solidFill>
            <a:srgbClr val="D4900B"/>
          </a:solidFill>
          <a:ln/>
        </p:spPr>
      </p:sp>
      <p:sp>
        <p:nvSpPr>
          <p:cNvPr id="21" name="Text 18"/>
          <p:cNvSpPr/>
          <p:nvPr/>
        </p:nvSpPr>
        <p:spPr>
          <a:xfrm>
            <a:off x="7315200" y="1792224"/>
            <a:ext cx="2148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2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Screw Press #02</a:t>
            </a:r>
            <a:endParaRPr lang="en-US" sz="950" dirty="0"/>
          </a:p>
        </p:txBody>
      </p:sp>
      <p:sp>
        <p:nvSpPr>
          <p:cNvPr id="22" name="Text 19"/>
          <p:cNvSpPr/>
          <p:nvPr/>
        </p:nvSpPr>
        <p:spPr>
          <a:xfrm>
            <a:off x="7315200" y="2002536"/>
            <a:ext cx="2148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Pressing · Warning</a:t>
            </a:r>
            <a:endParaRPr lang="en-US" sz="800" dirty="0"/>
          </a:p>
        </p:txBody>
      </p:sp>
      <p:sp>
        <p:nvSpPr>
          <p:cNvPr id="23" name="Shape 20"/>
          <p:cNvSpPr/>
          <p:nvPr/>
        </p:nvSpPr>
        <p:spPr>
          <a:xfrm>
            <a:off x="7022592" y="2350008"/>
            <a:ext cx="2551176" cy="530352"/>
          </a:xfrm>
          <a:prstGeom prst="roundRect">
            <a:avLst>
              <a:gd name="adj" fmla="val 12069"/>
            </a:avLst>
          </a:prstGeom>
          <a:solidFill>
            <a:srgbClr val="FFFFFF"/>
          </a:solidFill>
          <a:ln w="9525">
            <a:solidFill>
              <a:srgbClr val="E1EBF2"/>
            </a:solidFill>
            <a:prstDash val="solid"/>
          </a:ln>
          <a:effectLst>
            <a:outerShdw sx="100000" sy="100000" kx="0" ky="0" algn="bl" rotWithShape="0" blurRad="38100" dist="12700" dir="5400000">
              <a:srgbClr val="1F3864">
                <a:alpha val="6000"/>
              </a:srgbClr>
            </a:outerShdw>
          </a:effectLst>
        </p:spPr>
      </p:sp>
      <p:sp>
        <p:nvSpPr>
          <p:cNvPr id="24" name="Shape 21"/>
          <p:cNvSpPr/>
          <p:nvPr/>
        </p:nvSpPr>
        <p:spPr>
          <a:xfrm>
            <a:off x="7132320" y="2574036"/>
            <a:ext cx="82296" cy="82296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25" name="Text 22"/>
          <p:cNvSpPr/>
          <p:nvPr/>
        </p:nvSpPr>
        <p:spPr>
          <a:xfrm>
            <a:off x="7315200" y="2414016"/>
            <a:ext cx="2148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2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Boiler #01</a:t>
            </a:r>
            <a:endParaRPr lang="en-US" sz="950" dirty="0"/>
          </a:p>
        </p:txBody>
      </p:sp>
      <p:sp>
        <p:nvSpPr>
          <p:cNvPr id="26" name="Text 23"/>
          <p:cNvSpPr/>
          <p:nvPr/>
        </p:nvSpPr>
        <p:spPr>
          <a:xfrm>
            <a:off x="7315200" y="2624328"/>
            <a:ext cx="2148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Utilities · Critical</a:t>
            </a:r>
            <a:endParaRPr lang="en-US" sz="800" dirty="0"/>
          </a:p>
        </p:txBody>
      </p:sp>
      <p:sp>
        <p:nvSpPr>
          <p:cNvPr id="27" name="Shape 24"/>
          <p:cNvSpPr/>
          <p:nvPr/>
        </p:nvSpPr>
        <p:spPr>
          <a:xfrm>
            <a:off x="7022592" y="2971800"/>
            <a:ext cx="2551176" cy="530352"/>
          </a:xfrm>
          <a:prstGeom prst="roundRect">
            <a:avLst>
              <a:gd name="adj" fmla="val 12069"/>
            </a:avLst>
          </a:prstGeom>
          <a:solidFill>
            <a:srgbClr val="FFFFFF"/>
          </a:solidFill>
          <a:ln w="9525">
            <a:solidFill>
              <a:srgbClr val="E1EBF2"/>
            </a:solidFill>
            <a:prstDash val="solid"/>
          </a:ln>
          <a:effectLst>
            <a:outerShdw sx="100000" sy="100000" kx="0" ky="0" algn="bl" rotWithShape="0" blurRad="38100" dist="12700" dir="5400000">
              <a:srgbClr val="1F3864">
                <a:alpha val="6000"/>
              </a:srgbClr>
            </a:outerShdw>
          </a:effectLst>
        </p:spPr>
      </p:sp>
      <p:sp>
        <p:nvSpPr>
          <p:cNvPr id="28" name="Shape 25"/>
          <p:cNvSpPr/>
          <p:nvPr/>
        </p:nvSpPr>
        <p:spPr>
          <a:xfrm>
            <a:off x="7132320" y="3195828"/>
            <a:ext cx="82296" cy="82296"/>
          </a:xfrm>
          <a:prstGeom prst="ellipse">
            <a:avLst/>
          </a:prstGeom>
          <a:solidFill>
            <a:srgbClr val="1E8A5F"/>
          </a:solidFill>
          <a:ln/>
        </p:spPr>
      </p:sp>
      <p:sp>
        <p:nvSpPr>
          <p:cNvPr id="29" name="Text 26"/>
          <p:cNvSpPr/>
          <p:nvPr/>
        </p:nvSpPr>
        <p:spPr>
          <a:xfrm>
            <a:off x="7315200" y="3035808"/>
            <a:ext cx="2148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2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Digester #01</a:t>
            </a:r>
            <a:endParaRPr lang="en-US" sz="950" dirty="0"/>
          </a:p>
        </p:txBody>
      </p:sp>
      <p:sp>
        <p:nvSpPr>
          <p:cNvPr id="30" name="Text 27"/>
          <p:cNvSpPr/>
          <p:nvPr/>
        </p:nvSpPr>
        <p:spPr>
          <a:xfrm>
            <a:off x="7315200" y="3246120"/>
            <a:ext cx="2148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Pressing · Operational</a:t>
            </a:r>
            <a:endParaRPr lang="en-US" sz="800" dirty="0"/>
          </a:p>
        </p:txBody>
      </p:sp>
      <p:sp>
        <p:nvSpPr>
          <p:cNvPr id="31" name="Shape 28"/>
          <p:cNvSpPr/>
          <p:nvPr/>
        </p:nvSpPr>
        <p:spPr>
          <a:xfrm>
            <a:off x="6949440" y="5888736"/>
            <a:ext cx="2697480" cy="51206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2" name="Shape 29"/>
          <p:cNvSpPr/>
          <p:nvPr/>
        </p:nvSpPr>
        <p:spPr>
          <a:xfrm>
            <a:off x="6949440" y="5888736"/>
            <a:ext cx="2697480" cy="0"/>
          </a:xfrm>
          <a:prstGeom prst="line">
            <a:avLst/>
          </a:prstGeom>
          <a:noFill/>
          <a:ln w="12700">
            <a:solidFill>
              <a:srgbClr val="E1EBF2"/>
            </a:solidFill>
            <a:prstDash val="solid"/>
          </a:ln>
        </p:spPr>
      </p:sp>
      <p:pic>
        <p:nvPicPr>
          <p:cNvPr id="33" name="Image 1" descr="/home/claude/palmcare-analysis/icons/dashboard_gray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04329" y="5980176"/>
            <a:ext cx="164592" cy="164592"/>
          </a:xfrm>
          <a:prstGeom prst="rect">
            <a:avLst/>
          </a:prstGeom>
        </p:spPr>
      </p:pic>
      <p:sp>
        <p:nvSpPr>
          <p:cNvPr id="34" name="Text 30"/>
          <p:cNvSpPr/>
          <p:nvPr/>
        </p:nvSpPr>
        <p:spPr>
          <a:xfrm>
            <a:off x="6949440" y="6236208"/>
            <a:ext cx="67437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5B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</a:t>
            </a:r>
            <a:endParaRPr lang="en-US" sz="650" dirty="0"/>
          </a:p>
        </p:txBody>
      </p:sp>
      <p:sp>
        <p:nvSpPr>
          <p:cNvPr id="35" name="Shape 31"/>
          <p:cNvSpPr/>
          <p:nvPr/>
        </p:nvSpPr>
        <p:spPr>
          <a:xfrm>
            <a:off x="7814691" y="5943600"/>
            <a:ext cx="292608" cy="292608"/>
          </a:xfrm>
          <a:prstGeom prst="roundRect">
            <a:avLst>
              <a:gd name="adj" fmla="val 25000"/>
            </a:avLst>
          </a:prstGeom>
          <a:solidFill>
            <a:srgbClr val="DCEAF3"/>
          </a:solidFill>
          <a:ln/>
        </p:spPr>
      </p:sp>
      <p:pic>
        <p:nvPicPr>
          <p:cNvPr id="36" name="Image 2" descr="/home/claude/palmcare-analysis/icons/tools_nav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78699" y="5980176"/>
            <a:ext cx="164592" cy="164592"/>
          </a:xfrm>
          <a:prstGeom prst="rect">
            <a:avLst/>
          </a:prstGeom>
        </p:spPr>
      </p:pic>
      <p:sp>
        <p:nvSpPr>
          <p:cNvPr id="37" name="Text 32"/>
          <p:cNvSpPr/>
          <p:nvPr/>
        </p:nvSpPr>
        <p:spPr>
          <a:xfrm>
            <a:off x="7623810" y="6236208"/>
            <a:ext cx="67437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0A4A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Equip.</a:t>
            </a:r>
            <a:endParaRPr lang="en-US" sz="650" dirty="0"/>
          </a:p>
        </p:txBody>
      </p:sp>
      <p:pic>
        <p:nvPicPr>
          <p:cNvPr id="38" name="Image 3" descr="/home/claude/palmcare-analysis/icons/bell_gray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53069" y="5980176"/>
            <a:ext cx="164592" cy="164592"/>
          </a:xfrm>
          <a:prstGeom prst="rect">
            <a:avLst/>
          </a:prstGeom>
        </p:spPr>
      </p:pic>
      <p:sp>
        <p:nvSpPr>
          <p:cNvPr id="39" name="Text 33"/>
          <p:cNvSpPr/>
          <p:nvPr/>
        </p:nvSpPr>
        <p:spPr>
          <a:xfrm>
            <a:off x="8298180" y="6236208"/>
            <a:ext cx="67437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5B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Notif.</a:t>
            </a:r>
            <a:endParaRPr lang="en-US" sz="650" dirty="0"/>
          </a:p>
        </p:txBody>
      </p:sp>
      <p:pic>
        <p:nvPicPr>
          <p:cNvPr id="40" name="Image 4" descr="/home/claude/palmcare-analysis/icons/profile_gray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227439" y="5980176"/>
            <a:ext cx="164592" cy="164592"/>
          </a:xfrm>
          <a:prstGeom prst="rect">
            <a:avLst/>
          </a:prstGeom>
        </p:spPr>
      </p:pic>
      <p:sp>
        <p:nvSpPr>
          <p:cNvPr id="41" name="Text 34"/>
          <p:cNvSpPr/>
          <p:nvPr/>
        </p:nvSpPr>
        <p:spPr>
          <a:xfrm>
            <a:off x="8972550" y="6236208"/>
            <a:ext cx="67437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5B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</a:t>
            </a:r>
            <a:endParaRPr lang="en-US" sz="650" dirty="0"/>
          </a:p>
        </p:txBody>
      </p:sp>
      <p:sp>
        <p:nvSpPr>
          <p:cNvPr id="42" name="Text 35"/>
          <p:cNvSpPr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PalmCare — Mockup UI</a:t>
            </a:r>
            <a:endParaRPr lang="en-US" sz="900" dirty="0"/>
          </a:p>
        </p:txBody>
      </p:sp>
      <p:sp>
        <p:nvSpPr>
          <p:cNvPr id="43" name="Text 36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9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1C7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MANAGEMENT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229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Riwayat Maintenance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1C7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ANOTASI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48640" y="1764792"/>
            <a:ext cx="82296" cy="82296"/>
          </a:xfrm>
          <a:prstGeom prst="ellipse">
            <a:avLst/>
          </a:prstGeom>
          <a:solidFill>
            <a:srgbClr val="0A4A69"/>
          </a:solidFill>
          <a:ln/>
        </p:spPr>
      </p:sp>
      <p:sp>
        <p:nvSpPr>
          <p:cNvPr id="6" name="Text 4"/>
          <p:cNvSpPr/>
          <p:nvPr/>
        </p:nvSpPr>
        <p:spPr>
          <a:xfrm>
            <a:off x="749808" y="1682496"/>
            <a:ext cx="4572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just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2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 maintenance sebagai bahan evaluasi strategis, bukan untuk verifikasi operasional.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548640" y="2368296"/>
            <a:ext cx="82296" cy="82296"/>
          </a:xfrm>
          <a:prstGeom prst="ellipse">
            <a:avLst/>
          </a:prstGeom>
          <a:solidFill>
            <a:srgbClr val="0A4A69"/>
          </a:solidFill>
          <a:ln/>
        </p:spPr>
      </p:sp>
      <p:sp>
        <p:nvSpPr>
          <p:cNvPr id="8" name="Text 6"/>
          <p:cNvSpPr/>
          <p:nvPr/>
        </p:nvSpPr>
        <p:spPr>
          <a:xfrm>
            <a:off x="749808" y="22860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just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2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Menampilkan pola/tren tanpa detail teknis mendalam.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903720" y="502920"/>
            <a:ext cx="2788920" cy="5989320"/>
          </a:xfrm>
          <a:prstGeom prst="roundRect">
            <a:avLst>
              <a:gd name="adj" fmla="val 7213"/>
            </a:avLst>
          </a:prstGeom>
          <a:solidFill>
            <a:srgbClr val="12293D"/>
          </a:solidFill>
          <a:ln/>
          <a:effectLst>
            <a:outerShdw sx="100000" sy="100000" kx="0" ky="0" algn="bl" rotWithShape="0" blurRad="127000" dist="50800" dir="5400000">
              <a:srgbClr val="0A4A69">
                <a:alpha val="3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949440" y="548640"/>
            <a:ext cx="2697480" cy="5897880"/>
          </a:xfrm>
          <a:prstGeom prst="roundRect">
            <a:avLst>
              <a:gd name="adj" fmla="val 6102"/>
            </a:avLst>
          </a:prstGeom>
          <a:solidFill>
            <a:srgbClr val="F6F9FB"/>
          </a:solidFill>
          <a:ln/>
        </p:spPr>
      </p:sp>
      <p:sp>
        <p:nvSpPr>
          <p:cNvPr id="11" name="Text 9"/>
          <p:cNvSpPr/>
          <p:nvPr/>
        </p:nvSpPr>
        <p:spPr>
          <a:xfrm>
            <a:off x="7068312" y="594360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2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9:41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9272016" y="630936"/>
            <a:ext cx="274320" cy="118872"/>
          </a:xfrm>
          <a:prstGeom prst="roundRect">
            <a:avLst>
              <a:gd name="adj" fmla="val 23077"/>
            </a:avLst>
          </a:prstGeom>
          <a:noFill/>
          <a:ln w="9525">
            <a:solidFill>
              <a:srgbClr val="12293D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022592" y="832104"/>
            <a:ext cx="2551176" cy="420624"/>
          </a:xfrm>
          <a:prstGeom prst="rect">
            <a:avLst/>
          </a:prstGeom>
          <a:solidFill>
            <a:srgbClr val="0A4A69"/>
          </a:solidFill>
          <a:ln/>
        </p:spPr>
      </p:sp>
      <p:sp>
        <p:nvSpPr>
          <p:cNvPr id="14" name="Text 12"/>
          <p:cNvSpPr/>
          <p:nvPr/>
        </p:nvSpPr>
        <p:spPr>
          <a:xfrm>
            <a:off x="7168896" y="832104"/>
            <a:ext cx="191109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Riwayat Maintenance</a:t>
            </a:r>
            <a:endParaRPr lang="en-US" sz="1250" dirty="0"/>
          </a:p>
        </p:txBody>
      </p:sp>
      <p:pic>
        <p:nvPicPr>
          <p:cNvPr id="15" name="Image 0" descr="/home/claude/palmcare-analysis/icons/bell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62872" y="950976"/>
            <a:ext cx="182880" cy="182880"/>
          </a:xfrm>
          <a:prstGeom prst="rect">
            <a:avLst/>
          </a:prstGeom>
        </p:spPr>
      </p:pic>
      <p:sp>
        <p:nvSpPr>
          <p:cNvPr id="16" name="Shape 13"/>
          <p:cNvSpPr/>
          <p:nvPr/>
        </p:nvSpPr>
        <p:spPr>
          <a:xfrm>
            <a:off x="7022592" y="1344168"/>
            <a:ext cx="2551176" cy="530352"/>
          </a:xfrm>
          <a:prstGeom prst="roundRect">
            <a:avLst>
              <a:gd name="adj" fmla="val 12069"/>
            </a:avLst>
          </a:prstGeom>
          <a:solidFill>
            <a:srgbClr val="FFFFFF"/>
          </a:solidFill>
          <a:ln w="9525">
            <a:solidFill>
              <a:srgbClr val="E1EBF2"/>
            </a:solidFill>
            <a:prstDash val="solid"/>
          </a:ln>
          <a:effectLst>
            <a:outerShdw sx="100000" sy="100000" kx="0" ky="0" algn="bl" rotWithShape="0" blurRad="38100" dist="12700" dir="5400000">
              <a:srgbClr val="1F3864">
                <a:alpha val="6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7132320" y="1568196"/>
            <a:ext cx="82296" cy="82296"/>
          </a:xfrm>
          <a:prstGeom prst="ellipse">
            <a:avLst/>
          </a:prstGeom>
          <a:solidFill>
            <a:srgbClr val="1E8A5F"/>
          </a:solidFill>
          <a:ln/>
        </p:spPr>
      </p:sp>
      <p:sp>
        <p:nvSpPr>
          <p:cNvPr id="18" name="Text 15"/>
          <p:cNvSpPr/>
          <p:nvPr/>
        </p:nvSpPr>
        <p:spPr>
          <a:xfrm>
            <a:off x="7315200" y="1408176"/>
            <a:ext cx="1508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2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Sep 2026 · Screw Press #02</a:t>
            </a:r>
            <a:endParaRPr lang="en-US" sz="950" dirty="0"/>
          </a:p>
        </p:txBody>
      </p:sp>
      <p:sp>
        <p:nvSpPr>
          <p:cNvPr id="19" name="Text 16"/>
          <p:cNvSpPr/>
          <p:nvPr/>
        </p:nvSpPr>
        <p:spPr>
          <a:xfrm>
            <a:off x="7315200" y="1618488"/>
            <a:ext cx="2148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Preventive Maintenance</a:t>
            </a:r>
            <a:endParaRPr lang="en-US" sz="800" dirty="0"/>
          </a:p>
        </p:txBody>
      </p:sp>
      <p:sp>
        <p:nvSpPr>
          <p:cNvPr id="20" name="Text 17"/>
          <p:cNvSpPr/>
          <p:nvPr/>
        </p:nvSpPr>
        <p:spPr>
          <a:xfrm>
            <a:off x="8860536" y="1344168"/>
            <a:ext cx="62179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1C7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Approved</a:t>
            </a:r>
            <a:endParaRPr lang="en-US" sz="750" dirty="0"/>
          </a:p>
        </p:txBody>
      </p:sp>
      <p:sp>
        <p:nvSpPr>
          <p:cNvPr id="21" name="Shape 18"/>
          <p:cNvSpPr/>
          <p:nvPr/>
        </p:nvSpPr>
        <p:spPr>
          <a:xfrm>
            <a:off x="7022592" y="1965960"/>
            <a:ext cx="2551176" cy="530352"/>
          </a:xfrm>
          <a:prstGeom prst="roundRect">
            <a:avLst>
              <a:gd name="adj" fmla="val 12069"/>
            </a:avLst>
          </a:prstGeom>
          <a:solidFill>
            <a:srgbClr val="FFFFFF"/>
          </a:solidFill>
          <a:ln w="9525">
            <a:solidFill>
              <a:srgbClr val="E1EBF2"/>
            </a:solidFill>
            <a:prstDash val="solid"/>
          </a:ln>
          <a:effectLst>
            <a:outerShdw sx="100000" sy="100000" kx="0" ky="0" algn="bl" rotWithShape="0" blurRad="38100" dist="12700" dir="5400000">
              <a:srgbClr val="1F3864">
                <a:alpha val="6000"/>
              </a:srgbClr>
            </a:outerShdw>
          </a:effectLst>
        </p:spPr>
      </p:sp>
      <p:sp>
        <p:nvSpPr>
          <p:cNvPr id="22" name="Shape 19"/>
          <p:cNvSpPr/>
          <p:nvPr/>
        </p:nvSpPr>
        <p:spPr>
          <a:xfrm>
            <a:off x="7132320" y="2189988"/>
            <a:ext cx="82296" cy="82296"/>
          </a:xfrm>
          <a:prstGeom prst="ellipse">
            <a:avLst/>
          </a:prstGeom>
          <a:solidFill>
            <a:srgbClr val="1E8A5F"/>
          </a:solidFill>
          <a:ln/>
        </p:spPr>
      </p:sp>
      <p:sp>
        <p:nvSpPr>
          <p:cNvPr id="23" name="Text 20"/>
          <p:cNvSpPr/>
          <p:nvPr/>
        </p:nvSpPr>
        <p:spPr>
          <a:xfrm>
            <a:off x="7315200" y="2029968"/>
            <a:ext cx="1508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2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 Aug 2026 · Boiler #01</a:t>
            </a:r>
            <a:endParaRPr lang="en-US" sz="950" dirty="0"/>
          </a:p>
        </p:txBody>
      </p:sp>
      <p:sp>
        <p:nvSpPr>
          <p:cNvPr id="24" name="Text 21"/>
          <p:cNvSpPr/>
          <p:nvPr/>
        </p:nvSpPr>
        <p:spPr>
          <a:xfrm>
            <a:off x="7315200" y="2240280"/>
            <a:ext cx="2148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Inspection</a:t>
            </a:r>
            <a:endParaRPr lang="en-US" sz="800" dirty="0"/>
          </a:p>
        </p:txBody>
      </p:sp>
      <p:sp>
        <p:nvSpPr>
          <p:cNvPr id="25" name="Text 22"/>
          <p:cNvSpPr/>
          <p:nvPr/>
        </p:nvSpPr>
        <p:spPr>
          <a:xfrm>
            <a:off x="8860536" y="1965960"/>
            <a:ext cx="62179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1C7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Approved</a:t>
            </a:r>
            <a:endParaRPr lang="en-US" sz="750" dirty="0"/>
          </a:p>
        </p:txBody>
      </p:sp>
      <p:sp>
        <p:nvSpPr>
          <p:cNvPr id="26" name="Shape 23"/>
          <p:cNvSpPr/>
          <p:nvPr/>
        </p:nvSpPr>
        <p:spPr>
          <a:xfrm>
            <a:off x="7022592" y="2587752"/>
            <a:ext cx="2551176" cy="530352"/>
          </a:xfrm>
          <a:prstGeom prst="roundRect">
            <a:avLst>
              <a:gd name="adj" fmla="val 12069"/>
            </a:avLst>
          </a:prstGeom>
          <a:solidFill>
            <a:srgbClr val="FFFFFF"/>
          </a:solidFill>
          <a:ln w="9525">
            <a:solidFill>
              <a:srgbClr val="E1EBF2"/>
            </a:solidFill>
            <a:prstDash val="solid"/>
          </a:ln>
          <a:effectLst>
            <a:outerShdw sx="100000" sy="100000" kx="0" ky="0" algn="bl" rotWithShape="0" blurRad="38100" dist="12700" dir="5400000">
              <a:srgbClr val="1F3864">
                <a:alpha val="6000"/>
              </a:srgbClr>
            </a:outerShdw>
          </a:effectLst>
        </p:spPr>
      </p:sp>
      <p:sp>
        <p:nvSpPr>
          <p:cNvPr id="27" name="Shape 24"/>
          <p:cNvSpPr/>
          <p:nvPr/>
        </p:nvSpPr>
        <p:spPr>
          <a:xfrm>
            <a:off x="7132320" y="2811780"/>
            <a:ext cx="82296" cy="82296"/>
          </a:xfrm>
          <a:prstGeom prst="ellipse">
            <a:avLst/>
          </a:prstGeom>
          <a:solidFill>
            <a:srgbClr val="1C7FB0"/>
          </a:solidFill>
          <a:ln/>
        </p:spPr>
      </p:sp>
      <p:sp>
        <p:nvSpPr>
          <p:cNvPr id="28" name="Text 25"/>
          <p:cNvSpPr/>
          <p:nvPr/>
        </p:nvSpPr>
        <p:spPr>
          <a:xfrm>
            <a:off x="7315200" y="2651760"/>
            <a:ext cx="1508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2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Aug 2026 · Pump #03</a:t>
            </a:r>
            <a:endParaRPr lang="en-US" sz="950" dirty="0"/>
          </a:p>
        </p:txBody>
      </p:sp>
      <p:sp>
        <p:nvSpPr>
          <p:cNvPr id="29" name="Text 26"/>
          <p:cNvSpPr/>
          <p:nvPr/>
        </p:nvSpPr>
        <p:spPr>
          <a:xfrm>
            <a:off x="7315200" y="2862072"/>
            <a:ext cx="2148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Breakdown</a:t>
            </a:r>
            <a:endParaRPr lang="en-US" sz="800" dirty="0"/>
          </a:p>
        </p:txBody>
      </p:sp>
      <p:sp>
        <p:nvSpPr>
          <p:cNvPr id="30" name="Text 27"/>
          <p:cNvSpPr/>
          <p:nvPr/>
        </p:nvSpPr>
        <p:spPr>
          <a:xfrm>
            <a:off x="8860536" y="2587752"/>
            <a:ext cx="62179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1C7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Closed</a:t>
            </a:r>
            <a:endParaRPr lang="en-US" sz="750" dirty="0"/>
          </a:p>
        </p:txBody>
      </p:sp>
      <p:sp>
        <p:nvSpPr>
          <p:cNvPr id="31" name="Shape 28"/>
          <p:cNvSpPr/>
          <p:nvPr/>
        </p:nvSpPr>
        <p:spPr>
          <a:xfrm>
            <a:off x="6949440" y="5888736"/>
            <a:ext cx="2697480" cy="51206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2" name="Shape 29"/>
          <p:cNvSpPr/>
          <p:nvPr/>
        </p:nvSpPr>
        <p:spPr>
          <a:xfrm>
            <a:off x="6949440" y="5888736"/>
            <a:ext cx="2697480" cy="0"/>
          </a:xfrm>
          <a:prstGeom prst="line">
            <a:avLst/>
          </a:prstGeom>
          <a:noFill/>
          <a:ln w="12700">
            <a:solidFill>
              <a:srgbClr val="E1EBF2"/>
            </a:solidFill>
            <a:prstDash val="solid"/>
          </a:ln>
        </p:spPr>
      </p:sp>
      <p:sp>
        <p:nvSpPr>
          <p:cNvPr id="33" name="Shape 30"/>
          <p:cNvSpPr/>
          <p:nvPr/>
        </p:nvSpPr>
        <p:spPr>
          <a:xfrm>
            <a:off x="7140321" y="5943600"/>
            <a:ext cx="292608" cy="292608"/>
          </a:xfrm>
          <a:prstGeom prst="roundRect">
            <a:avLst>
              <a:gd name="adj" fmla="val 25000"/>
            </a:avLst>
          </a:prstGeom>
          <a:solidFill>
            <a:srgbClr val="DCEAF3"/>
          </a:solidFill>
          <a:ln/>
        </p:spPr>
      </p:sp>
      <p:pic>
        <p:nvPicPr>
          <p:cNvPr id="34" name="Image 1" descr="/home/claude/palmcare-analysis/icons/dashboard_navy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04329" y="5980176"/>
            <a:ext cx="164592" cy="164592"/>
          </a:xfrm>
          <a:prstGeom prst="rect">
            <a:avLst/>
          </a:prstGeom>
        </p:spPr>
      </p:pic>
      <p:sp>
        <p:nvSpPr>
          <p:cNvPr id="35" name="Text 31"/>
          <p:cNvSpPr/>
          <p:nvPr/>
        </p:nvSpPr>
        <p:spPr>
          <a:xfrm>
            <a:off x="6949440" y="6236208"/>
            <a:ext cx="67437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0A4A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</a:t>
            </a:r>
            <a:endParaRPr lang="en-US" sz="650" dirty="0"/>
          </a:p>
        </p:txBody>
      </p:sp>
      <p:pic>
        <p:nvPicPr>
          <p:cNvPr id="36" name="Image 2" descr="/home/claude/palmcare-analysis/icons/tools_gra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78699" y="5980176"/>
            <a:ext cx="164592" cy="164592"/>
          </a:xfrm>
          <a:prstGeom prst="rect">
            <a:avLst/>
          </a:prstGeom>
        </p:spPr>
      </p:pic>
      <p:sp>
        <p:nvSpPr>
          <p:cNvPr id="37" name="Text 32"/>
          <p:cNvSpPr/>
          <p:nvPr/>
        </p:nvSpPr>
        <p:spPr>
          <a:xfrm>
            <a:off x="7623810" y="6236208"/>
            <a:ext cx="67437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5B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Equip.</a:t>
            </a:r>
            <a:endParaRPr lang="en-US" sz="650" dirty="0"/>
          </a:p>
        </p:txBody>
      </p:sp>
      <p:pic>
        <p:nvPicPr>
          <p:cNvPr id="38" name="Image 3" descr="/home/claude/palmcare-analysis/icons/bell_gray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53069" y="5980176"/>
            <a:ext cx="164592" cy="164592"/>
          </a:xfrm>
          <a:prstGeom prst="rect">
            <a:avLst/>
          </a:prstGeom>
        </p:spPr>
      </p:pic>
      <p:sp>
        <p:nvSpPr>
          <p:cNvPr id="39" name="Text 33"/>
          <p:cNvSpPr/>
          <p:nvPr/>
        </p:nvSpPr>
        <p:spPr>
          <a:xfrm>
            <a:off x="8298180" y="6236208"/>
            <a:ext cx="67437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5B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Notif.</a:t>
            </a:r>
            <a:endParaRPr lang="en-US" sz="650" dirty="0"/>
          </a:p>
        </p:txBody>
      </p:sp>
      <p:pic>
        <p:nvPicPr>
          <p:cNvPr id="40" name="Image 4" descr="/home/claude/palmcare-analysis/icons/profile_gray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227439" y="5980176"/>
            <a:ext cx="164592" cy="164592"/>
          </a:xfrm>
          <a:prstGeom prst="rect">
            <a:avLst/>
          </a:prstGeom>
        </p:spPr>
      </p:pic>
      <p:sp>
        <p:nvSpPr>
          <p:cNvPr id="41" name="Text 34"/>
          <p:cNvSpPr/>
          <p:nvPr/>
        </p:nvSpPr>
        <p:spPr>
          <a:xfrm>
            <a:off x="8972550" y="6236208"/>
            <a:ext cx="67437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5B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</a:t>
            </a:r>
            <a:endParaRPr lang="en-US" sz="650" dirty="0"/>
          </a:p>
        </p:txBody>
      </p:sp>
      <p:sp>
        <p:nvSpPr>
          <p:cNvPr id="42" name="Text 35"/>
          <p:cNvSpPr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PalmCare — Mockup UI</a:t>
            </a:r>
            <a:endParaRPr lang="en-US" sz="900" dirty="0"/>
          </a:p>
        </p:txBody>
      </p:sp>
      <p:sp>
        <p:nvSpPr>
          <p:cNvPr id="43" name="Text 36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</a:t>
            </a:r>
            <a:endParaRPr lang="en-US" sz="9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1C7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MANAGEMENT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229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Laporan (Ringkasan Periodik)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1C7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ANOTASI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48640" y="1764792"/>
            <a:ext cx="82296" cy="82296"/>
          </a:xfrm>
          <a:prstGeom prst="ellipse">
            <a:avLst/>
          </a:prstGeom>
          <a:solidFill>
            <a:srgbClr val="0A4A69"/>
          </a:solidFill>
          <a:ln/>
        </p:spPr>
      </p:sp>
      <p:sp>
        <p:nvSpPr>
          <p:cNvPr id="6" name="Text 4"/>
          <p:cNvSpPr/>
          <p:nvPr/>
        </p:nvSpPr>
        <p:spPr>
          <a:xfrm>
            <a:off x="749808" y="1682496"/>
            <a:ext cx="4572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just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2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Ringkasan performa maintenance dalam format sederhana untuk kebutuhan strategis.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548640" y="2368296"/>
            <a:ext cx="82296" cy="82296"/>
          </a:xfrm>
          <a:prstGeom prst="ellipse">
            <a:avLst/>
          </a:prstGeom>
          <a:solidFill>
            <a:srgbClr val="0A4A69"/>
          </a:solidFill>
          <a:ln/>
        </p:spPr>
      </p:sp>
      <p:sp>
        <p:nvSpPr>
          <p:cNvPr id="8" name="Text 6"/>
          <p:cNvSpPr/>
          <p:nvPr/>
        </p:nvSpPr>
        <p:spPr>
          <a:xfrm>
            <a:off x="749808" y="2286000"/>
            <a:ext cx="4572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just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2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Dapat dipilih periode (mingguan/bulanan) melalui tab di bagian atas.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903720" y="502920"/>
            <a:ext cx="2788920" cy="5989320"/>
          </a:xfrm>
          <a:prstGeom prst="roundRect">
            <a:avLst>
              <a:gd name="adj" fmla="val 7213"/>
            </a:avLst>
          </a:prstGeom>
          <a:solidFill>
            <a:srgbClr val="12293D"/>
          </a:solidFill>
          <a:ln/>
          <a:effectLst>
            <a:outerShdw sx="100000" sy="100000" kx="0" ky="0" algn="bl" rotWithShape="0" blurRad="127000" dist="50800" dir="5400000">
              <a:srgbClr val="0A4A69">
                <a:alpha val="3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949440" y="548640"/>
            <a:ext cx="2697480" cy="5897880"/>
          </a:xfrm>
          <a:prstGeom prst="roundRect">
            <a:avLst>
              <a:gd name="adj" fmla="val 6102"/>
            </a:avLst>
          </a:prstGeom>
          <a:solidFill>
            <a:srgbClr val="F6F9FB"/>
          </a:solidFill>
          <a:ln/>
        </p:spPr>
      </p:sp>
      <p:sp>
        <p:nvSpPr>
          <p:cNvPr id="11" name="Text 9"/>
          <p:cNvSpPr/>
          <p:nvPr/>
        </p:nvSpPr>
        <p:spPr>
          <a:xfrm>
            <a:off x="7068312" y="594360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2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9:41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9272016" y="630936"/>
            <a:ext cx="274320" cy="118872"/>
          </a:xfrm>
          <a:prstGeom prst="roundRect">
            <a:avLst>
              <a:gd name="adj" fmla="val 23077"/>
            </a:avLst>
          </a:prstGeom>
          <a:noFill/>
          <a:ln w="9525">
            <a:solidFill>
              <a:srgbClr val="12293D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022592" y="832104"/>
            <a:ext cx="2551176" cy="420624"/>
          </a:xfrm>
          <a:prstGeom prst="rect">
            <a:avLst/>
          </a:prstGeom>
          <a:solidFill>
            <a:srgbClr val="0A4A69"/>
          </a:solidFill>
          <a:ln/>
        </p:spPr>
      </p:sp>
      <p:pic>
        <p:nvPicPr>
          <p:cNvPr id="14" name="Image 0" descr="/home/claude/palmcare-analysis/icons/history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32320" y="950976"/>
            <a:ext cx="182880" cy="182880"/>
          </a:xfrm>
          <a:prstGeom prst="rect">
            <a:avLst/>
          </a:prstGeom>
        </p:spPr>
      </p:pic>
      <p:sp>
        <p:nvSpPr>
          <p:cNvPr id="15" name="Text 12"/>
          <p:cNvSpPr/>
          <p:nvPr/>
        </p:nvSpPr>
        <p:spPr>
          <a:xfrm>
            <a:off x="7351776" y="832104"/>
            <a:ext cx="191109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Laporan</a:t>
            </a:r>
            <a:endParaRPr lang="en-US" sz="1250" dirty="0"/>
          </a:p>
        </p:txBody>
      </p:sp>
      <p:sp>
        <p:nvSpPr>
          <p:cNvPr id="16" name="Text 13"/>
          <p:cNvSpPr/>
          <p:nvPr/>
        </p:nvSpPr>
        <p:spPr>
          <a:xfrm>
            <a:off x="7022592" y="1344168"/>
            <a:ext cx="12755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Mingguan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8334756" y="1344168"/>
            <a:ext cx="1202436" cy="274320"/>
          </a:xfrm>
          <a:prstGeom prst="roundRect">
            <a:avLst>
              <a:gd name="adj" fmla="val 20000"/>
            </a:avLst>
          </a:prstGeom>
          <a:solidFill>
            <a:srgbClr val="0A4A69"/>
          </a:solidFill>
          <a:ln/>
        </p:spPr>
      </p:sp>
      <p:sp>
        <p:nvSpPr>
          <p:cNvPr id="18" name="Text 15"/>
          <p:cNvSpPr/>
          <p:nvPr/>
        </p:nvSpPr>
        <p:spPr>
          <a:xfrm>
            <a:off x="8298180" y="1344168"/>
            <a:ext cx="12755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Bulanan</a:t>
            </a:r>
            <a:endParaRPr lang="en-US" sz="850" dirty="0"/>
          </a:p>
        </p:txBody>
      </p:sp>
      <p:sp>
        <p:nvSpPr>
          <p:cNvPr id="19" name="Shape 16"/>
          <p:cNvSpPr/>
          <p:nvPr/>
        </p:nvSpPr>
        <p:spPr>
          <a:xfrm>
            <a:off x="7022592" y="1709928"/>
            <a:ext cx="1243584" cy="5486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1EBF2"/>
            </a:solidFill>
            <a:prstDash val="solid"/>
          </a:ln>
          <a:effectLst>
            <a:outerShdw sx="100000" sy="100000" kx="0" ky="0" algn="bl" rotWithShape="0" blurRad="50800" dist="12700" dir="5400000">
              <a:srgbClr val="1F3864">
                <a:alpha val="8000"/>
              </a:srgbClr>
            </a:outerShdw>
          </a:effectLst>
        </p:spPr>
      </p:sp>
      <p:sp>
        <p:nvSpPr>
          <p:cNvPr id="20" name="Text 17"/>
          <p:cNvSpPr/>
          <p:nvPr/>
        </p:nvSpPr>
        <p:spPr>
          <a:xfrm>
            <a:off x="7022592" y="1773936"/>
            <a:ext cx="12435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8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92.8%</a:t>
            </a:r>
            <a:endParaRPr lang="en-US" sz="1400" dirty="0"/>
          </a:p>
        </p:txBody>
      </p:sp>
      <p:sp>
        <p:nvSpPr>
          <p:cNvPr id="21" name="Text 18"/>
          <p:cNvSpPr/>
          <p:nvPr/>
        </p:nvSpPr>
        <p:spPr>
          <a:xfrm>
            <a:off x="7022592" y="2039112"/>
            <a:ext cx="12435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5B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PM Compliance</a:t>
            </a:r>
            <a:endParaRPr lang="en-US" sz="650" dirty="0"/>
          </a:p>
        </p:txBody>
      </p:sp>
      <p:sp>
        <p:nvSpPr>
          <p:cNvPr id="22" name="Shape 19"/>
          <p:cNvSpPr/>
          <p:nvPr/>
        </p:nvSpPr>
        <p:spPr>
          <a:xfrm>
            <a:off x="8330184" y="1709928"/>
            <a:ext cx="1243584" cy="5486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1EBF2"/>
            </a:solidFill>
            <a:prstDash val="solid"/>
          </a:ln>
          <a:effectLst>
            <a:outerShdw sx="100000" sy="100000" kx="0" ky="0" algn="bl" rotWithShape="0" blurRad="50800" dist="12700" dir="5400000">
              <a:srgbClr val="1F3864">
                <a:alpha val="8000"/>
              </a:srgbClr>
            </a:outerShdw>
          </a:effectLst>
        </p:spPr>
      </p:sp>
      <p:sp>
        <p:nvSpPr>
          <p:cNvPr id="23" name="Text 20"/>
          <p:cNvSpPr/>
          <p:nvPr/>
        </p:nvSpPr>
        <p:spPr>
          <a:xfrm>
            <a:off x="8330184" y="1773936"/>
            <a:ext cx="12435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D490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400" dirty="0"/>
          </a:p>
        </p:txBody>
      </p:sp>
      <p:sp>
        <p:nvSpPr>
          <p:cNvPr id="24" name="Text 21"/>
          <p:cNvSpPr/>
          <p:nvPr/>
        </p:nvSpPr>
        <p:spPr>
          <a:xfrm>
            <a:off x="8330184" y="2039112"/>
            <a:ext cx="12435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5B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Breakdown</a:t>
            </a:r>
            <a:endParaRPr lang="en-US" sz="650" dirty="0"/>
          </a:p>
        </p:txBody>
      </p:sp>
      <p:sp>
        <p:nvSpPr>
          <p:cNvPr id="25" name="Shape 22"/>
          <p:cNvSpPr/>
          <p:nvPr/>
        </p:nvSpPr>
        <p:spPr>
          <a:xfrm>
            <a:off x="7022592" y="2386584"/>
            <a:ext cx="2551176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1EBF2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7022592" y="2386584"/>
            <a:ext cx="2551176" cy="228600"/>
          </a:xfrm>
          <a:prstGeom prst="rect">
            <a:avLst/>
          </a:prstGeom>
          <a:solidFill>
            <a:srgbClr val="DCEAF3"/>
          </a:solidFill>
          <a:ln/>
        </p:spPr>
      </p:sp>
      <p:sp>
        <p:nvSpPr>
          <p:cNvPr id="27" name="Text 24"/>
          <p:cNvSpPr/>
          <p:nvPr/>
        </p:nvSpPr>
        <p:spPr>
          <a:xfrm>
            <a:off x="7077456" y="2386584"/>
            <a:ext cx="120243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0A4A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</a:t>
            </a:r>
            <a:endParaRPr lang="en-US" sz="700" dirty="0"/>
          </a:p>
        </p:txBody>
      </p:sp>
      <p:sp>
        <p:nvSpPr>
          <p:cNvPr id="28" name="Text 25"/>
          <p:cNvSpPr/>
          <p:nvPr/>
        </p:nvSpPr>
        <p:spPr>
          <a:xfrm>
            <a:off x="8353044" y="2386584"/>
            <a:ext cx="120243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0A4A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Nilai</a:t>
            </a:r>
            <a:endParaRPr lang="en-US" sz="700" dirty="0"/>
          </a:p>
        </p:txBody>
      </p:sp>
      <p:sp>
        <p:nvSpPr>
          <p:cNvPr id="29" name="Text 26"/>
          <p:cNvSpPr/>
          <p:nvPr/>
        </p:nvSpPr>
        <p:spPr>
          <a:xfrm>
            <a:off x="7077456" y="2615184"/>
            <a:ext cx="120243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2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Maintenance</a:t>
            </a:r>
            <a:endParaRPr lang="en-US" sz="700" dirty="0"/>
          </a:p>
        </p:txBody>
      </p:sp>
      <p:sp>
        <p:nvSpPr>
          <p:cNvPr id="30" name="Text 27"/>
          <p:cNvSpPr/>
          <p:nvPr/>
        </p:nvSpPr>
        <p:spPr>
          <a:xfrm>
            <a:off x="8353044" y="2615184"/>
            <a:ext cx="120243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2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120</a:t>
            </a:r>
            <a:endParaRPr lang="en-US" sz="700" dirty="0"/>
          </a:p>
        </p:txBody>
      </p:sp>
      <p:sp>
        <p:nvSpPr>
          <p:cNvPr id="31" name="Text 28"/>
          <p:cNvSpPr/>
          <p:nvPr/>
        </p:nvSpPr>
        <p:spPr>
          <a:xfrm>
            <a:off x="7077456" y="2843784"/>
            <a:ext cx="120243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2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Selesai</a:t>
            </a:r>
            <a:endParaRPr lang="en-US" sz="700" dirty="0"/>
          </a:p>
        </p:txBody>
      </p:sp>
      <p:sp>
        <p:nvSpPr>
          <p:cNvPr id="32" name="Text 29"/>
          <p:cNvSpPr/>
          <p:nvPr/>
        </p:nvSpPr>
        <p:spPr>
          <a:xfrm>
            <a:off x="8353044" y="2843784"/>
            <a:ext cx="120243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2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108</a:t>
            </a:r>
            <a:endParaRPr lang="en-US" sz="700" dirty="0"/>
          </a:p>
        </p:txBody>
      </p:sp>
      <p:sp>
        <p:nvSpPr>
          <p:cNvPr id="33" name="Text 30"/>
          <p:cNvSpPr/>
          <p:nvPr/>
        </p:nvSpPr>
        <p:spPr>
          <a:xfrm>
            <a:off x="7077456" y="3072384"/>
            <a:ext cx="120243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2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Overdue</a:t>
            </a:r>
            <a:endParaRPr lang="en-US" sz="700" dirty="0"/>
          </a:p>
        </p:txBody>
      </p:sp>
      <p:sp>
        <p:nvSpPr>
          <p:cNvPr id="34" name="Text 31"/>
          <p:cNvSpPr/>
          <p:nvPr/>
        </p:nvSpPr>
        <p:spPr>
          <a:xfrm>
            <a:off x="8353044" y="3072384"/>
            <a:ext cx="120243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2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700" dirty="0"/>
          </a:p>
        </p:txBody>
      </p:sp>
      <p:sp>
        <p:nvSpPr>
          <p:cNvPr id="35" name="Shape 32"/>
          <p:cNvSpPr/>
          <p:nvPr/>
        </p:nvSpPr>
        <p:spPr>
          <a:xfrm>
            <a:off x="6949440" y="5888736"/>
            <a:ext cx="2697480" cy="51206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6" name="Shape 33"/>
          <p:cNvSpPr/>
          <p:nvPr/>
        </p:nvSpPr>
        <p:spPr>
          <a:xfrm>
            <a:off x="6949440" y="5888736"/>
            <a:ext cx="2697480" cy="0"/>
          </a:xfrm>
          <a:prstGeom prst="line">
            <a:avLst/>
          </a:prstGeom>
          <a:noFill/>
          <a:ln w="12700">
            <a:solidFill>
              <a:srgbClr val="E1EBF2"/>
            </a:solidFill>
            <a:prstDash val="solid"/>
          </a:ln>
        </p:spPr>
      </p:sp>
      <p:sp>
        <p:nvSpPr>
          <p:cNvPr id="37" name="Shape 34"/>
          <p:cNvSpPr/>
          <p:nvPr/>
        </p:nvSpPr>
        <p:spPr>
          <a:xfrm>
            <a:off x="7140321" y="5943600"/>
            <a:ext cx="292608" cy="292608"/>
          </a:xfrm>
          <a:prstGeom prst="roundRect">
            <a:avLst>
              <a:gd name="adj" fmla="val 25000"/>
            </a:avLst>
          </a:prstGeom>
          <a:solidFill>
            <a:srgbClr val="DCEAF3"/>
          </a:solidFill>
          <a:ln/>
        </p:spPr>
      </p:sp>
      <p:pic>
        <p:nvPicPr>
          <p:cNvPr id="38" name="Image 1" descr="/home/claude/palmcare-analysis/icons/dashboard_navy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04329" y="5980176"/>
            <a:ext cx="164592" cy="164592"/>
          </a:xfrm>
          <a:prstGeom prst="rect">
            <a:avLst/>
          </a:prstGeom>
        </p:spPr>
      </p:pic>
      <p:sp>
        <p:nvSpPr>
          <p:cNvPr id="39" name="Text 35"/>
          <p:cNvSpPr/>
          <p:nvPr/>
        </p:nvSpPr>
        <p:spPr>
          <a:xfrm>
            <a:off x="6949440" y="6236208"/>
            <a:ext cx="67437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0A4A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</a:t>
            </a:r>
            <a:endParaRPr lang="en-US" sz="650" dirty="0"/>
          </a:p>
        </p:txBody>
      </p:sp>
      <p:pic>
        <p:nvPicPr>
          <p:cNvPr id="40" name="Image 2" descr="/home/claude/palmcare-analysis/icons/tools_gra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78699" y="5980176"/>
            <a:ext cx="164592" cy="164592"/>
          </a:xfrm>
          <a:prstGeom prst="rect">
            <a:avLst/>
          </a:prstGeom>
        </p:spPr>
      </p:pic>
      <p:sp>
        <p:nvSpPr>
          <p:cNvPr id="41" name="Text 36"/>
          <p:cNvSpPr/>
          <p:nvPr/>
        </p:nvSpPr>
        <p:spPr>
          <a:xfrm>
            <a:off x="7623810" y="6236208"/>
            <a:ext cx="67437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5B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Equip.</a:t>
            </a:r>
            <a:endParaRPr lang="en-US" sz="650" dirty="0"/>
          </a:p>
        </p:txBody>
      </p:sp>
      <p:pic>
        <p:nvPicPr>
          <p:cNvPr id="42" name="Image 3" descr="/home/claude/palmcare-analysis/icons/bell_gray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53069" y="5980176"/>
            <a:ext cx="164592" cy="164592"/>
          </a:xfrm>
          <a:prstGeom prst="rect">
            <a:avLst/>
          </a:prstGeom>
        </p:spPr>
      </p:pic>
      <p:sp>
        <p:nvSpPr>
          <p:cNvPr id="43" name="Text 37"/>
          <p:cNvSpPr/>
          <p:nvPr/>
        </p:nvSpPr>
        <p:spPr>
          <a:xfrm>
            <a:off x="8298180" y="6236208"/>
            <a:ext cx="67437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5B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Notif.</a:t>
            </a:r>
            <a:endParaRPr lang="en-US" sz="650" dirty="0"/>
          </a:p>
        </p:txBody>
      </p:sp>
      <p:pic>
        <p:nvPicPr>
          <p:cNvPr id="44" name="Image 4" descr="/home/claude/palmcare-analysis/icons/profile_gray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227439" y="5980176"/>
            <a:ext cx="164592" cy="164592"/>
          </a:xfrm>
          <a:prstGeom prst="rect">
            <a:avLst/>
          </a:prstGeom>
        </p:spPr>
      </p:pic>
      <p:sp>
        <p:nvSpPr>
          <p:cNvPr id="45" name="Text 38"/>
          <p:cNvSpPr/>
          <p:nvPr/>
        </p:nvSpPr>
        <p:spPr>
          <a:xfrm>
            <a:off x="8972550" y="6236208"/>
            <a:ext cx="67437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5B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</a:t>
            </a:r>
            <a:endParaRPr lang="en-US" sz="650" dirty="0"/>
          </a:p>
        </p:txBody>
      </p:sp>
      <p:sp>
        <p:nvSpPr>
          <p:cNvPr id="46" name="Text 39"/>
          <p:cNvSpPr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PalmCare — Mockup UI</a:t>
            </a:r>
            <a:endParaRPr lang="en-US" sz="900" dirty="0"/>
          </a:p>
        </p:txBody>
      </p:sp>
      <p:sp>
        <p:nvSpPr>
          <p:cNvPr id="47" name="Text 40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</a:t>
            </a:r>
            <a:endParaRPr lang="en-US" sz="9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1C7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MANAGEMENT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229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Notifikasi &amp; Profil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188720" y="1371600"/>
            <a:ext cx="2606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2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Notifikasi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1188720" y="1645920"/>
            <a:ext cx="2606040" cy="4754880"/>
          </a:xfrm>
          <a:prstGeom prst="roundRect">
            <a:avLst>
              <a:gd name="adj" fmla="val 7719"/>
            </a:avLst>
          </a:prstGeom>
          <a:solidFill>
            <a:srgbClr val="12293D"/>
          </a:solidFill>
          <a:ln/>
          <a:effectLst>
            <a:outerShdw sx="100000" sy="100000" kx="0" ky="0" algn="bl" rotWithShape="0" blurRad="127000" dist="50800" dir="5400000">
              <a:srgbClr val="0A4A69">
                <a:alpha val="3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234440" y="1691640"/>
            <a:ext cx="2514600" cy="4663440"/>
          </a:xfrm>
          <a:prstGeom prst="roundRect">
            <a:avLst>
              <a:gd name="adj" fmla="val 6545"/>
            </a:avLst>
          </a:prstGeom>
          <a:solidFill>
            <a:srgbClr val="F6F9FB"/>
          </a:solidFill>
          <a:ln/>
        </p:spPr>
      </p:sp>
      <p:sp>
        <p:nvSpPr>
          <p:cNvPr id="7" name="Text 5"/>
          <p:cNvSpPr/>
          <p:nvPr/>
        </p:nvSpPr>
        <p:spPr>
          <a:xfrm>
            <a:off x="1353312" y="1737360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2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9:41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3374136" y="1773936"/>
            <a:ext cx="274320" cy="118872"/>
          </a:xfrm>
          <a:prstGeom prst="roundRect">
            <a:avLst>
              <a:gd name="adj" fmla="val 23077"/>
            </a:avLst>
          </a:prstGeom>
          <a:noFill/>
          <a:ln w="9525">
            <a:solidFill>
              <a:srgbClr val="12293D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307592" y="1975104"/>
            <a:ext cx="2368296" cy="420624"/>
          </a:xfrm>
          <a:prstGeom prst="rect">
            <a:avLst/>
          </a:prstGeom>
          <a:solidFill>
            <a:srgbClr val="0A4A69"/>
          </a:solidFill>
          <a:ln/>
        </p:spPr>
      </p:sp>
      <p:sp>
        <p:nvSpPr>
          <p:cNvPr id="10" name="Text 8"/>
          <p:cNvSpPr/>
          <p:nvPr/>
        </p:nvSpPr>
        <p:spPr>
          <a:xfrm>
            <a:off x="1453896" y="1975104"/>
            <a:ext cx="17282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Notifikasi</a:t>
            </a:r>
            <a:endParaRPr lang="en-US" sz="1250" dirty="0"/>
          </a:p>
        </p:txBody>
      </p:sp>
      <p:pic>
        <p:nvPicPr>
          <p:cNvPr id="11" name="Image 0" descr="/home/claude/palmcare-analysis/icons/bell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364992" y="2093976"/>
            <a:ext cx="182880" cy="182880"/>
          </a:xfrm>
          <a:prstGeom prst="rect">
            <a:avLst/>
          </a:prstGeom>
        </p:spPr>
      </p:pic>
      <p:sp>
        <p:nvSpPr>
          <p:cNvPr id="12" name="Shape 9"/>
          <p:cNvSpPr/>
          <p:nvPr/>
        </p:nvSpPr>
        <p:spPr>
          <a:xfrm>
            <a:off x="1307592" y="2487168"/>
            <a:ext cx="2368296" cy="530352"/>
          </a:xfrm>
          <a:prstGeom prst="roundRect">
            <a:avLst>
              <a:gd name="adj" fmla="val 12069"/>
            </a:avLst>
          </a:prstGeom>
          <a:solidFill>
            <a:srgbClr val="FFFFFF"/>
          </a:solidFill>
          <a:ln w="9525">
            <a:solidFill>
              <a:srgbClr val="E1EBF2"/>
            </a:solidFill>
            <a:prstDash val="solid"/>
          </a:ln>
          <a:effectLst>
            <a:outerShdw sx="100000" sy="100000" kx="0" ky="0" algn="bl" rotWithShape="0" blurRad="38100" dist="12700" dir="5400000">
              <a:srgbClr val="1F3864">
                <a:alpha val="6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1435608" y="2551176"/>
            <a:ext cx="21305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2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Isu kritis terdeteksi</a:t>
            </a:r>
            <a:endParaRPr lang="en-US" sz="950" dirty="0"/>
          </a:p>
        </p:txBody>
      </p:sp>
      <p:sp>
        <p:nvSpPr>
          <p:cNvPr id="14" name="Text 11"/>
          <p:cNvSpPr/>
          <p:nvPr/>
        </p:nvSpPr>
        <p:spPr>
          <a:xfrm>
            <a:off x="1435608" y="2761488"/>
            <a:ext cx="21305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Boiler #01 · High Temperature</a:t>
            </a:r>
            <a:endParaRPr lang="en-US" sz="800" dirty="0"/>
          </a:p>
        </p:txBody>
      </p:sp>
      <p:sp>
        <p:nvSpPr>
          <p:cNvPr id="15" name="Shape 12"/>
          <p:cNvSpPr/>
          <p:nvPr/>
        </p:nvSpPr>
        <p:spPr>
          <a:xfrm>
            <a:off x="1307592" y="3108960"/>
            <a:ext cx="2368296" cy="530352"/>
          </a:xfrm>
          <a:prstGeom prst="roundRect">
            <a:avLst>
              <a:gd name="adj" fmla="val 12069"/>
            </a:avLst>
          </a:prstGeom>
          <a:solidFill>
            <a:srgbClr val="FFFFFF"/>
          </a:solidFill>
          <a:ln w="9525">
            <a:solidFill>
              <a:srgbClr val="E1EBF2"/>
            </a:solidFill>
            <a:prstDash val="solid"/>
          </a:ln>
          <a:effectLst>
            <a:outerShdw sx="100000" sy="100000" kx="0" ky="0" algn="bl" rotWithShape="0" blurRad="38100" dist="12700" dir="5400000">
              <a:srgbClr val="1F3864">
                <a:alpha val="6000"/>
              </a:srgbClr>
            </a:outerShdw>
          </a:effectLst>
        </p:spPr>
      </p:sp>
      <p:sp>
        <p:nvSpPr>
          <p:cNvPr id="16" name="Text 13"/>
          <p:cNvSpPr/>
          <p:nvPr/>
        </p:nvSpPr>
        <p:spPr>
          <a:xfrm>
            <a:off x="1435608" y="3172968"/>
            <a:ext cx="21305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2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Laporan bulanan siap</a:t>
            </a:r>
            <a:endParaRPr lang="en-US" sz="950" dirty="0"/>
          </a:p>
        </p:txBody>
      </p:sp>
      <p:sp>
        <p:nvSpPr>
          <p:cNvPr id="17" name="Text 14"/>
          <p:cNvSpPr/>
          <p:nvPr/>
        </p:nvSpPr>
        <p:spPr>
          <a:xfrm>
            <a:off x="1435608" y="3383280"/>
            <a:ext cx="21305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September 2026</a:t>
            </a:r>
            <a:endParaRPr lang="en-US" sz="800" dirty="0"/>
          </a:p>
        </p:txBody>
      </p:sp>
      <p:sp>
        <p:nvSpPr>
          <p:cNvPr id="18" name="Shape 15"/>
          <p:cNvSpPr/>
          <p:nvPr/>
        </p:nvSpPr>
        <p:spPr>
          <a:xfrm>
            <a:off x="1234440" y="5797296"/>
            <a:ext cx="2514600" cy="51206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9" name="Shape 16"/>
          <p:cNvSpPr/>
          <p:nvPr/>
        </p:nvSpPr>
        <p:spPr>
          <a:xfrm>
            <a:off x="1234440" y="5797296"/>
            <a:ext cx="2514600" cy="0"/>
          </a:xfrm>
          <a:prstGeom prst="line">
            <a:avLst/>
          </a:prstGeom>
          <a:noFill/>
          <a:ln w="12700">
            <a:solidFill>
              <a:srgbClr val="E1EBF2"/>
            </a:solidFill>
            <a:prstDash val="solid"/>
          </a:ln>
        </p:spPr>
      </p:sp>
      <p:pic>
        <p:nvPicPr>
          <p:cNvPr id="20" name="Image 1" descr="/home/claude/palmcare-analysis/icons/dashboard_gray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66469" y="5888736"/>
            <a:ext cx="164592" cy="164592"/>
          </a:xfrm>
          <a:prstGeom prst="rect">
            <a:avLst/>
          </a:prstGeom>
        </p:spPr>
      </p:pic>
      <p:sp>
        <p:nvSpPr>
          <p:cNvPr id="21" name="Text 17"/>
          <p:cNvSpPr/>
          <p:nvPr/>
        </p:nvSpPr>
        <p:spPr>
          <a:xfrm>
            <a:off x="1234440" y="6144768"/>
            <a:ext cx="62865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5B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</a:t>
            </a:r>
            <a:endParaRPr lang="en-US" sz="650" dirty="0"/>
          </a:p>
        </p:txBody>
      </p:sp>
      <p:pic>
        <p:nvPicPr>
          <p:cNvPr id="22" name="Image 2" descr="/home/claude/palmcare-analysis/icons/tools_gra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95119" y="5888736"/>
            <a:ext cx="164592" cy="164592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1863090" y="6144768"/>
            <a:ext cx="62865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5B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Equip.</a:t>
            </a:r>
            <a:endParaRPr lang="en-US" sz="650" dirty="0"/>
          </a:p>
        </p:txBody>
      </p:sp>
      <p:sp>
        <p:nvSpPr>
          <p:cNvPr id="24" name="Shape 19"/>
          <p:cNvSpPr/>
          <p:nvPr/>
        </p:nvSpPr>
        <p:spPr>
          <a:xfrm>
            <a:off x="2659761" y="5852160"/>
            <a:ext cx="292608" cy="292608"/>
          </a:xfrm>
          <a:prstGeom prst="roundRect">
            <a:avLst>
              <a:gd name="adj" fmla="val 25000"/>
            </a:avLst>
          </a:prstGeom>
          <a:solidFill>
            <a:srgbClr val="DCEAF3"/>
          </a:solidFill>
          <a:ln/>
        </p:spPr>
      </p:sp>
      <p:pic>
        <p:nvPicPr>
          <p:cNvPr id="25" name="Image 3" descr="/home/claude/palmcare-analysis/icons/bell_navy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23769" y="5888736"/>
            <a:ext cx="164592" cy="164592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2491740" y="6144768"/>
            <a:ext cx="62865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0A4A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Notif.</a:t>
            </a:r>
            <a:endParaRPr lang="en-US" sz="650" dirty="0"/>
          </a:p>
        </p:txBody>
      </p:sp>
      <p:pic>
        <p:nvPicPr>
          <p:cNvPr id="27" name="Image 4" descr="/home/claude/palmcare-analysis/icons/profile_gray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52419" y="5888736"/>
            <a:ext cx="164592" cy="164592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3120390" y="6144768"/>
            <a:ext cx="62865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5B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</a:t>
            </a:r>
            <a:endParaRPr lang="en-US" sz="650" dirty="0"/>
          </a:p>
        </p:txBody>
      </p:sp>
      <p:sp>
        <p:nvSpPr>
          <p:cNvPr id="29" name="Text 22"/>
          <p:cNvSpPr/>
          <p:nvPr/>
        </p:nvSpPr>
        <p:spPr>
          <a:xfrm>
            <a:off x="6309360" y="1371600"/>
            <a:ext cx="2606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2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</a:t>
            </a:r>
            <a:endParaRPr lang="en-US" sz="1100" dirty="0"/>
          </a:p>
        </p:txBody>
      </p:sp>
      <p:sp>
        <p:nvSpPr>
          <p:cNvPr id="30" name="Shape 23"/>
          <p:cNvSpPr/>
          <p:nvPr/>
        </p:nvSpPr>
        <p:spPr>
          <a:xfrm>
            <a:off x="6309360" y="1645920"/>
            <a:ext cx="2606040" cy="4754880"/>
          </a:xfrm>
          <a:prstGeom prst="roundRect">
            <a:avLst>
              <a:gd name="adj" fmla="val 7719"/>
            </a:avLst>
          </a:prstGeom>
          <a:solidFill>
            <a:srgbClr val="12293D"/>
          </a:solidFill>
          <a:ln/>
          <a:effectLst>
            <a:outerShdw sx="100000" sy="100000" kx="0" ky="0" algn="bl" rotWithShape="0" blurRad="127000" dist="50800" dir="5400000">
              <a:srgbClr val="0A4A69">
                <a:alpha val="35000"/>
              </a:srgbClr>
            </a:outerShdw>
          </a:effectLst>
        </p:spPr>
      </p:sp>
      <p:sp>
        <p:nvSpPr>
          <p:cNvPr id="31" name="Shape 24"/>
          <p:cNvSpPr/>
          <p:nvPr/>
        </p:nvSpPr>
        <p:spPr>
          <a:xfrm>
            <a:off x="6355080" y="1691640"/>
            <a:ext cx="2514600" cy="4663440"/>
          </a:xfrm>
          <a:prstGeom prst="roundRect">
            <a:avLst>
              <a:gd name="adj" fmla="val 6545"/>
            </a:avLst>
          </a:prstGeom>
          <a:solidFill>
            <a:srgbClr val="F6F9FB"/>
          </a:solidFill>
          <a:ln/>
        </p:spPr>
      </p:sp>
      <p:sp>
        <p:nvSpPr>
          <p:cNvPr id="32" name="Text 25"/>
          <p:cNvSpPr/>
          <p:nvPr/>
        </p:nvSpPr>
        <p:spPr>
          <a:xfrm>
            <a:off x="6473952" y="1737360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2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9:41</a:t>
            </a:r>
            <a:endParaRPr lang="en-US" sz="800" dirty="0"/>
          </a:p>
        </p:txBody>
      </p:sp>
      <p:sp>
        <p:nvSpPr>
          <p:cNvPr id="33" name="Shape 26"/>
          <p:cNvSpPr/>
          <p:nvPr/>
        </p:nvSpPr>
        <p:spPr>
          <a:xfrm>
            <a:off x="8494776" y="1773936"/>
            <a:ext cx="274320" cy="118872"/>
          </a:xfrm>
          <a:prstGeom prst="roundRect">
            <a:avLst>
              <a:gd name="adj" fmla="val 23077"/>
            </a:avLst>
          </a:prstGeom>
          <a:noFill/>
          <a:ln w="9525">
            <a:solidFill>
              <a:srgbClr val="12293D"/>
            </a:solidFill>
            <a:prstDash val="solid"/>
          </a:ln>
        </p:spPr>
      </p:sp>
      <p:sp>
        <p:nvSpPr>
          <p:cNvPr id="34" name="Shape 27"/>
          <p:cNvSpPr/>
          <p:nvPr/>
        </p:nvSpPr>
        <p:spPr>
          <a:xfrm>
            <a:off x="6428232" y="1975104"/>
            <a:ext cx="2368296" cy="420624"/>
          </a:xfrm>
          <a:prstGeom prst="rect">
            <a:avLst/>
          </a:prstGeom>
          <a:solidFill>
            <a:srgbClr val="0A4A69"/>
          </a:solidFill>
          <a:ln/>
        </p:spPr>
      </p:sp>
      <p:sp>
        <p:nvSpPr>
          <p:cNvPr id="35" name="Text 28"/>
          <p:cNvSpPr/>
          <p:nvPr/>
        </p:nvSpPr>
        <p:spPr>
          <a:xfrm>
            <a:off x="6574536" y="1975104"/>
            <a:ext cx="17282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</a:t>
            </a:r>
            <a:endParaRPr lang="en-US" sz="1250" dirty="0"/>
          </a:p>
        </p:txBody>
      </p:sp>
      <p:pic>
        <p:nvPicPr>
          <p:cNvPr id="36" name="Image 5" descr="/home/claude/palmcare-analysis/icons/bell_white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85632" y="2093976"/>
            <a:ext cx="182880" cy="182880"/>
          </a:xfrm>
          <a:prstGeom prst="rect">
            <a:avLst/>
          </a:prstGeom>
        </p:spPr>
      </p:pic>
      <p:sp>
        <p:nvSpPr>
          <p:cNvPr id="37" name="Shape 29"/>
          <p:cNvSpPr/>
          <p:nvPr/>
        </p:nvSpPr>
        <p:spPr>
          <a:xfrm>
            <a:off x="6428232" y="2487168"/>
            <a:ext cx="2368296" cy="640080"/>
          </a:xfrm>
          <a:prstGeom prst="roundRect">
            <a:avLst>
              <a:gd name="adj" fmla="val 10000"/>
            </a:avLst>
          </a:prstGeom>
          <a:solidFill>
            <a:srgbClr val="DCEAF3"/>
          </a:solidFill>
          <a:ln w="9525">
            <a:solidFill>
              <a:srgbClr val="1C7FB0"/>
            </a:solidFill>
            <a:prstDash val="dash"/>
          </a:ln>
        </p:spPr>
      </p:sp>
      <p:pic>
        <p:nvPicPr>
          <p:cNvPr id="38" name="Image 6" descr="/home/claude/palmcare-analysis/icons/folder_navy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466076" y="2551176"/>
            <a:ext cx="292608" cy="292608"/>
          </a:xfrm>
          <a:prstGeom prst="rect">
            <a:avLst/>
          </a:prstGeom>
        </p:spPr>
      </p:pic>
      <p:sp>
        <p:nvSpPr>
          <p:cNvPr id="39" name="Text 30"/>
          <p:cNvSpPr/>
          <p:nvPr/>
        </p:nvSpPr>
        <p:spPr>
          <a:xfrm>
            <a:off x="6428232" y="2862072"/>
            <a:ext cx="23682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C7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Foto Profil</a:t>
            </a:r>
            <a:endParaRPr lang="en-US" sz="750" dirty="0"/>
          </a:p>
        </p:txBody>
      </p:sp>
      <p:sp>
        <p:nvSpPr>
          <p:cNvPr id="40" name="Shape 31"/>
          <p:cNvSpPr/>
          <p:nvPr/>
        </p:nvSpPr>
        <p:spPr>
          <a:xfrm>
            <a:off x="6428232" y="3218688"/>
            <a:ext cx="2368296" cy="64008"/>
          </a:xfrm>
          <a:prstGeom prst="roundRect">
            <a:avLst>
              <a:gd name="adj" fmla="val 28571"/>
            </a:avLst>
          </a:prstGeom>
          <a:solidFill>
            <a:srgbClr val="DCEAF3"/>
          </a:solidFill>
          <a:ln/>
        </p:spPr>
      </p:sp>
      <p:sp>
        <p:nvSpPr>
          <p:cNvPr id="41" name="Shape 32"/>
          <p:cNvSpPr/>
          <p:nvPr/>
        </p:nvSpPr>
        <p:spPr>
          <a:xfrm>
            <a:off x="6428232" y="3364992"/>
            <a:ext cx="1420978" cy="64008"/>
          </a:xfrm>
          <a:prstGeom prst="roundRect">
            <a:avLst>
              <a:gd name="adj" fmla="val 28571"/>
            </a:avLst>
          </a:prstGeom>
          <a:solidFill>
            <a:srgbClr val="DCEAF3"/>
          </a:solidFill>
          <a:ln/>
        </p:spPr>
      </p:sp>
      <p:sp>
        <p:nvSpPr>
          <p:cNvPr id="42" name="Text 33"/>
          <p:cNvSpPr/>
          <p:nvPr/>
        </p:nvSpPr>
        <p:spPr>
          <a:xfrm>
            <a:off x="6428232" y="3602736"/>
            <a:ext cx="23682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1C7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AKUN</a:t>
            </a:r>
            <a:endParaRPr lang="en-US" sz="800" dirty="0"/>
          </a:p>
        </p:txBody>
      </p:sp>
      <p:sp>
        <p:nvSpPr>
          <p:cNvPr id="43" name="Shape 34"/>
          <p:cNvSpPr/>
          <p:nvPr/>
        </p:nvSpPr>
        <p:spPr>
          <a:xfrm>
            <a:off x="6428232" y="3822192"/>
            <a:ext cx="2368296" cy="530352"/>
          </a:xfrm>
          <a:prstGeom prst="roundRect">
            <a:avLst>
              <a:gd name="adj" fmla="val 12069"/>
            </a:avLst>
          </a:prstGeom>
          <a:solidFill>
            <a:srgbClr val="FFFFFF"/>
          </a:solidFill>
          <a:ln w="9525">
            <a:solidFill>
              <a:srgbClr val="E1EBF2"/>
            </a:solidFill>
            <a:prstDash val="solid"/>
          </a:ln>
          <a:effectLst>
            <a:outerShdw sx="100000" sy="100000" kx="0" ky="0" algn="bl" rotWithShape="0" blurRad="38100" dist="12700" dir="5400000">
              <a:srgbClr val="1F3864">
                <a:alpha val="6000"/>
              </a:srgbClr>
            </a:outerShdw>
          </a:effectLst>
        </p:spPr>
      </p:sp>
      <p:sp>
        <p:nvSpPr>
          <p:cNvPr id="44" name="Text 35"/>
          <p:cNvSpPr/>
          <p:nvPr/>
        </p:nvSpPr>
        <p:spPr>
          <a:xfrm>
            <a:off x="6556248" y="3886200"/>
            <a:ext cx="14904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2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Ubah Password</a:t>
            </a:r>
            <a:endParaRPr lang="en-US" sz="950" dirty="0"/>
          </a:p>
        </p:txBody>
      </p:sp>
      <p:sp>
        <p:nvSpPr>
          <p:cNvPr id="45" name="Text 36"/>
          <p:cNvSpPr/>
          <p:nvPr/>
        </p:nvSpPr>
        <p:spPr>
          <a:xfrm>
            <a:off x="8083296" y="3822192"/>
            <a:ext cx="62179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1C7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</a:t>
            </a:r>
            <a:endParaRPr lang="en-US" sz="750" dirty="0"/>
          </a:p>
        </p:txBody>
      </p:sp>
      <p:sp>
        <p:nvSpPr>
          <p:cNvPr id="46" name="Shape 37"/>
          <p:cNvSpPr/>
          <p:nvPr/>
        </p:nvSpPr>
        <p:spPr>
          <a:xfrm>
            <a:off x="6428232" y="4443984"/>
            <a:ext cx="2368296" cy="530352"/>
          </a:xfrm>
          <a:prstGeom prst="roundRect">
            <a:avLst>
              <a:gd name="adj" fmla="val 12069"/>
            </a:avLst>
          </a:prstGeom>
          <a:solidFill>
            <a:srgbClr val="FFFFFF"/>
          </a:solidFill>
          <a:ln w="9525">
            <a:solidFill>
              <a:srgbClr val="E1EBF2"/>
            </a:solidFill>
            <a:prstDash val="solid"/>
          </a:ln>
          <a:effectLst>
            <a:outerShdw sx="100000" sy="100000" kx="0" ky="0" algn="bl" rotWithShape="0" blurRad="38100" dist="12700" dir="5400000">
              <a:srgbClr val="1F3864">
                <a:alpha val="6000"/>
              </a:srgbClr>
            </a:outerShdw>
          </a:effectLst>
        </p:spPr>
      </p:sp>
      <p:sp>
        <p:nvSpPr>
          <p:cNvPr id="47" name="Text 38"/>
          <p:cNvSpPr/>
          <p:nvPr/>
        </p:nvSpPr>
        <p:spPr>
          <a:xfrm>
            <a:off x="6556248" y="4507992"/>
            <a:ext cx="14904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2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Keluar</a:t>
            </a:r>
            <a:endParaRPr lang="en-US" sz="950" dirty="0"/>
          </a:p>
        </p:txBody>
      </p:sp>
      <p:sp>
        <p:nvSpPr>
          <p:cNvPr id="48" name="Text 39"/>
          <p:cNvSpPr/>
          <p:nvPr/>
        </p:nvSpPr>
        <p:spPr>
          <a:xfrm>
            <a:off x="8083296" y="4443984"/>
            <a:ext cx="62179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1C7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</a:t>
            </a:r>
            <a:endParaRPr lang="en-US" sz="750" dirty="0"/>
          </a:p>
        </p:txBody>
      </p:sp>
      <p:sp>
        <p:nvSpPr>
          <p:cNvPr id="49" name="Shape 40"/>
          <p:cNvSpPr/>
          <p:nvPr/>
        </p:nvSpPr>
        <p:spPr>
          <a:xfrm>
            <a:off x="6355080" y="5797296"/>
            <a:ext cx="2514600" cy="51206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0" name="Shape 41"/>
          <p:cNvSpPr/>
          <p:nvPr/>
        </p:nvSpPr>
        <p:spPr>
          <a:xfrm>
            <a:off x="6355080" y="5797296"/>
            <a:ext cx="2514600" cy="0"/>
          </a:xfrm>
          <a:prstGeom prst="line">
            <a:avLst/>
          </a:prstGeom>
          <a:noFill/>
          <a:ln w="12700">
            <a:solidFill>
              <a:srgbClr val="E1EBF2"/>
            </a:solidFill>
            <a:prstDash val="solid"/>
          </a:ln>
        </p:spPr>
      </p:sp>
      <p:pic>
        <p:nvPicPr>
          <p:cNvPr id="51" name="Image 7" descr="/home/claude/palmcare-analysis/icons/dashboard_gray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587109" y="5888736"/>
            <a:ext cx="164592" cy="164592"/>
          </a:xfrm>
          <a:prstGeom prst="rect">
            <a:avLst/>
          </a:prstGeom>
        </p:spPr>
      </p:pic>
      <p:sp>
        <p:nvSpPr>
          <p:cNvPr id="52" name="Text 42"/>
          <p:cNvSpPr/>
          <p:nvPr/>
        </p:nvSpPr>
        <p:spPr>
          <a:xfrm>
            <a:off x="6355080" y="6144768"/>
            <a:ext cx="62865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5B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</a:t>
            </a:r>
            <a:endParaRPr lang="en-US" sz="650" dirty="0"/>
          </a:p>
        </p:txBody>
      </p:sp>
      <p:pic>
        <p:nvPicPr>
          <p:cNvPr id="53" name="Image 8" descr="/home/claude/palmcare-analysis/icons/tools_gray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215759" y="5888736"/>
            <a:ext cx="164592" cy="164592"/>
          </a:xfrm>
          <a:prstGeom prst="rect">
            <a:avLst/>
          </a:prstGeom>
        </p:spPr>
      </p:pic>
      <p:sp>
        <p:nvSpPr>
          <p:cNvPr id="54" name="Text 43"/>
          <p:cNvSpPr/>
          <p:nvPr/>
        </p:nvSpPr>
        <p:spPr>
          <a:xfrm>
            <a:off x="6983730" y="6144768"/>
            <a:ext cx="62865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5B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Equip.</a:t>
            </a:r>
            <a:endParaRPr lang="en-US" sz="650" dirty="0"/>
          </a:p>
        </p:txBody>
      </p:sp>
      <p:pic>
        <p:nvPicPr>
          <p:cNvPr id="55" name="Image 9" descr="/home/claude/palmcare-analysis/icons/bell_gray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844409" y="5888736"/>
            <a:ext cx="164592" cy="164592"/>
          </a:xfrm>
          <a:prstGeom prst="rect">
            <a:avLst/>
          </a:prstGeom>
        </p:spPr>
      </p:pic>
      <p:sp>
        <p:nvSpPr>
          <p:cNvPr id="56" name="Text 44"/>
          <p:cNvSpPr/>
          <p:nvPr/>
        </p:nvSpPr>
        <p:spPr>
          <a:xfrm>
            <a:off x="7612380" y="6144768"/>
            <a:ext cx="62865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5B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Notif.</a:t>
            </a:r>
            <a:endParaRPr lang="en-US" sz="650" dirty="0"/>
          </a:p>
        </p:txBody>
      </p:sp>
      <p:sp>
        <p:nvSpPr>
          <p:cNvPr id="57" name="Shape 45"/>
          <p:cNvSpPr/>
          <p:nvPr/>
        </p:nvSpPr>
        <p:spPr>
          <a:xfrm>
            <a:off x="8409051" y="5852160"/>
            <a:ext cx="292608" cy="292608"/>
          </a:xfrm>
          <a:prstGeom prst="roundRect">
            <a:avLst>
              <a:gd name="adj" fmla="val 25000"/>
            </a:avLst>
          </a:prstGeom>
          <a:solidFill>
            <a:srgbClr val="DCEAF3"/>
          </a:solidFill>
          <a:ln/>
        </p:spPr>
      </p:sp>
      <p:pic>
        <p:nvPicPr>
          <p:cNvPr id="58" name="Image 10" descr="/home/claude/palmcare-analysis/icons/profile_navy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473059" y="5888736"/>
            <a:ext cx="164592" cy="164592"/>
          </a:xfrm>
          <a:prstGeom prst="rect">
            <a:avLst/>
          </a:prstGeom>
        </p:spPr>
      </p:pic>
      <p:sp>
        <p:nvSpPr>
          <p:cNvPr id="59" name="Text 46"/>
          <p:cNvSpPr/>
          <p:nvPr/>
        </p:nvSpPr>
        <p:spPr>
          <a:xfrm>
            <a:off x="8241030" y="6144768"/>
            <a:ext cx="62865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0A4A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</a:t>
            </a:r>
            <a:endParaRPr lang="en-US" sz="650" dirty="0"/>
          </a:p>
        </p:txBody>
      </p:sp>
      <p:sp>
        <p:nvSpPr>
          <p:cNvPr id="60" name="Text 47"/>
          <p:cNvSpPr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PalmCare — Mockup UI</a:t>
            </a:r>
            <a:endParaRPr lang="en-US" sz="900" dirty="0"/>
          </a:p>
        </p:txBody>
      </p:sp>
      <p:sp>
        <p:nvSpPr>
          <p:cNvPr id="61" name="Text 48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</a:t>
            </a:r>
            <a:endParaRPr lang="en-US" sz="9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0A4A6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4114800"/>
            <a:ext cx="7315200" cy="7315200"/>
          </a:xfrm>
          <a:prstGeom prst="ellipse">
            <a:avLst/>
          </a:prstGeom>
          <a:solidFill>
            <a:srgbClr val="0E5C82">
              <a:alpha val="45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651760"/>
            <a:ext cx="9144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Terima Kasih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731520" y="3429000"/>
            <a:ext cx="8686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DCEA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Mockup ini siap digunakan sebagai acuan pengembangan UI di Flutter.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31520" y="61264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MST — Mind Software Technology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29</Slides>
  <Notes>29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3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2026-09-09T14:14:51Z</dcterms:created>
  <dcterms:modified xsi:type="dcterms:W3CDTF">2026-09-09T14:14:51Z</dcterms:modified>
</cp:coreProperties>
</file>